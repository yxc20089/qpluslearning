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C60C50-C23C-4C79-B157-96EC5A1963B3}">
  <a:tblStyle styleId="{60C60C50-C23C-4C79-B157-96EC5A1963B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5.xml"/><Relationship Id="rId22" Type="http://schemas.openxmlformats.org/officeDocument/2006/relationships/font" Target="fonts/RobotoMono-italic.fntdata"/><Relationship Id="rId10" Type="http://schemas.openxmlformats.org/officeDocument/2006/relationships/slide" Target="slides/slide4.xml"/><Relationship Id="rId21" Type="http://schemas.openxmlformats.org/officeDocument/2006/relationships/font" Target="fonts/RobotoMono-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kev_lab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kev_lab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Picture Pac-Man at a junction. It can move Left, Up or Right. We give Kev the current board and those three choices, and ask it to pick the next move. Let's follow that decision across the diagram.</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board description includes the maze, pellets, ghosts, timers and recent movement. Together with our instruction and the legal moves, it becomes a sequence of input tokens. That's the x in the first formula.</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Qwen processes that sequence using two kinds of weights. The teal block shows the pretrained weights, W-zero, which stay fixed. The orange block shows the changes learned through LoRA, delta W. Those changes sit inside selected layers of the backbone. We've drawn them as one pair of branches so we can see how they combine; the same idea applies at many projections across the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formula underneath says that the backbone, f, turns the input x into hidden vectors, H. The small theta under f names its effective parameters: the fixed base weights with the LoRA updates applied. Each hidden vector is a set of numbers describing the input at a particular token position. On the next slide, we'll see which positions matter for this decision.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pointer head reads the decision vector and a vector for each supplied move. It learns how to compare them and produces a score for each option. We call that collection of scores z.</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Softmax turns those scores into the probabilities p on the right. These example values give Left the largest share, so the application executes Left. The values are illustrative; they describe preference among the supplied moves, not the chance of surviving the game.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After that move, the board changes and we repeat the process. Kev still runs the backbone, but it can return a choice directly from these scores. That avoids generating an answer one token at a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As we go into the lab, keep the colors in mind: the pretrained base stays fixed; training changes the LoRA updates and the pointer head.</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Sources and presenter reference: https://github.com/jaredpalmer/kev/blob/84847f0a883d900f7de5b7a57eaa341ca7f9a6b4/kev/model.py ; https://github.com/jaredpalmer/kev/blob/84847f0a883d900f7de5b7a57eaa341ca7f9a6b4/docs/model-cards/kev-4b.md ; https://github.com/yxc20089/QPlusLearning/blob/main/labs/lab-01-kev-pacman/cloud_runtime.py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Animation: https://yxc20089.github.io/QPlusLearning/animations/kev-architecture.html</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decision_lab_pro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decision_lab_pro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Let's zoom into the input we just gave Kev. There are three ingredients: the state, the instruction, and the moves it is allowed to choose.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state, s, describes the board now. In our lab, that includes the remaining pellets and power pellets, Pac-Man's position and heading, each ghost's state, timers and recent movement. The instruction, u, tells Kev what decision to make. A is the ordered list of legal moves. For this junction, we're using Left, Up and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first formula says that the encoder combines those ingredients into x, our input token sequence. The boxes here group text spans; a phrase such as Left may take one or more tokens. Kev inserts special boundary tokens around those spans. We show them with readable names like state, question and option.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Look at the closing marker after each move. That's the position where Kev will read that option's hidden vector. Because the backbone processes the sequence causally, the closing marker can use the option text that came before it. With this lab's configuration, later options can also see earlier options.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Now look at the final decide marker. It comes after all three choices, so its hidden vector can use the board, the instruction and every supplied option. That gives the pointer head a place to read the whole decision context.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Qwen produces a hidden vector at every token position. All those vectors together form H. The notation at the bottom says H has L rows and d columns: L is the number of input tokens, and d is the width of each hidden vector. Little h means one vector from that collection. The subscripts identify the closing marker for option one, two or three, or the final decide marker.</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highlighted four vectors are the ones we pass to the pointer head for this three-option example. We'll work through that comparison shortly. First, let's see how LoRA changes the representations those vectors contain.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Presenter reference: readable markers map to existing Qwen tokens: &lt;state&gt; → &lt;|fim_prefix|&gt;, &lt;q&gt; → &lt;|fim_middle|&gt;, &lt;opt&gt; → &lt;|box_start|&gt;, &lt;/opt&gt; → &lt;|box_end|&gt;, &lt;decide&gt; → &lt;|fim_suffix|&gt;. No new embedding rows are required. The lab uses Qwen3.5's causal row form with option_isolation=false. The slide's state, instruction and option text is shortened for illustration; it is not an exact request dump or a literal token 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Source: https://github.com/jaredpalmer/kev/blob/84847f0a883d900f7de5b7a57eaa341ca7f9a6b4/kev/model.py</a:t>
            </a:r>
            <a:endParaRPr/>
          </a:p>
          <a:p>
            <a:pPr indent="0" lvl="0" marL="0" rtl="0" algn="l">
              <a:spcBef>
                <a:spcPts val="0"/>
              </a:spcBef>
              <a:spcAft>
                <a:spcPts val="0"/>
              </a:spcAft>
              <a:buNone/>
            </a:pPr>
            <a:r>
              <a:rPr lang="zh-CN"/>
              <a:t>Lab state: https://github.com/yxc20089/QPlusLearning/blob/main/labs/lab-01-kev-pacman/games/arcade-engine.js</a:t>
            </a:r>
            <a:endParaRPr/>
          </a:p>
          <a:p>
            <a:pPr indent="0" lvl="0" marL="0" rtl="0" algn="l">
              <a:spcBef>
                <a:spcPts val="0"/>
              </a:spcBef>
              <a:spcAft>
                <a:spcPts val="0"/>
              </a:spcAft>
              <a:buNone/>
            </a:pPr>
            <a:r>
              <a:rPr lang="zh-CN"/>
              <a:t>Animation: https://yxc20089.github.io/QPlusLearning/animations/kev-input.html</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decision_lab_training_cost: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decision_lab_training_cost: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On the last slide, we saw Qwen turn our board and choices into hidden vectors. LoRA lets training change those representations while keeping the pretrained base weights fixed. Let's look inside one of the projections where that happens.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vector coming in on the left is v. It's an activation inside a layer, rather than the input token sequence x we used earlier. The output of this projection is 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Follow the teal path first. The base matrix, W-zero, multiplies v to produce the original projection. That matrix has d-out rows and d-in columns. Those names simply mean the output width and the input width. Training keeps every value in this base matrix fixed.</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Now follow the orange path. A maps the same input into a much smaller space with r features. B maps those r features back to the output width. Together, they produce B times A times v. We multiply that contribution by alpha divided by r, then add it to the base output. That's the first equation at the bottom.</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second equation names the resulting weight update, delta W. It is alpha over r times B times A. The order matters: A acts first, and B acts second. Their product can have rank at most r. That's where the name low-rank adaptation comes from.</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In our Kev recipe, r is sixteen and alpha is thirty-two, so the multiplier is two. Sixteen is the width of this small intermediate space. It is not the number of layers we train, or the number of moves Kev can choose.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For one projection, A and B contain r times the sum of d-in and d-out parameters. A full update would need d-in times d-out. That makes the learned update much smaller when r is small relative to those widths.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Kev applies this idea across the attention projections, the DeltaNet projections in Qwen3.5's linear-attention layers, and the feed-forward projections. The all-targets setting includes those groups. Across our four-billion-parameter backbone, the LoRA matrices and pointer head together have about thirty-three point eight million trainable parameters. The base weights stay fixed, but we still run the backbone and backpropagate through it to learn the adapters.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recipe also uses five percent dropout on the LoRA input during training. Evaluation turns that dropout off. With the usual initialization, A starts random and B starts at zero, so a new adapter begins with zero delta W. When we continue from v2 to v3, we load the learned adapter and head instead of resetting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 the hidden vectors can change as the adapter learns. On the next slide, we'll use those vectors to work through the pointer head's comparison of our supplied moves.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Presenter reference: A and B here are LoRA matrices, distinct from the ordered action list A on slide 2. The drawing shows one adapted linear projection. The scalar alpha/r applies to the LoRA contribution. Kev's pinned configuration uses rank 16, lora_alpha=32, lora_dropout=0.05 and lora_targets=all. Targets: q_proj, k_proj, v_proj, o_proj, gate_proj, up_proj, down_proj, in_proj_qkv, in_proj_z, in_proj_a, in_proj_b and out_proj. Special embedding training is disabled in this lab. The 33.8M count includes the pointer head and is not the count for one projection.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Sources: https://arxiv.org/abs/2106.09685 ; https://github.com/jaredpalmer/kev/blob/84847f0a883d900f7de5b7a57eaa341ca7f9a6b4/kev/model.py ; https://github.com/yxc20089/QPlusLearning/blob/main/labs/lab-01-kev-pacman/cloud_runtime.py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Animation: https://yxc20089.github.io/QPlusLearning/animations/kev-lora.html</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decision_lab_performanc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decision_lab_performanc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LoRA has adapted the hidden vectors. Now we need to compare the moves we supplied. The pointer head takes the readouts we picked earlier and turns them into one score for each move.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Start at the top left. h-decide is the hidden vector at the final decide marker. At that point, Qwen has read the board, our instruction and every candidate. We pass this vector through a learned linear layer to get q, the query vector. W-q is that layer's weight matrix, and b-q is its bias. We reuse this same query when we compare all the options for this question.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Now follow the lower path. h-end-i is the hidden vector at the closing marker for option i. The i simply identifies which option we're considering: Left, Up or Right in our junction example. This is the contextual vector at the marker, rather than an average of the option's token vectors.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 second learned linear layer maps that readout to k-i, the option's key vector. Its matrix is W-k and its bias is b-k. We apply this same layer to every option. Each option gets its own key because it has a different hidden vector, while the layer's weights are shared.</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d at the bottom names the width of the original hidden vectors. For our Qwen3.5 four-billion-parameter model, that width is two thousand five hundred and sixty. The pointer width, d-p, is two hundred and fifty-six. So each projection turns two thousand five hundred and sixty features into two hundred and fifty-six.</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At the dot in the drawing, we compare q with k-i. Multiply their first entries, multiply their second entries, and keep going through all two hundred and fifty-six entries. Add those products. That is the dot product, written q-transpose times k-i in the equation. The transpose symbol tells us to treat q as a row when we multiply the two vectors.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Kev then divides the result by the square root of d-p. The square root of two hundred and fifty-six is sixteen, so that's the fixed divisor in our lab. The result is z-i: one raw score for option i. Kev uses an ordinary dot product here, without normalizing the vectors to unit length for a cosine similarity.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Repeat that comparison for each of the K legal options. K is just the number of choices we supplied. Three moves give us three scores. Both of these pointer projection layers train alongside the LoRA adapters, so the model can learn which decision features should match which option features. The head is scoring the moves; the teacher's future-game simulations happen when we prepare the training labels.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We now have a score for each move. On the next slide, we'll turn those scores into probabilities and see how Kev selects an 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Presenter reference: Pinned PointerHead uses two ordinary nn.Linear(d, dp) layers with biases and scale 1/sqrt(dp). W_q and W_k each have shape 256 × 2560; each bias has 256 entries, giving 1,311,232 head parameters. These are pointer-head parameters; Qwen's attention q_proj/k_proj are separate backbone projections. The head readouts are h[decide_idx] and h[opt_idx], where option indices point to closing markers. There is no value projection, attention-weighted value sum, MLP or cosine normalization in the pointer head. In the lab temperature is 1.0. The diagram shows one option i; the same query and key layer are used for the other options. No independence or option-order invariance is implied: the Qwen3.5 row is causal and option isolation is disabled.</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Source: https://github.com/jaredpalmer/kev/blob/84847f0a883d900f7de5b7a57eaa341ca7f9a6b4/kev/model.py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Animation: https://yxc20089.github.io/QPlusLearning/animations/kev-pointer.html</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decision_lab_model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decision_lab_model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The pointer head has given us one score for each move. We now turn those scores into probabilities, and choose a move from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Look at the equation first. s is our board state. a-i means candidate action number i, such as Left, Up or Right. p of a-i given s is the probability Kev assigns to that action for this state, with our question and supplied options held fixed. The z-i in the numerator is the raw score for that action from the pointer head.</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 is the temperature. In our freshly trained lab checkpoints, it is one, so dividing by T leaves each score unchanged. exp means the exponential function. It turns every score into a positive number. The denominator adds those positive numbers across all the options. The large sigma means “add them up”; j runs from one through K, where K is the number of options we supplied. Dividing by that shared total makes the probabilities add up to one. This whole calculation is called softmax.</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Follow the example underneath. Left has a score of one, Up has zero, and Right has two. These are illustrative scores, rather than an actual game prediction. At temperature one, softmax gives approximately twenty-four point five percent to Left, nine percent to Up, and sixty-six point five percent to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Now read the equation at the bottom. Argmax means “find the index with the largest value.” The winning index is i-star, and a-star is the action at that index. Here it is Right. Kev's Choice API uses the largest unrounded probability; it does not randomly sample a move from these percentages.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This probability tells us which supplied option the model prefers. It does not tell us that Pac-Man has a sixty-six percent chance of surviving. A dangerous move can still win if the model gives it the highest score. In this lab, the choices are the legal directions. Kev still has to choose one when they all look poor. That is why we evaluate complete games.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In the animation controls, try a smaller positive temperature. The probabilities become more concentrated. Try a larger one, and they become flatter. Right stays the winner because the score order has not changed. Temperature calibration can adjust those probabilities; it cannot repair a bad action ranking. Kev's published release fitted a temperature separately, but we do not inherit that fitted value when we train a new lab stage. We keep T at one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 Kev ends this decision with one probability per supplied move and one chosen action. Next, we can look at why producing this small output is faster than generating an answer token by token.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Presenter reference: Pinned PointerHead divides logits by temperature only in evaluation; training always sees T=1. Kev's inference paths apply softmax over the option dimension. The Choice API chooses the largest unrounded probability deterministically and rounds reported probabilities to four decimal places. An exact tie chooses the first supplied option. The separate API confidence field is a normalized concentration measure, not simply the winning probability; this slide shows option probabilities. Our Pac-Man request supplies all wall-legal directions, including dangerous directions, with no implicit wait, none, abstention or confidence fallback. Fresh checkpoint metadata defaults to temperature 1.0, and warm-starting a new stage does not inherit the previous fitted temperature. Loading a completed checkpoint for inference uses its saved temperature unless explicitly overridden. Positive scalar temperature preserves fixed-logit ordering. For numerical stability, implementations may subtract the maximum scaled score before exponentiating; this gives the same probabilities.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Source: https://github.com/jaredpalmer/kev/blob/84847f0a883d900f7de5b7a57eaa341ca7f9a6b4/kev/model.py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Choice selection: https://github.com/jaredpalmer/kev/blob/84847f0a883d900f7de5b7a57eaa341ca7f9a6b4/kev/api.py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Animation: https://yxc20089.github.io/QPlusLearning/animations/kev-softmax.html</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kev_lab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kev_lab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We now have an action. Why can this output path be fast? The backbone still does the expensive reading. Kev changes what happens after that reading: the pointer head scores the supplied choices directly, so it can finish without writing an answer one token at a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Follow the top row. This drawing shows a new board state in our Qwen3.5 serving setup. The model first computes the state prefix, then continues with one question row containing the instruction and every option. Those are two stages of backbone computation. All K choices belong to that row; K is the number of options, not the number of separate backbone runs. Once the hidden vectors are available, the pointer head produces the scores, and the softmax and argmax we just saw choose a move.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Compare that with asking a conventional decoder to write an answer. It first reads the prompt. We call that the prefill pass. Prefill gives the distribution for the first answer token, y-one. Here y-m means answer token number m. M is the total number of tokens in the answer. Each later token depends on the tokens already generated, so the decoder has to continue in sequence. A four-token answer needs three extra decode passes after prefill. The decoder can reuse its cache during those passes, but it still has to compute the next token each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equations below compare just the readouts, after we have the hidden vectors. R means an approximate count of multiplications in that readout. It is an operation count, rather than elapsed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For Kev, d is the hidden-vector width, and d-p is the smaller pointer width. They are two thousand five hundred and sixty and two hundred and fifty-six in our lab. We project one decide vector and K option vectors, giving the K-plus-one term. Each projection costs roughly d times d-p multiplications. Then we take K dot products, each with d-p entries. That gives the final K times d-p term.</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For the conventional dense language-model head, V is the vocabulary size. Each answer token requires a projection from d hidden features to V vocabulary scores. Across M tokens, that is approximately M times d times V multiplications. The additional backbone decode passes are outside this equation; the lower row shows where they happen.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Try one token in the animation controls. There are now zero extra decode passes. A constrained single-token classifier narrows this comparison, and a custom classification head can also score choices directly. So the benefit we are explaining is specific: Kev provides a trained option-scoring head and a decision API, while this text-output route writes a multi-token answer. Actual response time still depends on the input length, hardware and serving setup.</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LoRA changes the features the backbone learns. The pointer head and output format determine how we return the decision. Our API can serialize its result as JSON without asking Qwen to generate that JSON. We have now followed the complete inference path. Next, we will look at the training stages that created these weights.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Presenter reference: The pinned model loads a backbone without a vocabulary output head. Qwen3.5 hybrid serving on a cold, single-question request runs a state-prefix pass followed by one causal question row containing all the options. This differs from a literal single-call claim. A repeated identical state can reuse its prefix; successive Pac-Man board states usually differ, so cross-turn cache hits are not assumed. Long states, multiple questions or CUDA graph batching can split work further. The pointer multiplication sketch is (K+1)d d_p + Kd_p; biases, scaling and softmax are small omitted terms. The text sketch assumes M dense vocabulary projections, each dV, plus M−1 extra autoregressive backbone decode passes after prefill. Optimized subset logits or a custom choice head can change that baseline. The diagram is a dependency/count sketch, not a latency measurement. The illustrative y_1…y_4 boxes do not claim a particular tokenizer segmentation. API usage.output_tokens counts serialized response text, not generated tokens.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Source: https://github.com/jaredpalmer/kev/blob/84847f0a883d900f7de5b7a57eaa341ca7f9a6b4/kev/model.py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API serialization: https://github.com/jaredpalmer/kev/blob/84847f0a883d900f7de5b7a57eaa341ca7f9a6b4/kev/serve.py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Animation: https://yxc20089.github.io/QPlusLearning/animations/kev-speed.html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kev_lab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kev_lab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We have followed a decision all the way from input to action. Now let’s see where those learned weights came from. The arrows across the top show the general curriculum. Each stage starts with the LoRA and pointer head saved by the previous stage, then adds another set of decision examples.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We begin with Qwen3.5-4B-Base, whose language weights have already been pretrained. Our initial stage trains a fresh LoRA adapter and pointer head on twelve thousand five hundred and seventy-six generic requests, for two epochs. So when we call this initial decision training, we mean learning the decision adapter and head. We are not pretraining Qwen’s language weights again.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Next come dates and missing-evidence examples. These teach the model to use supplied day counts and recognize when the evidence needed for a decision is absent. Then come real consumer-finance documents, followed by harder skill selection and developer-tool decisions. The numbers below the boxes show the new requests plus generic replay. Replay means we mix in earlier decision examples while learning the new task. That gives the model practice on both, although it cannot guarantee that every earlier ability is retained.</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Skills is the end of this general curriculum and the baseline for our game. The Skills box appears again in the lower row to show that handoff. It has learned how to score supplied options, but it has not yet received Pac-Man training labels. That is why seeing it play a game is useful: we can watch what general decision training transfers, and what it does not.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Native Pac-Man v2 starts from Skills. Its task labels come from the qualified teacher, whose game simulations we will examine shortly. Native v3 starts from v2 instead. It adds verified corrections at states reached by the v2 player, together with original task examples and generic replay. We keep these versions in separate checkpoint folders, so we can load and compare each one. A new version records a training experiment; its name alone does not establish that it survives longer or collects pellets more efficiently.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first equation describes what we copy. Phi is our name for the complete collection of trainable LoRA and pointer-head parameters. “Parent” identifies the checkpoint we load. “Child” identifies the new stage we are about to train. The superscript zero means its starting values. Before the child learns anything new, those values equal the parent’s saved values. The same fixed Qwen base supports both.</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second equation describes the training data. D-train is the collection of requests used by the new stage. D-new contains its new labels, and D-replay contains examples we keep practicing from earlier training. The combination symbol means we put those collections together, keeping repeated requests. In the actual code, we concatenate the request lists; it does not silently remove duplicates.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 new stage also starts a fresh optimizer and learning-rate schedule. That differs from recovering an interrupted run. Recovery restores the progress of that same stage, including its optimizer and step position. Here, we are following completed parents into new training stages. Next we need to be precise about what a Pac-Man state tells the model, and which behaviors our teacher should demonstrate.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Presenter reference: This diagram is the lab’s pinned 4B curriculum and its completed native-v2/v3 task lineage. The base revision is 1001bb4d826a52d1f399e183466143f4da7b741b. Initial: 12,576 requests × two epochs. Dates: 1,425 new + 2,000 generic replay; Documents: 5,219 + 2,000; Skills: 6,000 hard-v1 train + 5,320 devtools-v1 train + 4,000 replay, each one epoch. The Skills concatenation uses the published training partitions/counts; it is not asserted byte-identical to the unavailable historical joint file. V2: 4,096 task + 2,000 generic replay. V3: 2,048 original v2 + 2,048 verified correction/recovery + 2,000 generic replay. Both task stages are one epoch and 762 updates at effective batch eight. These are request counts, not counts of complete games or unique labeled questions. Generic augmentation may add question-level examples. Pac-Man v1 remains a separate archived task experiment, not a parent of this native-v2 → native-v3 chain. V4 dataset work is separate and no trained-v4 or improved gameplay is claimed. Warm-start copies compatible LoRA/head weights; temperature fitting is separate. The ⊎ equation denotes multiset combination, matching concatenation with repeated requests retained; it is not a new optimization objective.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Sources: https://github.com/yxc20089/QPlusLearning/blob/main/labs/lab-01-kev-pacman/training-stages.json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Initial recipe: https://github.com/jaredpalmer/kev/blob/84847f0a883d900f7de5b7a57eaa341ca7f9a6b4/experiments/q35-4b-s23.json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Warm-start: https://github.com/jaredpalmer/kev/blob/84847f0a883d900f7de5b7a57eaa341ca7f9a6b4/kev/checkpoint.py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Training: https://github.com/jaredpalmer/kev/blob/84847f0a883d900f7de5b7a57eaa341ca7f9a6b4/kev/train.py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V3: https://github.com/yxc20089/QPlusLearning/blob/main/labs/lab-01-kev-pacman/notebooks/pacman_kev_v3.ipynb</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Animation: https://yxc20089.github.io/QPlusLearning/animations/kev-curriculum.html</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kev_lab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kev_lab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Before we ask Kev to avoid a ghost, we should know what it can see. Our request contains structured game state. We give it the native maze, the current actors, the clocks and a short record of earlier movement. The model has to learn how those facts should change its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Start with the maze on the left. This drawing shows a small piece so we can read the symbols on the slide. Only the drawing is cropped. Kev receives every row and column of the full native maze in its structured state. A dot is a normal pellet worth ten points. The larger o is a power pellet worth fifty. A space is an empty corridor. When Pac-Man consumes either kind of food, that tile becomes a space. So an uneaten power pellet tells the model where it can activate frightened mode, while the frightened flags and remaining timer tell it whether that mode is active now. We do not need to leave an o behind to show that Pac-Man ate one.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Now look at the actors. We pass Pac-Man’s row and column, but also its pixel offset within the tile. That matters because the game moves in pixels, and our decision boundary is entry to an adjacent tile. We also provide its heading, movement phase, eating pause and queued directions. A row and column alone would hide some of that timing.</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We keep Blinky, Pinky, Inky and Clyde separate. Their names tell the model which native personality is present. In chase mode, Blinky targets Pac-Man directly. Pinky aims ahead of Pac-Man. Inky’s target depends on Pac-Man and Blinky together. Clyde switches between chasing and its corner according to distance. The original upward-targeting quirks are preserved. Each ghost also has a current movement mode and frightened flag, so a ghost returning to the house is different from a dangerous ghost outside it.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pixel offsets, movement phases, next headings and pending reversals or releases are supplied for each ghost too. These are current facts from the engine. They are not a list of future ghost positions. At a new game, some ghosts are still pacing in the house. Native release counters and timers bring them out; we do not replace them with one generic random ghost.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power timer is especially important. timing.power.remaining_frames tells us how much native frightened time remains. A move may take several simulation frames, and that timer can run out before the move finishes. Seeing a blue ghost at the beginning of a move is therefore not enough to conclude that approaching it will stay safe. Native pauses can hold that clock still, and a ghost flag can change on a different update. We therefore keep the timer and per-ghost state together. The observation also includes chase/scatter time, release state, Elroy state, fruit time and eating pauses.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third group gives the model a way to recognize its own loops. recent_positions retains up to sixty-four recent positions, with headings. destination_visits tells us how often each legal next tile has been visited, and visits_to_current_tile describes the current tile. decisions_since_last_pellet counts how many decisions have passed without eating another pellet. These are observations of past movement. The model still has to learn when to reverse to survive and when repeated movement is wasting progress.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equations name the two steps we have just described. g-sub-t is the complete native game state at decision t. O is the observation function that selects the fields we send, and s-sub-t is its result. The game has additional internal state, including its private random generator, that we do not put into the request. a-sub-t is the direction Kev chooses. A-sub-t is the supplied set of wall-legal directions. The membership symbol means its action comes from that set. A legal corridor can still contain a dangerous ghost; legality does not solve the avoidance problem for us.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After the choice, the simulator advances complete native frames until Pac-Man enters the requested adjacent tile or a terminal event occurs. We then form the next observation. The teacher’s future rollouts and preferred label stay outside this input. Next, we will examine how that teacher uses the real simulator to evaluate possible continuations before it creates a training label.</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Presenter reference: The slide describes action_version=2 / native-adjacent-tile-entry-v2 as encoded by games/arcade-engine.js and pacman_lab.body. The slide’s display crop is rows 3–14, columns 0–11 of a fresh native seed-7 level-1 state. The model receives the complete map: observe() loops through all map.numRows and map.numCols, and pacman_lab.body includes that state without cropping its maze. Pixel tiles have an 8-pixel native size; pixel_offset is actor.tilePixel minus midTile. speed_phase is actor.frames % 16. Player fields include eat_pause_frames, stopped, next_heading and queued_heading. Ghost fields include next_heading, pending_reverse and pending_release. Global frightened, each ghost's frightened flag and timing.power.remaining_frames are separate fields. Power time is measured by the native energizer clock, not notebook wall time; power can expire or be refreshed during an action. Ghost-eating pauses can hold the power clock, so elapsed action frames are not always equal to consumed power-clock frames. Native update order can transiently show remaining_frames=0 while a ghost still has frightened=true. Full native transition/collision simulation, rather than timer subtraction alone, determines safety. Timing also includes commander.phase_clock_frames, release counters and frames_since_last_dot, elroy.wait_for_clyde, optional blinky_elroy and fruit_remaining_frames. The state includes level, lives, score, remaining pellets, fruit, turn, simulation_frames and life_epoch. Those context fields are not all printed on the slide. recent_positions is capped at 64; a respawn resets recent history and dry count, while accumulated visit counters remain. The observation excludes replay seed and private RNG. frightened movement can depend on that RNG, so observation is not claimed to make every future transition perfectly predictable. No just-consumed-power-pellet boolean is needed: the consumed tile is empty, and native flags/time show the current effect. Teacher diagnostic futures and training labels do not enter the encoded state/instructions/criteria.</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Source: https://github.com/yxc20089/QPlusLearning/blob/main/labs/lab-01-kev-pacman/games/arcade-engine.js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Clock getters and request: https://github.com/yxc20089/QPlusLearning/blob/main/labs/lab-01-kev-pacman/pacman_lab.py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Ghost personalities: https://github.com/masonicGIT/pacman/blob/7407174c1d6a38be8cd230577489e39e0873145b/src/targets.js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Native food and movement: https://github.com/masonicGIT/pacman/blob/7407174c1d6a38be8cd230577489e39e0873145b/src/Player.js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Animation: https://yxc20089.github.io/QPlusLearning/animations/kev-state.html</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kev_lab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kev_lab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We now know what Kev sees at a decision boundary. To teach it a good direction, we need a teacher that can compare what happens next. Our teacher does this by running the actual game forward in several temporary forecasts.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Follow the diagram from the snapshot on the left. We call the complete native game state g-sub-t. The subscript t means the current decision. The teacher saves the actors, the maze and the engine’s internal clocks. It also carries forward the recent movement history. Without that history, a short forecast can keep promising food while the real player repeatedly reverses in the same corridor.</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Each branch starts with one legal direction. In this fresh seed-seven example, Pac-Man has moved Left once from the opening position. At row twenty-six, column twelve, the next legal directions are Up, Left and Right. We restore the same snapshot before trying each one.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After that first move, a routing policy chooses the later moves. It uses cached shortest distances through the maze to find food and account for dangerous ghosts. We try four versions of that policy, controlled by the buffer b: one, two, four or six maze steps. The buffer changes the policy’s danger and food-route preferences. It is not a guaranteed safe radius. At each later decision, the policy simulates the legal one-action transitions and prefers those that survive immediately. It then picks a continuation using its routing rule.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For each buffer, we also try two future random sequences. The normal ghost personalities still follow the engine’s targeting rules. Frightened turns can depend on randomness, so two sampled futures can expose different outcomes. These are fresh planning samples. The teacher does not read the real episode’s future random sequence.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orange box is the native game engine. It advances the pixels and clocks, including ghost release, chase and scatter, frightened time and eating pauses. It checks collisions using the same mechanics as interactive play. We normally forecast two hundred and forty active game frames. We extend that to four hundred and eighty near a dangerous ghost, or when thirty or fewer pellets remain. A movement finishes at its native boundary, so a forecast can go a little beyond that frame limit.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How do we compare the results? Rho, the Greek letter in the ranking box, represents an ordered vector of criteria. We compare its components from first to last. Immediate death comes first. Closing an existing dry cycle and predicting an imminent cycle come next. Then we consider deaths across the two futures and survival duration, followed by time to the next pellet and the other progress terms. A later food reward cannot cancel an earlier immediate death. This ordered comparison is called lexicographic ranking.</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numbers on the right make it concrete. For the selected Up, Left and Right forecasts, the first five components all tie at zero. We therefore compare the next-pellet times. Up takes seven frames, Left takes nine and Right takes thirty-one. Up wins. The interactive page lets us change the routing buffer or future sample and inspect the whole rank.</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equation expresses that choice. A-sub-t is the set of legal directions at this decision. The small a is one direction from that set, and b is one of our four routing buffers. Rho of g-sub-t, a and b is the rank produced by their forecasts. Argmin selects the pair with the smallest rank. The small lex tells us to compare its components in order. On the left, a-sub-t with a superscript T is the teacher’s selected direction. T stands for teacher. b-sub-t with a star is its selected buffer. The code first chooses the best buffer for each direction, then the best direction. That gives the same minimum over this finite set of candidates.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Planning has not advanced the real game. We restore the live root, execute only Up, then read the new state and plan again. This repeated forecast-and-replan process is model predictive control, or MPC. Its forecast is approximate because we use a finite policy portfolio and horizon. The next slide shows how we qualify the teacher through complete games before trusting its training labels.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Presenter reference: Algorithm native-rollout-mpc-food-routing-v2, unchanged games/arcade-teacher.js. The exact frozen lab options are horizon_frames=240, endgame_horizon_frames=480, danger_horizon_frames=480, buffers=[1,2,4,6], scenario_seeds=[11117,77717]. Extend to 480 when remaining pellets ≤30 or the closest dangerous ghost is within six cached maze steps. Each forecast stops at a native terminal event, the frame horizon or 192 decisions. Completed native actions can overshoot the frame horizon. The continuation policy filters immediately fatal one-action choices only inside the teacher’s simulated policy, never inside Kev’s serving action set. Teacher planning independently resamples future RNG and restores the saved root. It does not use the real future RNG sequence.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Exact rank order: worst immediate death; worst root dry-cycle closure; worst max(0,32−first forecast cycle frames); number of scenario deaths; negative minimum scenario frames when any scenario dies; worst next-pellet frames with horizon+600 when none is found; worst dry-cycle count; current food-route cost with revisit penalty; negative cleared-scenario count; negative mean pellets; worst no-pellet decision streak; mean forecast frames. The selected policy uses ascending lexicographic order. The small slide table shows rank component six only after components one through five tie. It is not a standalone survival score or estimated probability.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Recorded example: separate fresh CPU-only native seed-7 level-1 simulation, action_version=2, prefix=[left]. Up/Left/Right next-pellet frames are 7/9/31 using each direction’s selected buffer 1/1/4. Up and Left select buffer one by stable tie order. Both future seeds happen to agree in this early example. Nominal horizon 240 completes at 247/248/247 native frames. These are teacher forecasts, not full-game results, learner traces, GPU timings or trained-v4 evidence. Every forecast restored the live observation exactly. Snapshot/source evidence stays in the private authoring workspace; only this fresh example’s forecast summaries appear in the interactive asset.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Teacher: https://github.com/yxc20089/QPlusLearning/blob/e96f50372ad970d0077b86daf8ed781b69d968e5/labs/lab-01-kev-pacman/games/arcade-teacher.js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Native transition and rewind: https://github.com/yxc20089/QPlusLearning/blob/e96f50372ad970d0077b86daf8ed781b69d968e5/labs/lab-01-kev-pacman/games/arcade-engine.js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Frozen search options: https://github.com/yxc20089/QPlusLearning/blob/e96f50372ad970d0077b86daf8ed781b69d968e5/labs/lab-01-kev-pacman/teacher-validation-spec.json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Animation: https://yxc20089.github.io/QPlusLearning/animations/kev-teacher.html</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kev_lab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kev_lab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Let's open up the teacher using one real decision. This is seed 91009 at level one, after 172 actions in the public qualification replay. The small maze on the left shows the actual tiles around Pac-Man. P marks Pac-Man. BP marks Blinky and Pinky, who occupy the same tile, and In marks Inky. Clyde is elsewhere in the full native state. The crop is just for this drawing.</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Pac-Man is moving down. Blinky and Pinky approach from above, while Inky approaches from the right. There is a pellet immediately to the right. It looks attractive if we only ask where the nearest food is. The teacher instead tests every legal first direction in the native engine, including that dangerous direction. The table shows what each direction's best continuation predicts.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Start with Right. It eats that pellet, but loses a life six native frames into the same tile transition. Now look at Up. Up survives its first transition. However, the recent positions already end with this sequence: the current tile, the tile above, then the current tile again. Moving Up closes the two-tile dry cycle. Its continuation loses a life at frame nine. Left survives both sampled futures and eventually reaches a pellet at frame 137. It consumes thirteen pellets before the forecast ends at frame 484.</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These are native forecasts. The engine moves the ghosts during Pac-Man's action. It keeps their different target rules, release and chase/scatter clocks, pixel offsets, movement phases, eating pauses and power behavior. At this moment, there is no power time left. A dangerous ghost means an outside ghost that is not frightened. Frightened ghosts do not form the danger barrier in the routing heuristic. The teacher samples two independent future random-generator seeds, rather than looking up the live episode's future randomness. The two forecasts happen to agree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How does the teacher build each continuation? It first caches breadth-first-search distances across the walkable maze, including the tunnels. These are shortest maze distances. It then runs a food-routing policy under a buffer of one, two, four or six tiles. At each later simulated decision, it tests every legal next-tile move for immediate survival. If at least one move survives, the continuation chooses among those surviving moves. If every move is fatal, it still has to choose a legal move. This filter operates inside the teacher's simulation. It never replaces Kev's live choice. All legal first moves stay available to Kev.</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inner routing policy also has ordered priorities. First it penalizes a next tile one maze step or less from a dangerous ghost. Then it penalizes separation smaller than the chosen buffer. Next comes completing a dry cycle, unless that next tile contains food. Only then does it compare the food cost shown at the bottom. So that scalar cost is one component of the inner heuristic, not the teacher's whole objective.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Let's read that cost. J with subscript b is the food-route cost for a particular buffer b. The letter v is the candidate next tile. P is the collection of remaining pellets, including power pellets. The letter p is one possible food target in P. The function d measures the cached BFS maze distance between two tiles. G is the collection of dangerous ghosts, and g is one ghost in that collection. We take the distance from v to p, then penalize targets that lie within buffer b of a dangerous ghost. The positive-part notation means keep the value if it is positive, otherwise use zero. The sum adds that penalty across dangerous ghosts. The minimum chooses the cheapest food target. Finally, N of v counts visits to that tile in the recent dry history, limited to the last 64 positions. The two-times-N term discourages repeating that empty route. Both factors of two are heuristic constants in this frozen implementation. A penalty near a target does not guarantee a safe route to it. After this cost, the inner rank prefers greater separation capped at b plus two, then keeping the current heading.</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outer rank rho compares what actually happened in those simulated continuations. Read its entries from left to right. E is the worst immediate-death flag across the futures. C is the worst flag for closing the real root dry cycle. O penalizes an imminent forecast cycle, using the positive part of 32 minus its first occurrence in native frames. D counts the futures that lose a life. If any future dies, S is the minimum number of simulated frames across the futures. Its negative value prefers more survival time. Otherwise this entry is zero. T is the worst time to the next actual pellet. A future with no pellet uses the horizon plus 600 as its fallback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second row continues the same ordered vector. K is the largest forecast cycle count. J is the root food-route cost we just discussed. W counts futures that clear the level, so negative W prefers more clears. F bar is the mean number of pellets consumed, and its negative value prefers more pellets. U is the longest dry spell in forecast decisions. M bar is the mean number of simulated frames. The first unequal entry decides the comparison. These values never become a weighted reward sum, and raw game score is not an entry in this rank.</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Right loses at E. Up loses at C. The teacher therefore selects Left before either tempting food value can reverse the result. For Left, all four buffers tie in the first five entries. Its next-pellet time is 304, 273, 169 and 137 frames as the buffer increases from one to six. Buffer six wins at T. Interestingly, its root food cost J is three, while buffer one's is two. That shows why a static food cost alone cannot explain the teacher's final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After choosing Left, we execute only that first direction. Then the teacher reads the real next state and replans. The nominal horizon here is a 480-frame budget because danger is nearby. Each action completes its native boundary, which explains why the surviving forecast ends at 484. This limited portfolio gives a useful decision, with complete-game qualification and separate checks on training continuations still required. It does not prove a globally optimal route or survival in every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Presenter controls: the footer opens the recorded example. Step through the state, route policy, native futures and rank. Compare Left with Right and Up, then compare Left under buffers one and six. Both future inspectors and every rank entry show recorded values from the frozen implementation. These controls replay stored explanatory data and run no live teacher or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Sources for the presenter: [frozen teacher source](https://github.com/yxc20089/QPlusLearning/blob/27bfeb7/labs/lab-01-kev-pacman/games/arcade-teacher.js), [native snapshot and transition adapter](https://github.com/yxc20089/QPlusLearning/blob/27bfeb7/labs/lab-01-kev-pacman/games/arcade-engine.js), [algorithm methods and limitations](https://github.com/yxc20089/QPlusLearning/blob/27bfeb7/labs/lab-01-kev-pacman/evaluation/teacher-methods.md), and [public qualification replay](https://github.com/yxc20089/QPlusLearning/blob/27bfeb7/labs/lab-01-kev-pacman/evaluation/teacher-qualification-replays.zip). All 172 prefix state hashes, all 24 action-buffer-future forecasts and all 12 root BFS/danger/revisit costs reproduced during authoring. Planning restored the live observation exactly. The teacher SHA-256 remains 66d98198b77ad5364688006ed132804fae1ccc395fb4a4536980abbdafbe2f3b. These are CPU teacher forecasts, with no learner telemetry or trained-v4 result.</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kev_lab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kev_lab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 Slide 11 — Teacher decisions and Kev distillation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teacher can spend time exploring several futures before it chooses a move. Our student needs to make that choice quickly during play. We connect those two pieces by saving the teacher’s chosen action beside the exact decision that produced it, then teaching Kev to give that action a higher probability.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Start on the left. The letter s is the full observed game state: the complete maze, Pac-Man, all four ghosts, their movement and timing fields, and the recent history. The letter u is the decision question. Capital A is the original ordered list of legal action options. We preserve the same state, question and options for the student. The teacher’s simulated future outcomes stay in the evidence files. They do not become extra clues in Kev’s input.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teacher box gives us a sub T, written a_T. T identifies the teacher, and a is one action from those legal options. In the public example from the last slide, the teacher chose Left. That recorded teacher choice is real. Seed 91009 belongs to qualification and stays excluded from our training data. We use it here to explain how a label works.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We also have to decide which teacher labels deserve to enter the dataset. The frozen teacher cleared its finite 20-game qualification suite without a life loss in this run. The aggregate qualification rule permits up to four losses, so that result is better than its required threshold. Positive training continuations face a stricter individual rule: each one must finish the native maze with zero life loss, pass the original loop and stall gates, and reproduce under an independent cold replay with matching source hashes. These checks give evidence for the admitted cases. They do not establish that the teacher is optimal on every board.</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Now move to Kev on the right. Phi, the Greek letter φ, stands for the weights we allow this stage to change: the LoRA matrices and the pointer head. We initialize them from the completed native-v3 checkpoint. W with a zero below it, W₀, means the original backbone matrices. Those remain fixed. A new v4 stage starts a fresh optimizer and schedule rather than inheriting v3’s optimizer state. Resuming an interrupted v4 run is different: recovery restores that run’s optimizer and completed step.</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Kev produces p sub phi. That is its probability distribution over the supplied actions, after the pointer head scores them and softmax normalizes the scores. To make the calculation easy to follow, the slide gives Left a probability of 0.20, Up 0.35 and Right 0.45. These are illustrative numbers. They are not measured predictions from either checkpoint.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Follow the arrows down from the teacher and Kev. Both enter the same loss box: the teacher supplies the action label, and Kev supplies the probability of that action. The arrow leaving the loss box leads to the optimizer. It uses the loss gradients to update our LoRA matrices and pointer head, while the original backbone stays fixed.</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equation tells us how one Pac-Man choice contributes to the training loss. Script L, ℒ, is the loss, and the phi in parentheses reminds us that it depends on the trainable weights. We look up the probability that Kev assigns to the teacher action, a sub T. The vertical bar means “given”: given this state s, question u and option list A. We take its natural logarithm and put a minus sign in front. A probability of 0.20 gives about 1.61. If Kev instead assigned 0.80 to that same target, the loss would be about 0.22. The controls let us change that probability while keeping the complete distribution normalized.</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That calculation uses one action label. We do not copy the teacher’s search ranking into a soft probability target, and this recipe does not use a teacher KL loss. During training, Kev learns from saved labels. During live play, Kev chooses the action itself. The offline teacher does not override its moves. The next slide will show how the loss reaches the pointer head and LoRA matrices, so we can leave the gradient mechanics there.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Finally, look at the data counts. We selected 3,660 targeted roots and 1,220 nearby informative decisions. We retained 912 canonical native-v2 expert replay records. Those make 5,792 Pac-Man task records. Kev adds 304 generic decision replay requests, giving 6,096 requests and 762 optimizer updates for one epoch at batch four with accumulation two. All 11 recorded-v3 disagreement roots are already inside those counts. Other hard cases come from native simulation and counterfactual tests. We should not describe all of them as mistakes that we observed v3 make.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interactive page shows the category breakdown, including the limited 16 training and four development examples of actual native power expiry. These counts describe the coverage we have, not a promise that every behavior is solved. A low choice loss tells us that Kev matches labels better on those examples. Ghost evasion, loops and pellet efficiency still need measurement in complete games.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 Source and scope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 Frozen state/action request construction and native observation contract: https://github.com/yxc20089/QPlusLearning/blob/27bfeb7/labs/lab-01-kev-pacman/pacman_lab.py and https://github.com/yxc20089/QPlusLearning/blob/27bfeb7/labs/lab-01-kev-pacman/games/arcade-engine.js</a:t>
            </a:r>
            <a:endParaRPr/>
          </a:p>
          <a:p>
            <a:pPr indent="0" lvl="0" marL="0" rtl="0" algn="l">
              <a:spcBef>
                <a:spcPts val="0"/>
              </a:spcBef>
              <a:spcAft>
                <a:spcPts val="0"/>
              </a:spcAft>
              <a:buNone/>
            </a:pPr>
            <a:r>
              <a:rPr lang="zh-CN"/>
              <a:t>- Teacher algorithm, finite qualification and positive-continuation admission: https://github.com/yxc20089/QPlusLearning/blob/27bfeb7/labs/lab-01-kev-pacman/evaluation/teacher-methods.md</a:t>
            </a:r>
            <a:endParaRPr/>
          </a:p>
          <a:p>
            <a:pPr indent="0" lvl="0" marL="0" rtl="0" algn="l">
              <a:spcBef>
                <a:spcPts val="0"/>
              </a:spcBef>
              <a:spcAft>
                <a:spcPts val="0"/>
              </a:spcAft>
              <a:buNone/>
            </a:pPr>
            <a:r>
              <a:rPr lang="zh-CN"/>
              <a:t>- Actual teacher-Left example, qualification seed 91009, level 1, turn 172: the verified public CPU reproduction underlying slide 10 and https://github.com/yxc20089/QPlusLearning/blob/27bfeb7/labs/lab-01-kev-pacman/evaluation/teacher-qualification-replays.zip</a:t>
            </a:r>
            <a:endParaRPr/>
          </a:p>
          <a:p>
            <a:pPr indent="0" lvl="0" marL="0" rtl="0" algn="l">
              <a:spcBef>
                <a:spcPts val="0"/>
              </a:spcBef>
              <a:spcAft>
                <a:spcPts val="0"/>
              </a:spcAft>
              <a:buNone/>
            </a:pPr>
            <a:r>
              <a:rPr lang="zh-CN"/>
              <a:t>- Frozen dataset composition, categories, 11 actual recorded-v3 disagreements, original legal options and exclusion of future metadata: https://github.com/yxc20089/QPlusLearning/blob/32f5d94/labs/lab-01-kev-pacman/evaluation/v4-balanced-export-2026-10-08.md</a:t>
            </a:r>
            <a:endParaRPr/>
          </a:p>
          <a:p>
            <a:pPr indent="0" lvl="0" marL="0" rtl="0" algn="l">
              <a:spcBef>
                <a:spcPts val="0"/>
              </a:spcBef>
              <a:spcAft>
                <a:spcPts val="0"/>
              </a:spcAft>
              <a:buNone/>
            </a:pPr>
            <a:r>
              <a:rPr lang="zh-CN"/>
              <a:t>- Verified completed-v3 warm start, fresh optimizer, rank 16, pointer dimension 256, one epoch, 2e-5 learning rate, batch 4 × accumulation 2 and 6,096 requests / 762 updates: https://github.com/yxc20089/QPlusLearning/blob/5efd612/labs/lab-01-kev-pacman/notebooks/pacman_kev_v4.ipynb</a:t>
            </a:r>
            <a:endParaRPr/>
          </a:p>
          <a:p>
            <a:pPr indent="0" lvl="0" marL="0" rtl="0" algn="l">
              <a:spcBef>
                <a:spcPts val="0"/>
              </a:spcBef>
              <a:spcAft>
                <a:spcPts val="0"/>
              </a:spcAft>
              <a:buNone/>
            </a:pPr>
            <a:r>
              <a:rPr lang="zh-CN"/>
              <a:t>- Choice loss implementation: https://github.com/jaredpalmer/kev/blob/84847f0a883d900f7de5b7a57eaa341ca7f9a6b4/kev/train.py (`question_loss`, hard-label `F.cross_entropy`; default loss modifiers remain zero for these Pac-Man choice labels).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editable equation shows the loss for one Pac-Man choice question. The probability control is a teaching experiment, not a model run or parameter update. The teacher choice is recorded CPU evidence from an excluded qualification seed. No teacher futures enter the model state, no private learner trace is published, and no learned-v4 gameplay improvement is claimed.</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kev_lab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kev_lab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 Slide 12 — How gradients update Kev</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On the last slide, the teacher gave us Left and Kev assigned it a probability of 0.20. The loss told us that this was a poor match. Now we need to turn that mismatch into a learning signal.</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Start with the equation at the top. Script L is our cross-entropy loss. z sub i is the raw score for action i, before softmax. The two partial-derivative symbols ask how the loss would change if we nudged that score while holding the other scores fixed. The answer is p sub i minus t sub i. p is Kev’s probability for that action. t is the target indicator: it is one for the teacher’s chosen action and zero for every other supplied 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Using our illustrative probabilities, Up gives 0.35 minus zero, so its score gradient is positive 0.35. Left gives 0.20 minus one, so its gradient is negative 0.80. Right gives positive 0.45. A downhill direction in score space would raise Left’s score and lower the others. These numbers explain the derivative. They are not measured predictions from a trained checkpoint, and we are not directly editing scores during training.</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Now follow the drawing from left to right once. x is the encoded state, question and action options. The backbone produces H, the collection of hidden vectors. The pointer head reads the decide marker and each option’s closing marker, then produces z, the list of action scores. Softmax and the teacher label give us the loss on the right. The backbone box is a schematic of many 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orange arrows run in the reverse direction. First the loss reaches the pointer head. W sub q and b sub q are its query projection matrix and bias. W sub k and b sub k are its key projection matrix and bias. Autograd uses the chain rule through the dot products and both projections. It computes gradients for those head weights and for the hidden vectors that supplied their inputs. These head projections are separate from the attention projections inside Qwen.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Those hidden-vector gradients continue through the backbone. W-zero stays fixed, but the activations around it still depend on earlier layers. Freezing the matrix means we do not update its entries. It does not remove that operation from the path needed to learn an earlier adapter. This is why LoRA training still needs a backward pass through a large model. Our gradient checkpointing saves activation memory by recomputing selected forward operations during backward.</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Inside each selected projection, A sub ell and B sub ell are the two LoRA matrices. Ell names the adapted projection. We have many such pairs across Qwen’s attention, DeltaNet and feed-forward projections. Each pair learns its contribution to the representation. Rank is sixteen, and alpha over rank is thirty-two over sixteen, which gives a multiplier of two. The original base matrices and token embeddings remain fixed in this lab.</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Look at phi in the lower equation. The braces collect the parameters that training can update: every adapted layer’s A and B, together with the pointer head’s two matrices and two biases. That collection is what we optimize. The teacher’s search algorithm and the game simulator are outside this gradient path. Their role was to produce and check our fixed labels.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Finally, connect this picture to the notebook. We use microbatches of four requests and accumulate across two of them, so a full optimizer update combines eight source requests. Kev weights the losses by source records. It clips the global trainable gradient norm to one, then fused AdamW updates phi. The learning-rate schedule advances after that update, with a configured maximum of two times ten to the minus five. AdamW keeps running estimates of gradients and squared gradients, and applies weight decay. It is more than simply subtracting the three score gradients shown at the top.</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new v4 stage copies the completed v3 adapter and head, then starts a fresh optimizer. Recovery within v4 restores that stage’s optimizer and progress. Because each update combines examples and changes shared weights, one particular action probability need not improve at every step. On the next slide, we will test the resulting policy in complete games, where ghost avoidance and pellet efficiency matter.</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 Sources and scope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 [Pinned Kev model](https://github.com/jaredpalmer/kev/blob/84847f0a883d900f7de5b7a57eaa341ca7f9a6b4/kev/model.py): affine pointer projections, readouts, all-targets rank-16 LoRA and trainable-parameter filtering.</a:t>
            </a:r>
            <a:endParaRPr/>
          </a:p>
          <a:p>
            <a:pPr indent="0" lvl="0" marL="0" rtl="0" algn="l">
              <a:spcBef>
                <a:spcPts val="0"/>
              </a:spcBef>
              <a:spcAft>
                <a:spcPts val="0"/>
              </a:spcAft>
              <a:buNone/>
            </a:pPr>
            <a:r>
              <a:rPr lang="zh-CN"/>
              <a:t>- [Pinned Kev training loop](https://github.com/jaredpalmer/kev/blob/84847f0a883d900f7de5b7a57eaa341ca7f9a6b4/kev/train.py): ordinary choice cross-entropy, record-weighted accumulation, global gradient clipping at 1.0, AdamW and OneCycleLR.</a:t>
            </a:r>
            <a:endParaRPr/>
          </a:p>
          <a:p>
            <a:pPr indent="0" lvl="0" marL="0" rtl="0" algn="l">
              <a:spcBef>
                <a:spcPts val="0"/>
              </a:spcBef>
              <a:spcAft>
                <a:spcPts val="0"/>
              </a:spcAft>
              <a:buNone/>
            </a:pPr>
            <a:r>
              <a:rPr lang="zh-CN"/>
              <a:t>- [Lab execution overlay](https://github.com/yxc20089/QPlusLearning/blob/5b2db99/labs/lab-01-kev-pacman/training_monitor.py): CUDA fused AdamW with the upstream objective retained.</a:t>
            </a:r>
            <a:endParaRPr/>
          </a:p>
          <a:p>
            <a:pPr indent="0" lvl="0" marL="0" rtl="0" algn="l">
              <a:spcBef>
                <a:spcPts val="0"/>
              </a:spcBef>
              <a:spcAft>
                <a:spcPts val="0"/>
              </a:spcAft>
              <a:buNone/>
            </a:pPr>
            <a:r>
              <a:rPr lang="zh-CN"/>
              <a:t>- [V4 notebook recipe](https://github.com/yxc20089/QPlusLearning/blob/5efd612/labs/lab-01-kev-pacman/notebooks/pacman_kev_v4.ipynb): completed-v3 warm start, fresh optimizer, batch 4 × accumulation 2, maximum learning rate 2e-5 and checkpointing.</a:t>
            </a:r>
            <a:endParaRPr/>
          </a:p>
          <a:p>
            <a:pPr indent="0" lvl="0" marL="0" rtl="0" algn="l">
              <a:spcBef>
                <a:spcPts val="0"/>
              </a:spcBef>
              <a:spcAft>
                <a:spcPts val="0"/>
              </a:spcAft>
              <a:buNone/>
            </a:pPr>
            <a:r>
              <a:rPr lang="zh-CN"/>
              <a:t>- [LoRA paper](https://arxiv.org/abs/2106.09685): fixed pretrained matrices and learned low-rank updates.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score derivative is an analytic consequence of single-label softmax cross-entropy at training temperature 1. It is displayed for one illustrative Pac-Man choice. The actual optimizer combines request losses and replay; this animation does not run GPU training, differentiate the teacher, reproduce a checkpoint’s predictions or establish better gameplay. A and B here are LoRA matrices, distinct from the action list A used earlier. The backbone drawing does not assert that there is only one layer or that every original parameter trains.</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kev_lab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kev_lab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We have now followed one teacher decision all the way to a weight update. The final question is what those updates change when Kev plays a whole game. A lower loss tells us that it is fitting labels better. To see whether it can avoid ghosts and finish eating the pellets, we have to let its own decisions change the game.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Start with the loop across the top. We reset the native game to the same seed and starting level for every controller. Our reference suite has five seeds at each of levels one, two, three and five, giving twenty starts. We keep the game version, observation format, action rules and limits fixed. We also record the active checkpoint fingerprint, so a file called “latest” cannot quietly stand in for a different adapter.</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In the first box, g sub t is the native game snapshot at decision t. The letter O is our observation function. It turns that snapshot into s sub t, the information Kev receives. This includes the full maze and all remaining pellets, power pellets, the player, the four ghosts, movement and native timers, along with the recent history from slide eight. The drawing is a diagram of the evaluation loop. It is not a cropped board fed to the model. The engine's hidden future randomness and the teacher's forecasts are not part of Kev's observation.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middle box says a sub t equals pi sub phi of s sub t. Pi is simply a name for the learned policy: the rule that maps an observation to an action. Phi identifies the LoRA and pointer-head weights we just trained. A sub t is the direction it chooses. As we saw earlier, Kev scores the legal options and the controller executes the option with the largest probability. This compact notation leaves the fixed instruction and the legal option list implicit. Those inputs are still supplied in every real request.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During this run, the teacher does not rescue Kev. We can calculate what a teacher would choose or check the immediate risk of alternatives for diagnosis, but we do not replace the student's action. Otherwise we would be measuring a combined controller and could not tell whether Kev had learned the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third box is the native game. Capital F names its transition function. Give it the current snapshot and chosen direction, and it produces g sub t plus one, the next snapshot. Here t counts decisions. One decision can advance several native frames before Pac-Man reaches the requested adjacent tile. The four ghosts keep their own controllers, the power timer keeps counting down, and collisions and pellet consumption follow the native mechanics. We observe the result and repeat the loop.</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We stop at the first completed level or native game-over. Losing one life does not end the whole benchmark game if another life remains. A watchdog can also stop an unproductive run: too many decisions, too many simulation frames or five hundred and twelve decisions in a row without a pellet. That is an incomplete failure. It never becomes a win just because Pac-Man remained alive until a limit.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Now look at the two equations below. C is the clear rate. N is the number of games, twenty in this suite. The index j runs through those games. The expression one in square brackets is an indicator: it contributes one when game j genuinely clears the level, and zero otherwise. Add those indicators and divide by N. Watchdog exits stay in the denominator and contribute zero.</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E measures food efficiency. P is the total number of pellets collected, including normal and power pellets. Lowercase n sub f is the total count of active native frames; the small f reminds us that these are frames. Divide P by that count, then multiply by a thousand to express the result as pellets per thousand frames. We aggregate the totals first. We do not average per-game ratios, and we do not put model or network waiting time into this denominator. If we want serving speed, we measure wall-clock latency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table is a real earlier result, from native-v3 and the frozen teacher on those same twenty starts. V3 clears zero games. The teacher clears all twenty. V3 has twenty-two immediate deaths where another legal move survives the next-tile transition; the teacher has none. That narrow check does not tell us whether a route was safe several decisions earlier. The teacher still loses one life in this reference suite before continuing to clear. Its earlier qualification suite used different seeds.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Food efficiency is about thirty-four point six for v3 and seventy-four point one for the teacher. V3 had improved some immediate retreats compared with v2, yet its food efficiency got worse and its longest dry spell reached two hundred and seventy-three decisions. That is why we inspect survival and food progress together. A player can avoid the next ghost while wandering away from the remaining pellets. A strict repeated-loop count can also miss a long unproductive route through many different tiles.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These numbers are historical v3 results, not results for the v4 checkpoint you just trained. Run the notebook's paired v3–v4 comparison to fill in that answer. It also probes the five hundred and twelve hard development requests and breaks them down by behavior. Those fixed-state diagnostics help explain the result. The full games remain the main evidence. Inspect power-expiry mistakes, recovery after respawn, dry intervals and the final few pellets in the saved trajectories.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There is one final limit to the claim. These twenty starts are excluded from training, but we have already studied their failures while designing v4. They are a reference benchmark, not an untouched blind test. For a stronger generalization claim, use new disjoint starts and report them separately. The same classic maze also cannot establish performance on unseen maze layouts.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Finish CP1 by keeping the completed adapter and pointer head, fingerprint, configuration, training curves, paired metrics and full traces together, with a verified Drive backup. Show one decision that improved or one failure that remains, and explain it from the actual state. The interactive game is still an ungraded way to explore the learned policy. Our conclusion should come from the reproducible game evidence.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Sources:</a:t>
            </a:r>
            <a:endParaRPr/>
          </a:p>
          <a:p>
            <a:pPr indent="0" lvl="0" marL="0" rtl="0" algn="l">
              <a:spcBef>
                <a:spcPts val="0"/>
              </a:spcBef>
              <a:spcAft>
                <a:spcPts val="0"/>
              </a:spcAft>
              <a:buNone/>
            </a:pPr>
            <a:r>
              <a:rPr lang="zh-CN"/>
              <a:t>https://github.com/yxc20089/QPlusLearning/blob/b5aa381/labs/lab-01-kev-pacman/benchmark-spec.json</a:t>
            </a:r>
            <a:endParaRPr/>
          </a:p>
          <a:p>
            <a:pPr indent="0" lvl="0" marL="0" rtl="0" algn="l">
              <a:spcBef>
                <a:spcPts val="0"/>
              </a:spcBef>
              <a:spcAft>
                <a:spcPts val="0"/>
              </a:spcAft>
              <a:buNone/>
            </a:pPr>
            <a:r>
              <a:rPr lang="zh-CN"/>
              <a:t>https://github.com/yxc20089/QPlusLearning/blob/b5aa381/labs/lab-01-kev-pacman/gameplay_benchmark.py</a:t>
            </a:r>
            <a:endParaRPr/>
          </a:p>
          <a:p>
            <a:pPr indent="0" lvl="0" marL="0" rtl="0" algn="l">
              <a:spcBef>
                <a:spcPts val="0"/>
              </a:spcBef>
              <a:spcAft>
                <a:spcPts val="0"/>
              </a:spcAft>
              <a:buNone/>
            </a:pPr>
            <a:r>
              <a:rPr lang="zh-CN"/>
              <a:t>https://github.com/yxc20089/QPlusLearning/blob/b5aa381/labs/lab-01-kev-pacman/hard_case_evaluation.py</a:t>
            </a:r>
            <a:endParaRPr/>
          </a:p>
          <a:p>
            <a:pPr indent="0" lvl="0" marL="0" rtl="0" algn="l">
              <a:spcBef>
                <a:spcPts val="0"/>
              </a:spcBef>
              <a:spcAft>
                <a:spcPts val="0"/>
              </a:spcAft>
              <a:buNone/>
            </a:pPr>
            <a:r>
              <a:rPr lang="zh-CN"/>
              <a:t>https://github.com/yxc20089/QPlusLearning/blob/b5aa381/labs/lab-01-kev-pacman/evaluation/v3-analysis-2026-10-07/README.md</a:t>
            </a:r>
            <a:endParaRPr/>
          </a:p>
          <a:p>
            <a:pPr indent="0" lvl="0" marL="0" rtl="0" algn="l">
              <a:spcBef>
                <a:spcPts val="0"/>
              </a:spcBef>
              <a:spcAft>
                <a:spcPts val="0"/>
              </a:spcAft>
              <a:buNone/>
            </a:pPr>
            <a:r>
              <a:rPr lang="zh-CN"/>
              <a:t>https://github.com/yxc20089/QPlusLearning/blob/b5aa381/labs/lab-01-kev-pacman/evaluation/v3-analysis-2026-10-07/ghost-evasion-evidence.json</a:t>
            </a:r>
            <a:endParaRPr/>
          </a:p>
          <a:p>
            <a:pPr indent="0" lvl="0" marL="0" rtl="0" algn="l">
              <a:spcBef>
                <a:spcPts val="0"/>
              </a:spcBef>
              <a:spcAft>
                <a:spcPts val="0"/>
              </a:spcAft>
              <a:buNone/>
            </a:pPr>
            <a:r>
              <a:rPr lang="zh-CN"/>
              <a:t>https://github.com/yxc20089/QPlusLearning/blob/b5aa381/labs/lab-01-kev-pacman/evaluation/v3-analysis-2026-10-07/pellet-efficiency-evidence.json</a:t>
            </a:r>
            <a:endParaRPr/>
          </a:p>
          <a:p>
            <a:pPr indent="0" lvl="0" marL="0" rtl="0" algn="l">
              <a:spcBef>
                <a:spcPts val="0"/>
              </a:spcBef>
              <a:spcAft>
                <a:spcPts val="0"/>
              </a:spcAft>
              <a:buNone/>
            </a:pPr>
            <a:r>
              <a:rPr lang="zh-CN"/>
              <a:t>https://github.com/yxc20089/QPlusLearning/blob/b5aa381/labs/lab-01-kev-pacman/evaluation/v3-analysis-2026-10-07/teacher-reference.json</a:t>
            </a:r>
            <a:endParaRPr/>
          </a:p>
          <a:p>
            <a:pPr indent="0" lvl="0" marL="0" rtl="0" algn="l">
              <a:spcBef>
                <a:spcPts val="0"/>
              </a:spcBef>
              <a:spcAft>
                <a:spcPts val="0"/>
              </a:spcAft>
              <a:buNone/>
            </a:pPr>
            <a:r>
              <a:rPr lang="zh-CN"/>
              <a:t>https://colab.research.google.com/github/yxc20089/QPlusLearning/blob/main/labs/lab-01-kev-pacman/notebooks/pacman_kev_lab.ipynb</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gif"/><Relationship Id="rId4" Type="http://schemas.openxmlformats.org/officeDocument/2006/relationships/hyperlink" Target="https://yxc20089.github.io/QPlusLearning/animations/kev-architecture.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6.gif"/><Relationship Id="rId4" Type="http://schemas.openxmlformats.org/officeDocument/2006/relationships/hyperlink" Target="https://yxc20089.github.io/QPlusLearning/animations/kev-input.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2.gif"/><Relationship Id="rId4" Type="http://schemas.openxmlformats.org/officeDocument/2006/relationships/hyperlink" Target="https://yxc20089.github.io/QPlusLearning/animations/kev-lora.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gif"/><Relationship Id="rId4" Type="http://schemas.openxmlformats.org/officeDocument/2006/relationships/hyperlink" Target="https://yxc20089.github.io/QPlusLearning/animations/kev-pointer.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gif"/><Relationship Id="rId4" Type="http://schemas.openxmlformats.org/officeDocument/2006/relationships/hyperlink" Target="https://yxc20089.github.io/QPlusLearning/animations/kev-softma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gif"/><Relationship Id="rId4" Type="http://schemas.openxmlformats.org/officeDocument/2006/relationships/hyperlink" Target="https://yxc20089.github.io/QPlusLearning/animations/kev-speed.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gif"/><Relationship Id="rId4" Type="http://schemas.openxmlformats.org/officeDocument/2006/relationships/hyperlink" Target="https://yxc20089.github.io/QPlusLearning/animations/kev-curriculum.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3.gif"/><Relationship Id="rId4" Type="http://schemas.openxmlformats.org/officeDocument/2006/relationships/hyperlink" Target="https://yxc20089.github.io/QPlusLearning/animations/kev-state.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7.gif"/><Relationship Id="rId4" Type="http://schemas.openxmlformats.org/officeDocument/2006/relationships/hyperlink" Target="https://yxc20089.github.io/QPlusLearning/animations/kev-teacher.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5.gif"/><Relationship Id="rId4" Type="http://schemas.openxmlformats.org/officeDocument/2006/relationships/hyperlink" Target="https://yxc20089.github.io/QPlusLearning/animations/kev-route-search.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9.gif"/><Relationship Id="rId4" Type="http://schemas.openxmlformats.org/officeDocument/2006/relationships/hyperlink" Target="https://yxc20089.github.io/QPlusLearning/animations/kev-distillation.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0.gif"/><Relationship Id="rId4" Type="http://schemas.openxmlformats.org/officeDocument/2006/relationships/hyperlink" Target="https://yxc20089.github.io/QPlusLearning/animations/kev-gradients.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1.gif"/><Relationship Id="rId4" Type="http://schemas.openxmlformats.org/officeDocument/2006/relationships/hyperlink" Target="https://yxc20089.github.io/QPlusLearning/animations/kev-rollout.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457200" y="1714500"/>
            <a:ext cx="8229600" cy="2108200"/>
          </a:xfrm>
          <a:prstGeom prst="rect">
            <a:avLst/>
          </a:prstGeom>
          <a:noFill/>
          <a:ln>
            <a:noFill/>
          </a:ln>
        </p:spPr>
      </p:pic>
      <p:sp>
        <p:nvSpPr>
          <p:cNvPr id="55" name="Google Shape;55;p13"/>
          <p:cNvSpPr txBox="1"/>
          <p:nvPr>
            <p:ph type="ctrTitle"/>
          </p:nvPr>
        </p:nvSpPr>
        <p:spPr>
          <a:xfrm>
            <a:off x="411480" y="271780"/>
            <a:ext cx="8321100" cy="72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3000">
                <a:solidFill>
                  <a:srgbClr val="111827"/>
                </a:solidFill>
              </a:rPr>
              <a:t>Kev architecture</a:t>
            </a:r>
            <a:endParaRPr b="1" sz="3000">
              <a:solidFill>
                <a:srgbClr val="111827"/>
              </a:solidFill>
            </a:endParaRPr>
          </a:p>
        </p:txBody>
      </p:sp>
      <p:sp>
        <p:nvSpPr>
          <p:cNvPr id="56" name="Google Shape;56;p13"/>
          <p:cNvSpPr txBox="1"/>
          <p:nvPr>
            <p:ph idx="1" type="subTitle"/>
          </p:nvPr>
        </p:nvSpPr>
        <p:spPr>
          <a:xfrm>
            <a:off x="411480" y="919480"/>
            <a:ext cx="8321100" cy="44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700">
                <a:solidFill>
                  <a:srgbClr val="111827"/>
                </a:solidFill>
              </a:rPr>
              <a:t>One board, supplied moves, direct probabilities</a:t>
            </a:r>
            <a:endParaRPr sz="1700">
              <a:solidFill>
                <a:srgbClr val="111827"/>
              </a:solidFill>
            </a:endParaRPr>
          </a:p>
        </p:txBody>
      </p:sp>
      <p:sp>
        <p:nvSpPr>
          <p:cNvPr id="57" name="Google Shape;57;p13"/>
          <p:cNvSpPr txBox="1"/>
          <p:nvPr/>
        </p:nvSpPr>
        <p:spPr>
          <a:xfrm>
            <a:off x="411480" y="4818380"/>
            <a:ext cx="7902000" cy="30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900">
                <a:solidFill>
                  <a:srgbClr val="5E6E80"/>
                </a:solidFill>
              </a:rPr>
              <a:t>Illustrative probabilities.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58" name="Google Shape;58;p13"/>
          <p:cNvSpPr txBox="1"/>
          <p:nvPr/>
        </p:nvSpPr>
        <p:spPr>
          <a:xfrm>
            <a:off x="8399780" y="4818380"/>
            <a:ext cx="332700" cy="30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900">
                <a:solidFill>
                  <a:srgbClr val="5E6E80"/>
                </a:solidFill>
              </a:rPr>
              <a:t>1</a:t>
            </a:r>
            <a:endParaRPr sz="900">
              <a:solidFill>
                <a:srgbClr val="5E6E80"/>
              </a:solidFill>
            </a:endParaRPr>
          </a:p>
        </p:txBody>
      </p:sp>
      <p:sp>
        <p:nvSpPr>
          <p:cNvPr id="59" name="Google Shape;59;p13"/>
          <p:cNvSpPr/>
          <p:nvPr/>
        </p:nvSpPr>
        <p:spPr>
          <a:xfrm>
            <a:off x="457200" y="1803400"/>
            <a:ext cx="1524000" cy="1778100"/>
          </a:xfrm>
          <a:prstGeom prst="roundRect">
            <a:avLst>
              <a:gd fmla="val 16667" name="adj"/>
            </a:avLst>
          </a:prstGeom>
          <a:solidFill>
            <a:srgbClr val="F5F7F9"/>
          </a:solidFill>
          <a:ln cap="flat" cmpd="sng" w="12700">
            <a:solidFill>
              <a:srgbClr val="DCE4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3"/>
          <p:cNvSpPr/>
          <p:nvPr/>
        </p:nvSpPr>
        <p:spPr>
          <a:xfrm>
            <a:off x="2362200" y="1765300"/>
            <a:ext cx="2895600" cy="1816200"/>
          </a:xfrm>
          <a:prstGeom prst="roundRect">
            <a:avLst>
              <a:gd fmla="val 16667" name="adj"/>
            </a:avLst>
          </a:prstGeom>
          <a:solidFill>
            <a:srgbClr val="FBFDFD"/>
          </a:solidFill>
          <a:ln cap="flat" cmpd="sng" w="12700">
            <a:solidFill>
              <a:srgbClr val="DCE4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3"/>
          <p:cNvSpPr/>
          <p:nvPr/>
        </p:nvSpPr>
        <p:spPr>
          <a:xfrm>
            <a:off x="3073400" y="1930400"/>
            <a:ext cx="1320900" cy="571500"/>
          </a:xfrm>
          <a:prstGeom prst="roundRect">
            <a:avLst>
              <a:gd fmla="val 16667" name="adj"/>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3"/>
          <p:cNvSpPr/>
          <p:nvPr/>
        </p:nvSpPr>
        <p:spPr>
          <a:xfrm>
            <a:off x="3073400" y="2781300"/>
            <a:ext cx="1320900" cy="571500"/>
          </a:xfrm>
          <a:prstGeom prst="roundRect">
            <a:avLst>
              <a:gd fmla="val 16667" name="adj"/>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3"/>
          <p:cNvSpPr/>
          <p:nvPr/>
        </p:nvSpPr>
        <p:spPr>
          <a:xfrm>
            <a:off x="5537200" y="1993900"/>
            <a:ext cx="1511400" cy="1473300"/>
          </a:xfrm>
          <a:prstGeom prst="roundRect">
            <a:avLst>
              <a:gd fmla="val 16667" name="adj"/>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4" name="Google Shape;64;p13"/>
          <p:cNvCxnSpPr/>
          <p:nvPr/>
        </p:nvCxnSpPr>
        <p:spPr>
          <a:xfrm>
            <a:off x="1981200" y="2730500"/>
            <a:ext cx="838200" cy="0"/>
          </a:xfrm>
          <a:prstGeom prst="straightConnector1">
            <a:avLst/>
          </a:prstGeom>
          <a:noFill/>
          <a:ln cap="flat" cmpd="sng" w="17775">
            <a:solidFill>
              <a:srgbClr val="167985"/>
            </a:solidFill>
            <a:prstDash val="solid"/>
            <a:round/>
            <a:headEnd len="med" w="med" type="none"/>
            <a:tailEnd len="med" w="med" type="triangle"/>
          </a:ln>
        </p:spPr>
      </p:cxnSp>
      <p:cxnSp>
        <p:nvCxnSpPr>
          <p:cNvPr id="65" name="Google Shape;65;p13"/>
          <p:cNvCxnSpPr/>
          <p:nvPr/>
        </p:nvCxnSpPr>
        <p:spPr>
          <a:xfrm rot="10800000">
            <a:off x="2819400" y="2209700"/>
            <a:ext cx="0" cy="520800"/>
          </a:xfrm>
          <a:prstGeom prst="straightConnector1">
            <a:avLst/>
          </a:prstGeom>
          <a:noFill/>
          <a:ln cap="flat" cmpd="sng" w="17775">
            <a:solidFill>
              <a:srgbClr val="B36B17"/>
            </a:solidFill>
            <a:prstDash val="solid"/>
            <a:round/>
            <a:headEnd len="med" w="med" type="none"/>
            <a:tailEnd len="med" w="med" type="none"/>
          </a:ln>
        </p:spPr>
      </p:cxnSp>
      <p:cxnSp>
        <p:nvCxnSpPr>
          <p:cNvPr id="66" name="Google Shape;66;p13"/>
          <p:cNvCxnSpPr/>
          <p:nvPr/>
        </p:nvCxnSpPr>
        <p:spPr>
          <a:xfrm>
            <a:off x="2819400" y="2209800"/>
            <a:ext cx="254100" cy="0"/>
          </a:xfrm>
          <a:prstGeom prst="straightConnector1">
            <a:avLst/>
          </a:prstGeom>
          <a:noFill/>
          <a:ln cap="flat" cmpd="sng" w="17775">
            <a:solidFill>
              <a:srgbClr val="B36B17"/>
            </a:solidFill>
            <a:prstDash val="solid"/>
            <a:round/>
            <a:headEnd len="med" w="med" type="none"/>
            <a:tailEnd len="med" w="med" type="triangle"/>
          </a:ln>
        </p:spPr>
      </p:cxnSp>
      <p:cxnSp>
        <p:nvCxnSpPr>
          <p:cNvPr id="67" name="Google Shape;67;p13"/>
          <p:cNvCxnSpPr/>
          <p:nvPr/>
        </p:nvCxnSpPr>
        <p:spPr>
          <a:xfrm>
            <a:off x="2819400" y="2730500"/>
            <a:ext cx="0" cy="330300"/>
          </a:xfrm>
          <a:prstGeom prst="straightConnector1">
            <a:avLst/>
          </a:prstGeom>
          <a:noFill/>
          <a:ln cap="flat" cmpd="sng" w="17775">
            <a:solidFill>
              <a:srgbClr val="167985"/>
            </a:solidFill>
            <a:prstDash val="solid"/>
            <a:round/>
            <a:headEnd len="med" w="med" type="none"/>
            <a:tailEnd len="med" w="med" type="none"/>
          </a:ln>
        </p:spPr>
      </p:cxnSp>
      <p:cxnSp>
        <p:nvCxnSpPr>
          <p:cNvPr id="68" name="Google Shape;68;p13"/>
          <p:cNvCxnSpPr/>
          <p:nvPr/>
        </p:nvCxnSpPr>
        <p:spPr>
          <a:xfrm>
            <a:off x="2819400" y="3060700"/>
            <a:ext cx="254100" cy="0"/>
          </a:xfrm>
          <a:prstGeom prst="straightConnector1">
            <a:avLst/>
          </a:prstGeom>
          <a:noFill/>
          <a:ln cap="flat" cmpd="sng" w="17775">
            <a:solidFill>
              <a:srgbClr val="167985"/>
            </a:solidFill>
            <a:prstDash val="solid"/>
            <a:round/>
            <a:headEnd len="med" w="med" type="none"/>
            <a:tailEnd len="med" w="med" type="triangle"/>
          </a:ln>
        </p:spPr>
      </p:cxnSp>
      <p:cxnSp>
        <p:nvCxnSpPr>
          <p:cNvPr id="69" name="Google Shape;69;p13"/>
          <p:cNvCxnSpPr/>
          <p:nvPr/>
        </p:nvCxnSpPr>
        <p:spPr>
          <a:xfrm>
            <a:off x="4394200" y="2209800"/>
            <a:ext cx="546000" cy="0"/>
          </a:xfrm>
          <a:prstGeom prst="straightConnector1">
            <a:avLst/>
          </a:prstGeom>
          <a:noFill/>
          <a:ln cap="flat" cmpd="sng" w="17775">
            <a:solidFill>
              <a:srgbClr val="B36B17"/>
            </a:solidFill>
            <a:prstDash val="solid"/>
            <a:round/>
            <a:headEnd len="med" w="med" type="none"/>
            <a:tailEnd len="med" w="med" type="none"/>
          </a:ln>
        </p:spPr>
      </p:cxnSp>
      <p:cxnSp>
        <p:nvCxnSpPr>
          <p:cNvPr id="70" name="Google Shape;70;p13"/>
          <p:cNvCxnSpPr/>
          <p:nvPr/>
        </p:nvCxnSpPr>
        <p:spPr>
          <a:xfrm>
            <a:off x="4940300" y="2209800"/>
            <a:ext cx="0" cy="393600"/>
          </a:xfrm>
          <a:prstGeom prst="straightConnector1">
            <a:avLst/>
          </a:prstGeom>
          <a:noFill/>
          <a:ln cap="flat" cmpd="sng" w="17775">
            <a:solidFill>
              <a:srgbClr val="B36B17"/>
            </a:solidFill>
            <a:prstDash val="solid"/>
            <a:round/>
            <a:headEnd len="med" w="med" type="none"/>
            <a:tailEnd len="med" w="med" type="triangle"/>
          </a:ln>
        </p:spPr>
      </p:cxnSp>
      <p:cxnSp>
        <p:nvCxnSpPr>
          <p:cNvPr id="71" name="Google Shape;71;p13"/>
          <p:cNvCxnSpPr/>
          <p:nvPr/>
        </p:nvCxnSpPr>
        <p:spPr>
          <a:xfrm>
            <a:off x="4394200" y="3060700"/>
            <a:ext cx="546000" cy="0"/>
          </a:xfrm>
          <a:prstGeom prst="straightConnector1">
            <a:avLst/>
          </a:prstGeom>
          <a:noFill/>
          <a:ln cap="flat" cmpd="sng" w="17775">
            <a:solidFill>
              <a:srgbClr val="167985"/>
            </a:solidFill>
            <a:prstDash val="solid"/>
            <a:round/>
            <a:headEnd len="med" w="med" type="none"/>
            <a:tailEnd len="med" w="med" type="none"/>
          </a:ln>
        </p:spPr>
      </p:cxnSp>
      <p:cxnSp>
        <p:nvCxnSpPr>
          <p:cNvPr id="72" name="Google Shape;72;p13"/>
          <p:cNvCxnSpPr/>
          <p:nvPr/>
        </p:nvCxnSpPr>
        <p:spPr>
          <a:xfrm rot="10800000">
            <a:off x="4940300" y="2857600"/>
            <a:ext cx="0" cy="203100"/>
          </a:xfrm>
          <a:prstGeom prst="straightConnector1">
            <a:avLst/>
          </a:prstGeom>
          <a:noFill/>
          <a:ln cap="flat" cmpd="sng" w="17775">
            <a:solidFill>
              <a:srgbClr val="167985"/>
            </a:solidFill>
            <a:prstDash val="solid"/>
            <a:round/>
            <a:headEnd len="med" w="med" type="none"/>
            <a:tailEnd len="med" w="med" type="triangle"/>
          </a:ln>
        </p:spPr>
      </p:cxnSp>
      <p:cxnSp>
        <p:nvCxnSpPr>
          <p:cNvPr id="73" name="Google Shape;73;p13"/>
          <p:cNvCxnSpPr/>
          <p:nvPr/>
        </p:nvCxnSpPr>
        <p:spPr>
          <a:xfrm>
            <a:off x="5067300" y="2730500"/>
            <a:ext cx="469800" cy="0"/>
          </a:xfrm>
          <a:prstGeom prst="straightConnector1">
            <a:avLst/>
          </a:prstGeom>
          <a:noFill/>
          <a:ln cap="flat" cmpd="sng" w="17775">
            <a:solidFill>
              <a:srgbClr val="167985"/>
            </a:solidFill>
            <a:prstDash val="solid"/>
            <a:round/>
            <a:headEnd len="med" w="med" type="none"/>
            <a:tailEnd len="med" w="med" type="triangle"/>
          </a:ln>
        </p:spPr>
      </p:cxnSp>
      <p:cxnSp>
        <p:nvCxnSpPr>
          <p:cNvPr id="74" name="Google Shape;74;p13"/>
          <p:cNvCxnSpPr/>
          <p:nvPr/>
        </p:nvCxnSpPr>
        <p:spPr>
          <a:xfrm>
            <a:off x="7048500" y="2730500"/>
            <a:ext cx="304800" cy="0"/>
          </a:xfrm>
          <a:prstGeom prst="straightConnector1">
            <a:avLst/>
          </a:prstGeom>
          <a:noFill/>
          <a:ln cap="flat" cmpd="sng" w="17775">
            <a:solidFill>
              <a:srgbClr val="B36B17"/>
            </a:solidFill>
            <a:prstDash val="solid"/>
            <a:round/>
            <a:headEnd len="med" w="med" type="none"/>
            <a:tailEnd len="med" w="med" type="triangle"/>
          </a:ln>
        </p:spPr>
      </p:cxnSp>
      <p:sp>
        <p:nvSpPr>
          <p:cNvPr id="75" name="Google Shape;75;p13"/>
          <p:cNvSpPr/>
          <p:nvPr/>
        </p:nvSpPr>
        <p:spPr>
          <a:xfrm>
            <a:off x="4813300" y="2603500"/>
            <a:ext cx="254100" cy="254100"/>
          </a:xfrm>
          <a:prstGeom prst="ellipse">
            <a:avLst/>
          </a:prstGeom>
          <a:solidFill>
            <a:srgbClr val="FFFFFF"/>
          </a:solidFill>
          <a:ln cap="flat" cmpd="sng" w="12700">
            <a:solidFill>
              <a:srgbClr val="5E6E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3"/>
          <p:cNvSpPr/>
          <p:nvPr/>
        </p:nvSpPr>
        <p:spPr>
          <a:xfrm>
            <a:off x="7416800" y="2298700"/>
            <a:ext cx="1269900" cy="88800"/>
          </a:xfrm>
          <a:prstGeom prst="rect">
            <a:avLst/>
          </a:prstGeom>
          <a:solidFill>
            <a:srgbClr val="F5F7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3"/>
          <p:cNvSpPr/>
          <p:nvPr/>
        </p:nvSpPr>
        <p:spPr>
          <a:xfrm>
            <a:off x="7416800" y="2298700"/>
            <a:ext cx="850800" cy="88800"/>
          </a:xfrm>
          <a:prstGeom prst="rect">
            <a:avLst/>
          </a:prstGeom>
          <a:solidFill>
            <a:srgbClr val="1679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3"/>
          <p:cNvSpPr/>
          <p:nvPr/>
        </p:nvSpPr>
        <p:spPr>
          <a:xfrm>
            <a:off x="7416800" y="2857500"/>
            <a:ext cx="1269900" cy="88800"/>
          </a:xfrm>
          <a:prstGeom prst="rect">
            <a:avLst/>
          </a:prstGeom>
          <a:solidFill>
            <a:srgbClr val="F5F7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3"/>
          <p:cNvSpPr/>
          <p:nvPr/>
        </p:nvSpPr>
        <p:spPr>
          <a:xfrm>
            <a:off x="7416800" y="2857500"/>
            <a:ext cx="304800" cy="88800"/>
          </a:xfrm>
          <a:prstGeom prst="rect">
            <a:avLst/>
          </a:prstGeom>
          <a:solidFill>
            <a:srgbClr val="1679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3"/>
          <p:cNvSpPr/>
          <p:nvPr/>
        </p:nvSpPr>
        <p:spPr>
          <a:xfrm>
            <a:off x="7416800" y="3416300"/>
            <a:ext cx="1269900" cy="88800"/>
          </a:xfrm>
          <a:prstGeom prst="rect">
            <a:avLst/>
          </a:prstGeom>
          <a:solidFill>
            <a:srgbClr val="F5F7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3"/>
          <p:cNvSpPr/>
          <p:nvPr/>
        </p:nvSpPr>
        <p:spPr>
          <a:xfrm>
            <a:off x="7416800" y="3416300"/>
            <a:ext cx="114300" cy="88800"/>
          </a:xfrm>
          <a:prstGeom prst="rect">
            <a:avLst/>
          </a:prstGeom>
          <a:solidFill>
            <a:srgbClr val="1679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3"/>
          <p:cNvSpPr txBox="1"/>
          <p:nvPr/>
        </p:nvSpPr>
        <p:spPr>
          <a:xfrm>
            <a:off x="411480" y="1376680"/>
            <a:ext cx="1615500" cy="40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700">
                <a:solidFill>
                  <a:srgbClr val="111827"/>
                </a:solidFill>
              </a:rPr>
              <a:t>Input x</a:t>
            </a:r>
            <a:endParaRPr b="1" sz="1700">
              <a:solidFill>
                <a:srgbClr val="111827"/>
              </a:solidFill>
            </a:endParaRPr>
          </a:p>
        </p:txBody>
      </p:sp>
      <p:sp>
        <p:nvSpPr>
          <p:cNvPr id="83" name="Google Shape;83;p13"/>
          <p:cNvSpPr txBox="1"/>
          <p:nvPr/>
        </p:nvSpPr>
        <p:spPr>
          <a:xfrm>
            <a:off x="2316480" y="1376680"/>
            <a:ext cx="2987100" cy="40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700">
                <a:solidFill>
                  <a:srgbClr val="111827"/>
                </a:solidFill>
              </a:rPr>
              <a:t>Qwen3.5-4B-Base</a:t>
            </a:r>
            <a:endParaRPr b="1" sz="1700">
              <a:solidFill>
                <a:srgbClr val="111827"/>
              </a:solidFill>
            </a:endParaRPr>
          </a:p>
        </p:txBody>
      </p:sp>
      <p:sp>
        <p:nvSpPr>
          <p:cNvPr id="84" name="Google Shape;84;p13"/>
          <p:cNvSpPr txBox="1"/>
          <p:nvPr/>
        </p:nvSpPr>
        <p:spPr>
          <a:xfrm>
            <a:off x="5491480" y="1376680"/>
            <a:ext cx="1742400" cy="40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700">
                <a:solidFill>
                  <a:srgbClr val="111827"/>
                </a:solidFill>
              </a:rPr>
              <a:t>Pointer head</a:t>
            </a:r>
            <a:endParaRPr b="1" sz="1700">
              <a:solidFill>
                <a:srgbClr val="111827"/>
              </a:solidFill>
            </a:endParaRPr>
          </a:p>
        </p:txBody>
      </p:sp>
      <p:sp>
        <p:nvSpPr>
          <p:cNvPr id="85" name="Google Shape;85;p13"/>
          <p:cNvSpPr txBox="1"/>
          <p:nvPr/>
        </p:nvSpPr>
        <p:spPr>
          <a:xfrm>
            <a:off x="7371080" y="1376680"/>
            <a:ext cx="1463100" cy="40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700">
                <a:solidFill>
                  <a:srgbClr val="111827"/>
                </a:solidFill>
              </a:rPr>
              <a:t>Softmax p</a:t>
            </a:r>
            <a:endParaRPr b="1" sz="1700">
              <a:solidFill>
                <a:srgbClr val="111827"/>
              </a:solidFill>
            </a:endParaRPr>
          </a:p>
        </p:txBody>
      </p:sp>
      <p:sp>
        <p:nvSpPr>
          <p:cNvPr id="86" name="Google Shape;86;p13"/>
          <p:cNvSpPr txBox="1"/>
          <p:nvPr/>
        </p:nvSpPr>
        <p:spPr>
          <a:xfrm>
            <a:off x="525780" y="1922780"/>
            <a:ext cx="1399500" cy="128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300">
                <a:solidFill>
                  <a:srgbClr val="111827"/>
                </a:solidFill>
              </a:rPr>
              <a:t>Maze + ghosts</a:t>
            </a:r>
            <a:endParaRPr sz="1300">
              <a:solidFill>
                <a:srgbClr val="111827"/>
              </a:solidFill>
            </a:endParaRPr>
          </a:p>
          <a:p>
            <a:pPr indent="0" lvl="0" marL="0" rtl="0" algn="l">
              <a:lnSpc>
                <a:spcPct val="115000"/>
              </a:lnSpc>
              <a:spcBef>
                <a:spcPts val="0"/>
              </a:spcBef>
              <a:spcAft>
                <a:spcPts val="0"/>
              </a:spcAft>
              <a:buNone/>
            </a:pPr>
            <a:r>
              <a:rPr lang="zh-CN" sz="1300">
                <a:solidFill>
                  <a:srgbClr val="111827"/>
                </a:solidFill>
              </a:rPr>
              <a:t>Timers + history</a:t>
            </a:r>
            <a:endParaRPr sz="1300">
              <a:solidFill>
                <a:srgbClr val="111827"/>
              </a:solidFill>
            </a:endParaRPr>
          </a:p>
          <a:p>
            <a:pPr indent="0" lvl="0" marL="0" rtl="0" algn="l">
              <a:lnSpc>
                <a:spcPct val="115000"/>
              </a:lnSpc>
              <a:spcBef>
                <a:spcPts val="0"/>
              </a:spcBef>
              <a:spcAft>
                <a:spcPts val="0"/>
              </a:spcAft>
              <a:buNone/>
            </a:pPr>
            <a:r>
              <a:rPr lang="zh-CN" sz="1300">
                <a:solidFill>
                  <a:srgbClr val="111827"/>
                </a:solidFill>
              </a:rPr>
              <a:t>Choose a move</a:t>
            </a:r>
            <a:endParaRPr sz="1300">
              <a:solidFill>
                <a:srgbClr val="111827"/>
              </a:solidFill>
            </a:endParaRPr>
          </a:p>
          <a:p>
            <a:pPr indent="0" lvl="0" marL="0" rtl="0" algn="l">
              <a:lnSpc>
                <a:spcPct val="115000"/>
              </a:lnSpc>
              <a:spcBef>
                <a:spcPts val="0"/>
              </a:spcBef>
              <a:spcAft>
                <a:spcPts val="0"/>
              </a:spcAft>
              <a:buNone/>
            </a:pPr>
            <a:r>
              <a:rPr lang="zh-CN" sz="1300">
                <a:solidFill>
                  <a:srgbClr val="111827"/>
                </a:solidFill>
              </a:rPr>
              <a:t>Left / Up / Right</a:t>
            </a:r>
            <a:endParaRPr sz="1300">
              <a:solidFill>
                <a:srgbClr val="111827"/>
              </a:solidFill>
            </a:endParaRPr>
          </a:p>
        </p:txBody>
      </p:sp>
      <p:sp>
        <p:nvSpPr>
          <p:cNvPr id="87" name="Google Shape;87;p13"/>
          <p:cNvSpPr txBox="1"/>
          <p:nvPr/>
        </p:nvSpPr>
        <p:spPr>
          <a:xfrm>
            <a:off x="525780" y="3180080"/>
            <a:ext cx="1399500" cy="35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300">
                <a:solidFill>
                  <a:srgbClr val="5E6E80"/>
                </a:solidFill>
              </a:rPr>
              <a:t>Input token IDs</a:t>
            </a:r>
            <a:endParaRPr sz="1300">
              <a:solidFill>
                <a:srgbClr val="5E6E80"/>
              </a:solidFill>
            </a:endParaRPr>
          </a:p>
        </p:txBody>
      </p:sp>
      <p:sp>
        <p:nvSpPr>
          <p:cNvPr id="88" name="Google Shape;88;p13"/>
          <p:cNvSpPr txBox="1"/>
          <p:nvPr/>
        </p:nvSpPr>
        <p:spPr>
          <a:xfrm>
            <a:off x="3078480" y="1986280"/>
            <a:ext cx="1310700" cy="523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zh-CN" sz="1300">
                <a:solidFill>
                  <a:srgbClr val="B36B17"/>
                </a:solidFill>
              </a:rPr>
              <a:t>LoRA ΔW</a:t>
            </a:r>
            <a:endParaRPr b="1" sz="1300">
              <a:solidFill>
                <a:srgbClr val="B36B17"/>
              </a:solidFill>
            </a:endParaRPr>
          </a:p>
          <a:p>
            <a:pPr indent="0" lvl="0" marL="0" rtl="0" algn="ctr">
              <a:lnSpc>
                <a:spcPct val="115000"/>
              </a:lnSpc>
              <a:spcBef>
                <a:spcPts val="0"/>
              </a:spcBef>
              <a:spcAft>
                <a:spcPts val="0"/>
              </a:spcAft>
              <a:buNone/>
            </a:pPr>
            <a:r>
              <a:rPr b="1" lang="zh-CN" sz="1300">
                <a:solidFill>
                  <a:srgbClr val="B36B17"/>
                </a:solidFill>
              </a:rPr>
              <a:t>trainable</a:t>
            </a:r>
            <a:endParaRPr b="1" sz="1300">
              <a:solidFill>
                <a:srgbClr val="B36B17"/>
              </a:solidFill>
            </a:endParaRPr>
          </a:p>
        </p:txBody>
      </p:sp>
      <p:sp>
        <p:nvSpPr>
          <p:cNvPr id="89" name="Google Shape;89;p13"/>
          <p:cNvSpPr txBox="1"/>
          <p:nvPr/>
        </p:nvSpPr>
        <p:spPr>
          <a:xfrm>
            <a:off x="3078480" y="2837180"/>
            <a:ext cx="1310700" cy="523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zh-CN" sz="1300">
                <a:solidFill>
                  <a:srgbClr val="167985"/>
                </a:solidFill>
              </a:rPr>
              <a:t>Base W₀</a:t>
            </a:r>
            <a:endParaRPr b="1" sz="1300">
              <a:solidFill>
                <a:srgbClr val="167985"/>
              </a:solidFill>
            </a:endParaRPr>
          </a:p>
          <a:p>
            <a:pPr indent="0" lvl="0" marL="0" rtl="0" algn="ctr">
              <a:lnSpc>
                <a:spcPct val="115000"/>
              </a:lnSpc>
              <a:spcBef>
                <a:spcPts val="0"/>
              </a:spcBef>
              <a:spcAft>
                <a:spcPts val="0"/>
              </a:spcAft>
              <a:buNone/>
            </a:pPr>
            <a:r>
              <a:rPr b="1" lang="zh-CN" sz="1300">
                <a:solidFill>
                  <a:srgbClr val="167985"/>
                </a:solidFill>
              </a:rPr>
              <a:t>fixed</a:t>
            </a:r>
            <a:endParaRPr b="1" sz="1300">
              <a:solidFill>
                <a:srgbClr val="167985"/>
              </a:solidFill>
            </a:endParaRPr>
          </a:p>
        </p:txBody>
      </p:sp>
      <p:sp>
        <p:nvSpPr>
          <p:cNvPr id="90" name="Google Shape;90;p13"/>
          <p:cNvSpPr txBox="1"/>
          <p:nvPr/>
        </p:nvSpPr>
        <p:spPr>
          <a:xfrm>
            <a:off x="5212080" y="2367280"/>
            <a:ext cx="345300" cy="39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600">
                <a:solidFill>
                  <a:srgbClr val="167985"/>
                </a:solidFill>
              </a:rPr>
              <a:t>H</a:t>
            </a:r>
            <a:endParaRPr b="1" sz="1600">
              <a:solidFill>
                <a:srgbClr val="167985"/>
              </a:solidFill>
            </a:endParaRPr>
          </a:p>
        </p:txBody>
      </p:sp>
      <p:sp>
        <p:nvSpPr>
          <p:cNvPr id="91" name="Google Shape;91;p13"/>
          <p:cNvSpPr txBox="1"/>
          <p:nvPr/>
        </p:nvSpPr>
        <p:spPr>
          <a:xfrm>
            <a:off x="5618480" y="2176780"/>
            <a:ext cx="1348800" cy="701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zh-CN" sz="1300">
                <a:solidFill>
                  <a:srgbClr val="111827"/>
                </a:solidFill>
              </a:rPr>
              <a:t>Decision +</a:t>
            </a:r>
            <a:endParaRPr sz="1300">
              <a:solidFill>
                <a:srgbClr val="111827"/>
              </a:solidFill>
            </a:endParaRPr>
          </a:p>
          <a:p>
            <a:pPr indent="0" lvl="0" marL="0" rtl="0" algn="ctr">
              <a:lnSpc>
                <a:spcPct val="115000"/>
              </a:lnSpc>
              <a:spcBef>
                <a:spcPts val="0"/>
              </a:spcBef>
              <a:spcAft>
                <a:spcPts val="0"/>
              </a:spcAft>
              <a:buNone/>
            </a:pPr>
            <a:r>
              <a:rPr lang="zh-CN" sz="1300">
                <a:solidFill>
                  <a:srgbClr val="111827"/>
                </a:solidFill>
              </a:rPr>
              <a:t>option vectors</a:t>
            </a:r>
            <a:endParaRPr sz="1300">
              <a:solidFill>
                <a:srgbClr val="111827"/>
              </a:solidFill>
            </a:endParaRPr>
          </a:p>
        </p:txBody>
      </p:sp>
      <p:sp>
        <p:nvSpPr>
          <p:cNvPr id="92" name="Google Shape;92;p13"/>
          <p:cNvSpPr txBox="1"/>
          <p:nvPr/>
        </p:nvSpPr>
        <p:spPr>
          <a:xfrm>
            <a:off x="5580380" y="2989580"/>
            <a:ext cx="1425000" cy="396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zh-CN" sz="1300">
                <a:solidFill>
                  <a:srgbClr val="B36B17"/>
                </a:solidFill>
              </a:rPr>
              <a:t>Learned scores</a:t>
            </a:r>
            <a:endParaRPr b="1" sz="1300">
              <a:solidFill>
                <a:srgbClr val="B36B17"/>
              </a:solidFill>
            </a:endParaRPr>
          </a:p>
        </p:txBody>
      </p:sp>
      <p:sp>
        <p:nvSpPr>
          <p:cNvPr id="93" name="Google Shape;93;p13"/>
          <p:cNvSpPr txBox="1"/>
          <p:nvPr/>
        </p:nvSpPr>
        <p:spPr>
          <a:xfrm>
            <a:off x="7066280" y="2367280"/>
            <a:ext cx="320100" cy="39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600">
                <a:solidFill>
                  <a:srgbClr val="B36B17"/>
                </a:solidFill>
              </a:rPr>
              <a:t>z</a:t>
            </a:r>
            <a:endParaRPr b="1" sz="1600">
              <a:solidFill>
                <a:srgbClr val="B36B17"/>
              </a:solidFill>
            </a:endParaRPr>
          </a:p>
        </p:txBody>
      </p:sp>
      <p:sp>
        <p:nvSpPr>
          <p:cNvPr id="94" name="Google Shape;94;p13"/>
          <p:cNvSpPr txBox="1"/>
          <p:nvPr/>
        </p:nvSpPr>
        <p:spPr>
          <a:xfrm>
            <a:off x="7371080" y="1910080"/>
            <a:ext cx="1463100" cy="37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300">
                <a:solidFill>
                  <a:srgbClr val="167985"/>
                </a:solidFill>
              </a:rPr>
              <a:t>Left  0.67</a:t>
            </a:r>
            <a:endParaRPr b="1" sz="1300">
              <a:solidFill>
                <a:srgbClr val="167985"/>
              </a:solidFill>
            </a:endParaRPr>
          </a:p>
        </p:txBody>
      </p:sp>
      <p:sp>
        <p:nvSpPr>
          <p:cNvPr id="95" name="Google Shape;95;p13"/>
          <p:cNvSpPr txBox="1"/>
          <p:nvPr/>
        </p:nvSpPr>
        <p:spPr>
          <a:xfrm>
            <a:off x="7371080" y="2468880"/>
            <a:ext cx="1463100" cy="37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300">
                <a:solidFill>
                  <a:srgbClr val="111827"/>
                </a:solidFill>
              </a:rPr>
              <a:t>Up  0.24</a:t>
            </a:r>
            <a:endParaRPr sz="1300">
              <a:solidFill>
                <a:srgbClr val="111827"/>
              </a:solidFill>
            </a:endParaRPr>
          </a:p>
        </p:txBody>
      </p:sp>
      <p:sp>
        <p:nvSpPr>
          <p:cNvPr id="96" name="Google Shape;96;p13"/>
          <p:cNvSpPr txBox="1"/>
          <p:nvPr/>
        </p:nvSpPr>
        <p:spPr>
          <a:xfrm>
            <a:off x="7371080" y="3027680"/>
            <a:ext cx="1463100" cy="37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300">
                <a:solidFill>
                  <a:srgbClr val="111827"/>
                </a:solidFill>
              </a:rPr>
              <a:t>Right  0.09</a:t>
            </a:r>
            <a:endParaRPr sz="1300">
              <a:solidFill>
                <a:srgbClr val="111827"/>
              </a:solidFill>
            </a:endParaRPr>
          </a:p>
        </p:txBody>
      </p:sp>
      <p:sp>
        <p:nvSpPr>
          <p:cNvPr id="97" name="Google Shape;97;p13"/>
          <p:cNvSpPr txBox="1"/>
          <p:nvPr/>
        </p:nvSpPr>
        <p:spPr>
          <a:xfrm>
            <a:off x="7371080" y="3535680"/>
            <a:ext cx="1463100" cy="38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500">
                <a:solidFill>
                  <a:srgbClr val="167985"/>
                </a:solidFill>
              </a:rPr>
              <a:t>Execute Left</a:t>
            </a:r>
            <a:endParaRPr b="1" sz="1500">
              <a:solidFill>
                <a:srgbClr val="167985"/>
              </a:solidFill>
            </a:endParaRPr>
          </a:p>
        </p:txBody>
      </p:sp>
      <p:sp>
        <p:nvSpPr>
          <p:cNvPr id="98" name="Google Shape;98;p13"/>
          <p:cNvSpPr txBox="1"/>
          <p:nvPr/>
        </p:nvSpPr>
        <p:spPr>
          <a:xfrm>
            <a:off x="2316480" y="3573780"/>
            <a:ext cx="2987100" cy="32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200">
                <a:solidFill>
                  <a:srgbClr val="5E6E80"/>
                </a:solidFill>
              </a:rPr>
              <a:t>Adapted projections across layers</a:t>
            </a:r>
            <a:endParaRPr sz="1200">
              <a:solidFill>
                <a:srgbClr val="5E6E80"/>
              </a:solidFill>
            </a:endParaRPr>
          </a:p>
        </p:txBody>
      </p:sp>
      <p:sp>
        <p:nvSpPr>
          <p:cNvPr id="99" name="Google Shape;99;p13"/>
          <p:cNvSpPr txBox="1"/>
          <p:nvPr/>
        </p:nvSpPr>
        <p:spPr>
          <a:xfrm>
            <a:off x="411480" y="3840480"/>
            <a:ext cx="4599900" cy="49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2200">
                <a:solidFill>
                  <a:srgbClr val="111827"/>
                </a:solidFill>
                <a:latin typeface="Georgia"/>
                <a:ea typeface="Georgia"/>
                <a:cs typeface="Georgia"/>
                <a:sym typeface="Georgia"/>
              </a:rPr>
              <a:t>H = f</a:t>
            </a:r>
            <a:r>
              <a:rPr baseline="-25000" lang="zh-CN" sz="2200">
                <a:solidFill>
                  <a:srgbClr val="111827"/>
                </a:solidFill>
                <a:latin typeface="Georgia"/>
                <a:ea typeface="Georgia"/>
                <a:cs typeface="Georgia"/>
                <a:sym typeface="Georgia"/>
              </a:rPr>
              <a:t>θ</a:t>
            </a:r>
            <a:r>
              <a:rPr lang="zh-CN" sz="2200">
                <a:solidFill>
                  <a:srgbClr val="111827"/>
                </a:solidFill>
                <a:latin typeface="Georgia"/>
                <a:ea typeface="Georgia"/>
                <a:cs typeface="Georgia"/>
                <a:sym typeface="Georgia"/>
              </a:rPr>
              <a:t>(x)</a:t>
            </a:r>
            <a:endParaRPr sz="2200">
              <a:solidFill>
                <a:srgbClr val="111827"/>
              </a:solidFill>
              <a:latin typeface="Georgia"/>
              <a:ea typeface="Georgia"/>
              <a:cs typeface="Georgia"/>
              <a:sym typeface="Georgia"/>
            </a:endParaRPr>
          </a:p>
        </p:txBody>
      </p:sp>
      <p:sp>
        <p:nvSpPr>
          <p:cNvPr id="100" name="Google Shape;100;p13"/>
          <p:cNvSpPr txBox="1"/>
          <p:nvPr/>
        </p:nvSpPr>
        <p:spPr>
          <a:xfrm>
            <a:off x="5491480" y="3840480"/>
            <a:ext cx="3240900" cy="49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2200">
                <a:solidFill>
                  <a:srgbClr val="111827"/>
                </a:solidFill>
                <a:latin typeface="Georgia"/>
                <a:ea typeface="Georgia"/>
                <a:cs typeface="Georgia"/>
                <a:sym typeface="Georgia"/>
              </a:rPr>
              <a:t>p = softmax(z)</a:t>
            </a:r>
            <a:endParaRPr sz="2200">
              <a:solidFill>
                <a:srgbClr val="111827"/>
              </a:solidFill>
              <a:latin typeface="Georgia"/>
              <a:ea typeface="Georgia"/>
              <a:cs typeface="Georgia"/>
              <a:sym typeface="Georgia"/>
            </a:endParaRPr>
          </a:p>
        </p:txBody>
      </p:sp>
      <p:sp>
        <p:nvSpPr>
          <p:cNvPr id="101" name="Google Shape;101;p13"/>
          <p:cNvSpPr txBox="1"/>
          <p:nvPr/>
        </p:nvSpPr>
        <p:spPr>
          <a:xfrm>
            <a:off x="411480" y="4310380"/>
            <a:ext cx="8321100" cy="54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300">
                <a:solidFill>
                  <a:srgbClr val="5E6E80"/>
                </a:solidFill>
              </a:rPr>
              <a:t>x: input tokens   H: hidden vectors   θ: effective backbone parameters</a:t>
            </a:r>
            <a:endParaRPr sz="1300">
              <a:solidFill>
                <a:srgbClr val="5E6E80"/>
              </a:solidFill>
            </a:endParaRPr>
          </a:p>
          <a:p>
            <a:pPr indent="0" lvl="0" marL="0" rtl="0" algn="l">
              <a:lnSpc>
                <a:spcPct val="115000"/>
              </a:lnSpc>
              <a:spcBef>
                <a:spcPts val="0"/>
              </a:spcBef>
              <a:spcAft>
                <a:spcPts val="0"/>
              </a:spcAft>
              <a:buNone/>
            </a:pPr>
            <a:r>
              <a:rPr lang="zh-CN" sz="1300">
                <a:solidFill>
                  <a:srgbClr val="5E6E80"/>
                </a:solidFill>
              </a:rPr>
              <a:t>W₀: fixed base weights   ΔW: LoRA updates   z: scores   p: probabilities</a:t>
            </a:r>
            <a:endParaRPr sz="1300">
              <a:solidFill>
                <a:srgbClr val="5E6E80"/>
              </a:solidFill>
            </a:endParaRPr>
          </a:p>
        </p:txBody>
      </p:sp>
      <p:sp>
        <p:nvSpPr>
          <p:cNvPr id="102" name="Google Shape;102;p13"/>
          <p:cNvSpPr txBox="1"/>
          <p:nvPr/>
        </p:nvSpPr>
        <p:spPr>
          <a:xfrm>
            <a:off x="4767580" y="2532380"/>
            <a:ext cx="345300" cy="396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zh-CN" sz="1700">
                <a:solidFill>
                  <a:srgbClr val="111827"/>
                </a:solidFill>
              </a:rPr>
              <a:t>+</a:t>
            </a:r>
            <a:endParaRPr sz="1700">
              <a:solidFill>
                <a:srgbClr val="11182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pic>
        <p:nvPicPr>
          <p:cNvPr id="107" name="Google Shape;107;p14"/>
          <p:cNvPicPr preferRelativeResize="0"/>
          <p:nvPr/>
        </p:nvPicPr>
        <p:blipFill>
          <a:blip r:embed="rId3">
            <a:alphaModFix/>
          </a:blip>
          <a:stretch>
            <a:fillRect/>
          </a:stretch>
        </p:blipFill>
        <p:spPr>
          <a:xfrm>
            <a:off x="406400" y="1625600"/>
            <a:ext cx="8331200" cy="2413000"/>
          </a:xfrm>
          <a:prstGeom prst="rect">
            <a:avLst/>
          </a:prstGeom>
          <a:noFill/>
          <a:ln>
            <a:noFill/>
          </a:ln>
        </p:spPr>
      </p:pic>
      <p:sp>
        <p:nvSpPr>
          <p:cNvPr id="108" name="Google Shape;108;p14"/>
          <p:cNvSpPr txBox="1"/>
          <p:nvPr>
            <p:ph type="title"/>
          </p:nvPr>
        </p:nvSpPr>
        <p:spPr>
          <a:xfrm>
            <a:off x="411480" y="271780"/>
            <a:ext cx="8321100" cy="62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3000">
                <a:solidFill>
                  <a:srgbClr val="111827"/>
                </a:solidFill>
              </a:rPr>
              <a:t>From board state to hidden vectors</a:t>
            </a:r>
            <a:endParaRPr b="1" sz="3000">
              <a:solidFill>
                <a:srgbClr val="111827"/>
              </a:solidFill>
            </a:endParaRPr>
          </a:p>
        </p:txBody>
      </p:sp>
      <p:sp>
        <p:nvSpPr>
          <p:cNvPr id="109" name="Google Shape;109;p14"/>
          <p:cNvSpPr txBox="1"/>
          <p:nvPr/>
        </p:nvSpPr>
        <p:spPr>
          <a:xfrm>
            <a:off x="411480" y="4818380"/>
            <a:ext cx="7902000" cy="30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900">
                <a:solidFill>
                  <a:srgbClr val="5E6E80"/>
                </a:solidFill>
              </a:rPr>
              <a:t>Schematic token groups. Readable marker names.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110" name="Google Shape;110;p14"/>
          <p:cNvSpPr txBox="1"/>
          <p:nvPr/>
        </p:nvSpPr>
        <p:spPr>
          <a:xfrm>
            <a:off x="8399780" y="4818380"/>
            <a:ext cx="332700" cy="30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900">
                <a:solidFill>
                  <a:srgbClr val="5E6E80"/>
                </a:solidFill>
              </a:rPr>
              <a:t>2</a:t>
            </a:r>
            <a:endParaRPr sz="900">
              <a:solidFill>
                <a:srgbClr val="5E6E80"/>
              </a:solidFill>
            </a:endParaRPr>
          </a:p>
        </p:txBody>
      </p:sp>
      <p:sp>
        <p:nvSpPr>
          <p:cNvPr id="111" name="Google Shape;111;p14"/>
          <p:cNvSpPr/>
          <p:nvPr/>
        </p:nvSpPr>
        <p:spPr>
          <a:xfrm>
            <a:off x="457200" y="1727200"/>
            <a:ext cx="1917600" cy="685800"/>
          </a:xfrm>
          <a:prstGeom prst="rect">
            <a:avLst/>
          </a:prstGeom>
          <a:solidFill>
            <a:srgbClr val="F5F7F9"/>
          </a:solidFill>
          <a:ln cap="flat" cmpd="sng" w="12700">
            <a:solidFill>
              <a:srgbClr val="DCE4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4"/>
          <p:cNvSpPr/>
          <p:nvPr/>
        </p:nvSpPr>
        <p:spPr>
          <a:xfrm>
            <a:off x="2476500" y="1727200"/>
            <a:ext cx="1371600" cy="685800"/>
          </a:xfrm>
          <a:prstGeom prst="rect">
            <a:avLst/>
          </a:prstGeom>
          <a:solidFill>
            <a:srgbClr val="EFF8F8"/>
          </a:solidFill>
          <a:ln cap="flat" cmpd="sng" w="12700">
            <a:solidFill>
              <a:srgbClr val="DCE4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4"/>
          <p:cNvSpPr/>
          <p:nvPr/>
        </p:nvSpPr>
        <p:spPr>
          <a:xfrm>
            <a:off x="3949700" y="1727200"/>
            <a:ext cx="1206600" cy="6858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4"/>
          <p:cNvSpPr/>
          <p:nvPr/>
        </p:nvSpPr>
        <p:spPr>
          <a:xfrm>
            <a:off x="5257800" y="1727200"/>
            <a:ext cx="1206600" cy="6858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4"/>
          <p:cNvSpPr/>
          <p:nvPr/>
        </p:nvSpPr>
        <p:spPr>
          <a:xfrm>
            <a:off x="6565900" y="1727200"/>
            <a:ext cx="1206600" cy="6858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4"/>
          <p:cNvSpPr/>
          <p:nvPr/>
        </p:nvSpPr>
        <p:spPr>
          <a:xfrm>
            <a:off x="7874000" y="1727200"/>
            <a:ext cx="812700" cy="6858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4"/>
          <p:cNvSpPr/>
          <p:nvPr/>
        </p:nvSpPr>
        <p:spPr>
          <a:xfrm>
            <a:off x="457200" y="2730500"/>
            <a:ext cx="8229600" cy="5079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4"/>
          <p:cNvSpPr/>
          <p:nvPr/>
        </p:nvSpPr>
        <p:spPr>
          <a:xfrm>
            <a:off x="457200" y="3543300"/>
            <a:ext cx="1917600" cy="393600"/>
          </a:xfrm>
          <a:prstGeom prst="rect">
            <a:avLst/>
          </a:prstGeom>
          <a:solidFill>
            <a:srgbClr val="F5F7F9"/>
          </a:solidFill>
          <a:ln cap="flat" cmpd="sng" w="12700">
            <a:solidFill>
              <a:srgbClr val="DCE4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4"/>
          <p:cNvSpPr/>
          <p:nvPr/>
        </p:nvSpPr>
        <p:spPr>
          <a:xfrm>
            <a:off x="2476500" y="3543300"/>
            <a:ext cx="1371600" cy="393600"/>
          </a:xfrm>
          <a:prstGeom prst="rect">
            <a:avLst/>
          </a:prstGeom>
          <a:solidFill>
            <a:srgbClr val="F5F7F9"/>
          </a:solidFill>
          <a:ln cap="flat" cmpd="sng" w="12700">
            <a:solidFill>
              <a:srgbClr val="DCE4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4"/>
          <p:cNvSpPr/>
          <p:nvPr/>
        </p:nvSpPr>
        <p:spPr>
          <a:xfrm>
            <a:off x="3949700" y="3543300"/>
            <a:ext cx="1206600" cy="3936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4"/>
          <p:cNvSpPr/>
          <p:nvPr/>
        </p:nvSpPr>
        <p:spPr>
          <a:xfrm>
            <a:off x="5257800" y="3543300"/>
            <a:ext cx="1206600" cy="3936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4"/>
          <p:cNvSpPr/>
          <p:nvPr/>
        </p:nvSpPr>
        <p:spPr>
          <a:xfrm>
            <a:off x="6565900" y="3543300"/>
            <a:ext cx="1206600" cy="3936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4"/>
          <p:cNvSpPr/>
          <p:nvPr/>
        </p:nvSpPr>
        <p:spPr>
          <a:xfrm>
            <a:off x="7874000" y="3543300"/>
            <a:ext cx="812700" cy="3936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4" name="Google Shape;124;p14"/>
          <p:cNvCxnSpPr/>
          <p:nvPr/>
        </p:nvCxnSpPr>
        <p:spPr>
          <a:xfrm>
            <a:off x="1416050" y="2413000"/>
            <a:ext cx="0" cy="292200"/>
          </a:xfrm>
          <a:prstGeom prst="straightConnector1">
            <a:avLst/>
          </a:prstGeom>
          <a:noFill/>
          <a:ln cap="flat" cmpd="sng" w="15250">
            <a:solidFill>
              <a:srgbClr val="167985"/>
            </a:solidFill>
            <a:prstDash val="solid"/>
            <a:round/>
            <a:headEnd len="med" w="med" type="none"/>
            <a:tailEnd len="med" w="med" type="triangle"/>
          </a:ln>
        </p:spPr>
      </p:cxnSp>
      <p:cxnSp>
        <p:nvCxnSpPr>
          <p:cNvPr id="125" name="Google Shape;125;p14"/>
          <p:cNvCxnSpPr/>
          <p:nvPr/>
        </p:nvCxnSpPr>
        <p:spPr>
          <a:xfrm>
            <a:off x="1416050" y="3238500"/>
            <a:ext cx="0" cy="279300"/>
          </a:xfrm>
          <a:prstGeom prst="straightConnector1">
            <a:avLst/>
          </a:prstGeom>
          <a:noFill/>
          <a:ln cap="flat" cmpd="sng" w="15250">
            <a:solidFill>
              <a:srgbClr val="167985"/>
            </a:solidFill>
            <a:prstDash val="solid"/>
            <a:round/>
            <a:headEnd len="med" w="med" type="none"/>
            <a:tailEnd len="med" w="med" type="triangle"/>
          </a:ln>
        </p:spPr>
      </p:cxnSp>
      <p:cxnSp>
        <p:nvCxnSpPr>
          <p:cNvPr id="126" name="Google Shape;126;p14"/>
          <p:cNvCxnSpPr/>
          <p:nvPr/>
        </p:nvCxnSpPr>
        <p:spPr>
          <a:xfrm>
            <a:off x="3162300" y="2413000"/>
            <a:ext cx="0" cy="292200"/>
          </a:xfrm>
          <a:prstGeom prst="straightConnector1">
            <a:avLst/>
          </a:prstGeom>
          <a:noFill/>
          <a:ln cap="flat" cmpd="sng" w="15250">
            <a:solidFill>
              <a:srgbClr val="167985"/>
            </a:solidFill>
            <a:prstDash val="solid"/>
            <a:round/>
            <a:headEnd len="med" w="med" type="none"/>
            <a:tailEnd len="med" w="med" type="triangle"/>
          </a:ln>
        </p:spPr>
      </p:cxnSp>
      <p:cxnSp>
        <p:nvCxnSpPr>
          <p:cNvPr id="127" name="Google Shape;127;p14"/>
          <p:cNvCxnSpPr/>
          <p:nvPr/>
        </p:nvCxnSpPr>
        <p:spPr>
          <a:xfrm>
            <a:off x="3162300" y="3238500"/>
            <a:ext cx="0" cy="279300"/>
          </a:xfrm>
          <a:prstGeom prst="straightConnector1">
            <a:avLst/>
          </a:prstGeom>
          <a:noFill/>
          <a:ln cap="flat" cmpd="sng" w="15250">
            <a:solidFill>
              <a:srgbClr val="167985"/>
            </a:solidFill>
            <a:prstDash val="solid"/>
            <a:round/>
            <a:headEnd len="med" w="med" type="none"/>
            <a:tailEnd len="med" w="med" type="triangle"/>
          </a:ln>
        </p:spPr>
      </p:cxnSp>
      <p:cxnSp>
        <p:nvCxnSpPr>
          <p:cNvPr id="128" name="Google Shape;128;p14"/>
          <p:cNvCxnSpPr/>
          <p:nvPr/>
        </p:nvCxnSpPr>
        <p:spPr>
          <a:xfrm>
            <a:off x="4552950" y="2413000"/>
            <a:ext cx="0" cy="292200"/>
          </a:xfrm>
          <a:prstGeom prst="straightConnector1">
            <a:avLst/>
          </a:prstGeom>
          <a:noFill/>
          <a:ln cap="flat" cmpd="sng" w="15250">
            <a:solidFill>
              <a:srgbClr val="167985"/>
            </a:solidFill>
            <a:prstDash val="solid"/>
            <a:round/>
            <a:headEnd len="med" w="med" type="none"/>
            <a:tailEnd len="med" w="med" type="triangle"/>
          </a:ln>
        </p:spPr>
      </p:cxnSp>
      <p:cxnSp>
        <p:nvCxnSpPr>
          <p:cNvPr id="129" name="Google Shape;129;p14"/>
          <p:cNvCxnSpPr/>
          <p:nvPr/>
        </p:nvCxnSpPr>
        <p:spPr>
          <a:xfrm>
            <a:off x="4552950" y="3238500"/>
            <a:ext cx="0" cy="279300"/>
          </a:xfrm>
          <a:prstGeom prst="straightConnector1">
            <a:avLst/>
          </a:prstGeom>
          <a:noFill/>
          <a:ln cap="flat" cmpd="sng" w="15250">
            <a:solidFill>
              <a:srgbClr val="167985"/>
            </a:solidFill>
            <a:prstDash val="solid"/>
            <a:round/>
            <a:headEnd len="med" w="med" type="none"/>
            <a:tailEnd len="med" w="med" type="triangle"/>
          </a:ln>
        </p:spPr>
      </p:cxnSp>
      <p:cxnSp>
        <p:nvCxnSpPr>
          <p:cNvPr id="130" name="Google Shape;130;p14"/>
          <p:cNvCxnSpPr/>
          <p:nvPr/>
        </p:nvCxnSpPr>
        <p:spPr>
          <a:xfrm>
            <a:off x="5861050" y="2413000"/>
            <a:ext cx="0" cy="292200"/>
          </a:xfrm>
          <a:prstGeom prst="straightConnector1">
            <a:avLst/>
          </a:prstGeom>
          <a:noFill/>
          <a:ln cap="flat" cmpd="sng" w="15250">
            <a:solidFill>
              <a:srgbClr val="167985"/>
            </a:solidFill>
            <a:prstDash val="solid"/>
            <a:round/>
            <a:headEnd len="med" w="med" type="none"/>
            <a:tailEnd len="med" w="med" type="triangle"/>
          </a:ln>
        </p:spPr>
      </p:cxnSp>
      <p:cxnSp>
        <p:nvCxnSpPr>
          <p:cNvPr id="131" name="Google Shape;131;p14"/>
          <p:cNvCxnSpPr/>
          <p:nvPr/>
        </p:nvCxnSpPr>
        <p:spPr>
          <a:xfrm>
            <a:off x="5861050" y="3238500"/>
            <a:ext cx="0" cy="279300"/>
          </a:xfrm>
          <a:prstGeom prst="straightConnector1">
            <a:avLst/>
          </a:prstGeom>
          <a:noFill/>
          <a:ln cap="flat" cmpd="sng" w="15250">
            <a:solidFill>
              <a:srgbClr val="167985"/>
            </a:solidFill>
            <a:prstDash val="solid"/>
            <a:round/>
            <a:headEnd len="med" w="med" type="none"/>
            <a:tailEnd len="med" w="med" type="triangle"/>
          </a:ln>
        </p:spPr>
      </p:cxnSp>
      <p:cxnSp>
        <p:nvCxnSpPr>
          <p:cNvPr id="132" name="Google Shape;132;p14"/>
          <p:cNvCxnSpPr/>
          <p:nvPr/>
        </p:nvCxnSpPr>
        <p:spPr>
          <a:xfrm>
            <a:off x="7169150" y="2413000"/>
            <a:ext cx="0" cy="292200"/>
          </a:xfrm>
          <a:prstGeom prst="straightConnector1">
            <a:avLst/>
          </a:prstGeom>
          <a:noFill/>
          <a:ln cap="flat" cmpd="sng" w="15250">
            <a:solidFill>
              <a:srgbClr val="167985"/>
            </a:solidFill>
            <a:prstDash val="solid"/>
            <a:round/>
            <a:headEnd len="med" w="med" type="none"/>
            <a:tailEnd len="med" w="med" type="triangle"/>
          </a:ln>
        </p:spPr>
      </p:cxnSp>
      <p:cxnSp>
        <p:nvCxnSpPr>
          <p:cNvPr id="133" name="Google Shape;133;p14"/>
          <p:cNvCxnSpPr/>
          <p:nvPr/>
        </p:nvCxnSpPr>
        <p:spPr>
          <a:xfrm>
            <a:off x="7169150" y="3238500"/>
            <a:ext cx="0" cy="279300"/>
          </a:xfrm>
          <a:prstGeom prst="straightConnector1">
            <a:avLst/>
          </a:prstGeom>
          <a:noFill/>
          <a:ln cap="flat" cmpd="sng" w="15250">
            <a:solidFill>
              <a:srgbClr val="167985"/>
            </a:solidFill>
            <a:prstDash val="solid"/>
            <a:round/>
            <a:headEnd len="med" w="med" type="none"/>
            <a:tailEnd len="med" w="med" type="triangle"/>
          </a:ln>
        </p:spPr>
      </p:cxnSp>
      <p:cxnSp>
        <p:nvCxnSpPr>
          <p:cNvPr id="134" name="Google Shape;134;p14"/>
          <p:cNvCxnSpPr/>
          <p:nvPr/>
        </p:nvCxnSpPr>
        <p:spPr>
          <a:xfrm>
            <a:off x="8280400" y="2413000"/>
            <a:ext cx="0" cy="292200"/>
          </a:xfrm>
          <a:prstGeom prst="straightConnector1">
            <a:avLst/>
          </a:prstGeom>
          <a:noFill/>
          <a:ln cap="flat" cmpd="sng" w="15250">
            <a:solidFill>
              <a:srgbClr val="167985"/>
            </a:solidFill>
            <a:prstDash val="solid"/>
            <a:round/>
            <a:headEnd len="med" w="med" type="none"/>
            <a:tailEnd len="med" w="med" type="triangle"/>
          </a:ln>
        </p:spPr>
      </p:cxnSp>
      <p:cxnSp>
        <p:nvCxnSpPr>
          <p:cNvPr id="135" name="Google Shape;135;p14"/>
          <p:cNvCxnSpPr/>
          <p:nvPr/>
        </p:nvCxnSpPr>
        <p:spPr>
          <a:xfrm>
            <a:off x="8280400" y="3238500"/>
            <a:ext cx="0" cy="279300"/>
          </a:xfrm>
          <a:prstGeom prst="straightConnector1">
            <a:avLst/>
          </a:prstGeom>
          <a:noFill/>
          <a:ln cap="flat" cmpd="sng" w="15250">
            <a:solidFill>
              <a:srgbClr val="167985"/>
            </a:solidFill>
            <a:prstDash val="solid"/>
            <a:round/>
            <a:headEnd len="med" w="med" type="none"/>
            <a:tailEnd len="med" w="med" type="triangle"/>
          </a:ln>
        </p:spPr>
      </p:cxnSp>
      <p:sp>
        <p:nvSpPr>
          <p:cNvPr id="136" name="Google Shape;136;p14"/>
          <p:cNvSpPr txBox="1"/>
          <p:nvPr/>
        </p:nvSpPr>
        <p:spPr>
          <a:xfrm>
            <a:off x="365760" y="873760"/>
            <a:ext cx="8412600" cy="50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700">
                <a:solidFill>
                  <a:srgbClr val="111827"/>
                </a:solidFill>
              </a:rPr>
              <a:t>State + instruction + legal moves → one structured input</a:t>
            </a:r>
            <a:endParaRPr sz="1700">
              <a:solidFill>
                <a:srgbClr val="111827"/>
              </a:solidFill>
            </a:endParaRPr>
          </a:p>
        </p:txBody>
      </p:sp>
      <p:sp>
        <p:nvSpPr>
          <p:cNvPr id="137" name="Google Shape;137;p14"/>
          <p:cNvSpPr txBox="1"/>
          <p:nvPr/>
        </p:nvSpPr>
        <p:spPr>
          <a:xfrm>
            <a:off x="365760" y="1330960"/>
            <a:ext cx="2100600" cy="46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500">
                <a:solidFill>
                  <a:srgbClr val="111827"/>
                </a:solidFill>
              </a:rPr>
              <a:t>State s</a:t>
            </a:r>
            <a:endParaRPr b="1" sz="1500">
              <a:solidFill>
                <a:srgbClr val="111827"/>
              </a:solidFill>
            </a:endParaRPr>
          </a:p>
        </p:txBody>
      </p:sp>
      <p:sp>
        <p:nvSpPr>
          <p:cNvPr id="138" name="Google Shape;138;p14"/>
          <p:cNvSpPr txBox="1"/>
          <p:nvPr/>
        </p:nvSpPr>
        <p:spPr>
          <a:xfrm>
            <a:off x="2385060" y="1330960"/>
            <a:ext cx="1554600" cy="46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500">
                <a:solidFill>
                  <a:srgbClr val="111827"/>
                </a:solidFill>
              </a:rPr>
              <a:t>Instruction u</a:t>
            </a:r>
            <a:endParaRPr b="1" sz="1500">
              <a:solidFill>
                <a:srgbClr val="111827"/>
              </a:solidFill>
            </a:endParaRPr>
          </a:p>
        </p:txBody>
      </p:sp>
      <p:sp>
        <p:nvSpPr>
          <p:cNvPr id="139" name="Google Shape;139;p14"/>
          <p:cNvSpPr txBox="1"/>
          <p:nvPr/>
        </p:nvSpPr>
        <p:spPr>
          <a:xfrm>
            <a:off x="3858260" y="1330960"/>
            <a:ext cx="4005600" cy="46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500">
                <a:solidFill>
                  <a:srgbClr val="B36B17"/>
                </a:solidFill>
              </a:rPr>
              <a:t>Ordered options A</a:t>
            </a:r>
            <a:endParaRPr b="1" sz="1500">
              <a:solidFill>
                <a:srgbClr val="B36B17"/>
              </a:solidFill>
            </a:endParaRPr>
          </a:p>
        </p:txBody>
      </p:sp>
      <p:sp>
        <p:nvSpPr>
          <p:cNvPr id="140" name="Google Shape;140;p14"/>
          <p:cNvSpPr txBox="1"/>
          <p:nvPr/>
        </p:nvSpPr>
        <p:spPr>
          <a:xfrm>
            <a:off x="7782560" y="1356360"/>
            <a:ext cx="995700" cy="43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sz="1300">
                <a:solidFill>
                  <a:srgbClr val="111827"/>
                </a:solidFill>
              </a:rPr>
              <a:t>Decide</a:t>
            </a:r>
            <a:endParaRPr b="1" sz="1300">
              <a:solidFill>
                <a:srgbClr val="111827"/>
              </a:solidFill>
            </a:endParaRPr>
          </a:p>
        </p:txBody>
      </p:sp>
      <p:sp>
        <p:nvSpPr>
          <p:cNvPr id="141" name="Google Shape;141;p14"/>
          <p:cNvSpPr txBox="1"/>
          <p:nvPr/>
        </p:nvSpPr>
        <p:spPr>
          <a:xfrm>
            <a:off x="441960" y="1737360"/>
            <a:ext cx="1948200" cy="69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300">
                <a:solidFill>
                  <a:srgbClr val="111827"/>
                </a:solidFill>
                <a:latin typeface="Roboto Mono"/>
                <a:ea typeface="Roboto Mono"/>
                <a:cs typeface="Roboto Mono"/>
                <a:sym typeface="Roboto Mono"/>
              </a:rPr>
              <a:t>&lt;state&gt;</a:t>
            </a:r>
            <a:endParaRPr sz="1300">
              <a:solidFill>
                <a:srgbClr val="111827"/>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zh-CN" sz="1300">
                <a:solidFill>
                  <a:srgbClr val="111827"/>
                </a:solidFill>
                <a:latin typeface="Roboto Mono"/>
                <a:ea typeface="Roboto Mono"/>
                <a:cs typeface="Roboto Mono"/>
                <a:sym typeface="Roboto Mono"/>
              </a:rPr>
              <a:t>Maze, ghosts, ...</a:t>
            </a:r>
            <a:endParaRPr sz="1300">
              <a:solidFill>
                <a:srgbClr val="111827"/>
              </a:solidFill>
              <a:latin typeface="Roboto Mono"/>
              <a:ea typeface="Roboto Mono"/>
              <a:cs typeface="Roboto Mono"/>
              <a:sym typeface="Roboto Mono"/>
            </a:endParaRPr>
          </a:p>
        </p:txBody>
      </p:sp>
      <p:sp>
        <p:nvSpPr>
          <p:cNvPr id="142" name="Google Shape;142;p14"/>
          <p:cNvSpPr txBox="1"/>
          <p:nvPr/>
        </p:nvSpPr>
        <p:spPr>
          <a:xfrm>
            <a:off x="2461260" y="1737360"/>
            <a:ext cx="1402200" cy="69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200">
                <a:solidFill>
                  <a:srgbClr val="111827"/>
                </a:solidFill>
                <a:latin typeface="Roboto Mono"/>
                <a:ea typeface="Roboto Mono"/>
                <a:cs typeface="Roboto Mono"/>
                <a:sym typeface="Roboto Mono"/>
              </a:rPr>
              <a:t>&lt;q&gt;</a:t>
            </a:r>
            <a:endParaRPr sz="1200">
              <a:solidFill>
                <a:srgbClr val="111827"/>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zh-CN" sz="1200">
                <a:solidFill>
                  <a:srgbClr val="111827"/>
                </a:solidFill>
                <a:latin typeface="Roboto Mono"/>
                <a:ea typeface="Roboto Mono"/>
                <a:cs typeface="Roboto Mono"/>
                <a:sym typeface="Roboto Mono"/>
              </a:rPr>
              <a:t>Choose a move</a:t>
            </a:r>
            <a:endParaRPr sz="1200">
              <a:solidFill>
                <a:srgbClr val="111827"/>
              </a:solidFill>
              <a:latin typeface="Roboto Mono"/>
              <a:ea typeface="Roboto Mono"/>
              <a:cs typeface="Roboto Mono"/>
              <a:sym typeface="Roboto Mono"/>
            </a:endParaRPr>
          </a:p>
        </p:txBody>
      </p:sp>
      <p:sp>
        <p:nvSpPr>
          <p:cNvPr id="143" name="Google Shape;143;p14"/>
          <p:cNvSpPr txBox="1"/>
          <p:nvPr/>
        </p:nvSpPr>
        <p:spPr>
          <a:xfrm>
            <a:off x="3934460" y="1724660"/>
            <a:ext cx="1236900" cy="72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200">
                <a:solidFill>
                  <a:srgbClr val="111827"/>
                </a:solidFill>
                <a:latin typeface="Roboto Mono"/>
                <a:ea typeface="Roboto Mono"/>
                <a:cs typeface="Roboto Mono"/>
                <a:sym typeface="Roboto Mono"/>
              </a:rPr>
              <a:t>&lt;opt&gt; Left</a:t>
            </a:r>
            <a:endParaRPr sz="1200">
              <a:solidFill>
                <a:srgbClr val="111827"/>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zh-CN" sz="1200">
                <a:solidFill>
                  <a:srgbClr val="111827"/>
                </a:solidFill>
                <a:latin typeface="Roboto Mono"/>
                <a:ea typeface="Roboto Mono"/>
                <a:cs typeface="Roboto Mono"/>
                <a:sym typeface="Roboto Mono"/>
              </a:rPr>
              <a:t>&lt;/opt&gt;</a:t>
            </a:r>
            <a:endParaRPr sz="1200">
              <a:solidFill>
                <a:srgbClr val="111827"/>
              </a:solidFill>
              <a:latin typeface="Roboto Mono"/>
              <a:ea typeface="Roboto Mono"/>
              <a:cs typeface="Roboto Mono"/>
              <a:sym typeface="Roboto Mono"/>
            </a:endParaRPr>
          </a:p>
        </p:txBody>
      </p:sp>
      <p:sp>
        <p:nvSpPr>
          <p:cNvPr id="144" name="Google Shape;144;p14"/>
          <p:cNvSpPr txBox="1"/>
          <p:nvPr/>
        </p:nvSpPr>
        <p:spPr>
          <a:xfrm>
            <a:off x="5242560" y="1724660"/>
            <a:ext cx="1236900" cy="72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200">
                <a:solidFill>
                  <a:srgbClr val="111827"/>
                </a:solidFill>
                <a:latin typeface="Roboto Mono"/>
                <a:ea typeface="Roboto Mono"/>
                <a:cs typeface="Roboto Mono"/>
                <a:sym typeface="Roboto Mono"/>
              </a:rPr>
              <a:t>&lt;opt&gt; Up</a:t>
            </a:r>
            <a:endParaRPr sz="1200">
              <a:solidFill>
                <a:srgbClr val="111827"/>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zh-CN" sz="1200">
                <a:solidFill>
                  <a:srgbClr val="111827"/>
                </a:solidFill>
                <a:latin typeface="Roboto Mono"/>
                <a:ea typeface="Roboto Mono"/>
                <a:cs typeface="Roboto Mono"/>
                <a:sym typeface="Roboto Mono"/>
              </a:rPr>
              <a:t>&lt;/opt&gt;</a:t>
            </a:r>
            <a:endParaRPr sz="1200">
              <a:solidFill>
                <a:srgbClr val="111827"/>
              </a:solidFill>
              <a:latin typeface="Roboto Mono"/>
              <a:ea typeface="Roboto Mono"/>
              <a:cs typeface="Roboto Mono"/>
              <a:sym typeface="Roboto Mono"/>
            </a:endParaRPr>
          </a:p>
        </p:txBody>
      </p:sp>
      <p:sp>
        <p:nvSpPr>
          <p:cNvPr id="145" name="Google Shape;145;p14"/>
          <p:cNvSpPr txBox="1"/>
          <p:nvPr/>
        </p:nvSpPr>
        <p:spPr>
          <a:xfrm>
            <a:off x="6550660" y="1724660"/>
            <a:ext cx="1236900" cy="72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200">
                <a:solidFill>
                  <a:srgbClr val="111827"/>
                </a:solidFill>
                <a:latin typeface="Roboto Mono"/>
                <a:ea typeface="Roboto Mono"/>
                <a:cs typeface="Roboto Mono"/>
                <a:sym typeface="Roboto Mono"/>
              </a:rPr>
              <a:t>&lt;opt&gt; Right</a:t>
            </a:r>
            <a:endParaRPr sz="1200">
              <a:solidFill>
                <a:srgbClr val="111827"/>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zh-CN" sz="1200">
                <a:solidFill>
                  <a:srgbClr val="111827"/>
                </a:solidFill>
                <a:latin typeface="Roboto Mono"/>
                <a:ea typeface="Roboto Mono"/>
                <a:cs typeface="Roboto Mono"/>
                <a:sym typeface="Roboto Mono"/>
              </a:rPr>
              <a:t>&lt;/opt&gt;</a:t>
            </a:r>
            <a:endParaRPr sz="1200">
              <a:solidFill>
                <a:srgbClr val="111827"/>
              </a:solidFill>
              <a:latin typeface="Roboto Mono"/>
              <a:ea typeface="Roboto Mono"/>
              <a:cs typeface="Roboto Mono"/>
              <a:sym typeface="Roboto Mono"/>
            </a:endParaRPr>
          </a:p>
        </p:txBody>
      </p:sp>
      <p:sp>
        <p:nvSpPr>
          <p:cNvPr id="146" name="Google Shape;146;p14"/>
          <p:cNvSpPr txBox="1"/>
          <p:nvPr/>
        </p:nvSpPr>
        <p:spPr>
          <a:xfrm>
            <a:off x="7820660" y="1826260"/>
            <a:ext cx="919500" cy="564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zh-CN" sz="1200">
                <a:solidFill>
                  <a:srgbClr val="111827"/>
                </a:solidFill>
                <a:latin typeface="Roboto Mono"/>
                <a:ea typeface="Roboto Mono"/>
                <a:cs typeface="Roboto Mono"/>
                <a:sym typeface="Roboto Mono"/>
              </a:rPr>
              <a:t>&lt;decide&gt;</a:t>
            </a:r>
            <a:endParaRPr sz="1200">
              <a:solidFill>
                <a:srgbClr val="111827"/>
              </a:solidFill>
              <a:latin typeface="Roboto Mono"/>
              <a:ea typeface="Roboto Mono"/>
              <a:cs typeface="Roboto Mono"/>
              <a:sym typeface="Roboto Mono"/>
            </a:endParaRPr>
          </a:p>
        </p:txBody>
      </p:sp>
      <p:sp>
        <p:nvSpPr>
          <p:cNvPr id="147" name="Google Shape;147;p14"/>
          <p:cNvSpPr txBox="1"/>
          <p:nvPr/>
        </p:nvSpPr>
        <p:spPr>
          <a:xfrm>
            <a:off x="365760" y="2715260"/>
            <a:ext cx="8412600" cy="551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zh-CN" sz="1700">
                <a:solidFill>
                  <a:srgbClr val="167985"/>
                </a:solidFill>
              </a:rPr>
              <a:t>Qwen3.5-4B backbone + LoRA</a:t>
            </a:r>
            <a:endParaRPr b="1" sz="1700">
              <a:solidFill>
                <a:srgbClr val="167985"/>
              </a:solidFill>
            </a:endParaRPr>
          </a:p>
        </p:txBody>
      </p:sp>
      <p:sp>
        <p:nvSpPr>
          <p:cNvPr id="148" name="Google Shape;148;p14"/>
          <p:cNvSpPr txBox="1"/>
          <p:nvPr/>
        </p:nvSpPr>
        <p:spPr>
          <a:xfrm>
            <a:off x="365760" y="3515360"/>
            <a:ext cx="2100600" cy="474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zh-CN" sz="1700">
                <a:solidFill>
                  <a:srgbClr val="5E6E80"/>
                </a:solidFill>
              </a:rPr>
              <a:t>…</a:t>
            </a:r>
            <a:endParaRPr sz="1700">
              <a:solidFill>
                <a:srgbClr val="5E6E80"/>
              </a:solidFill>
            </a:endParaRPr>
          </a:p>
        </p:txBody>
      </p:sp>
      <p:sp>
        <p:nvSpPr>
          <p:cNvPr id="149" name="Google Shape;149;p14"/>
          <p:cNvSpPr txBox="1"/>
          <p:nvPr/>
        </p:nvSpPr>
        <p:spPr>
          <a:xfrm>
            <a:off x="2385060" y="3515360"/>
            <a:ext cx="1554600" cy="474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zh-CN" sz="1700">
                <a:solidFill>
                  <a:srgbClr val="5E6E80"/>
                </a:solidFill>
              </a:rPr>
              <a:t>…</a:t>
            </a:r>
            <a:endParaRPr sz="1700">
              <a:solidFill>
                <a:srgbClr val="5E6E80"/>
              </a:solidFill>
            </a:endParaRPr>
          </a:p>
        </p:txBody>
      </p:sp>
      <p:sp>
        <p:nvSpPr>
          <p:cNvPr id="150" name="Google Shape;150;p14"/>
          <p:cNvSpPr txBox="1"/>
          <p:nvPr/>
        </p:nvSpPr>
        <p:spPr>
          <a:xfrm>
            <a:off x="3858260" y="3439160"/>
            <a:ext cx="1389300" cy="513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zh-CN" sz="1800">
                <a:solidFill>
                  <a:srgbClr val="111827"/>
                </a:solidFill>
                <a:latin typeface="Georgia"/>
                <a:ea typeface="Georgia"/>
                <a:cs typeface="Georgia"/>
                <a:sym typeface="Georgia"/>
              </a:rPr>
              <a:t>h</a:t>
            </a:r>
            <a:r>
              <a:rPr baseline="-25000" lang="zh-CN" sz="1800">
                <a:solidFill>
                  <a:srgbClr val="111827"/>
                </a:solidFill>
                <a:latin typeface="Georgia"/>
                <a:ea typeface="Georgia"/>
                <a:cs typeface="Georgia"/>
                <a:sym typeface="Georgia"/>
              </a:rPr>
              <a:t>end,1</a:t>
            </a:r>
            <a:endParaRPr baseline="-25000" sz="1800">
              <a:solidFill>
                <a:srgbClr val="111827"/>
              </a:solidFill>
              <a:latin typeface="Georgia"/>
              <a:ea typeface="Georgia"/>
              <a:cs typeface="Georgia"/>
              <a:sym typeface="Georgia"/>
            </a:endParaRPr>
          </a:p>
        </p:txBody>
      </p:sp>
      <p:sp>
        <p:nvSpPr>
          <p:cNvPr id="151" name="Google Shape;151;p14"/>
          <p:cNvSpPr txBox="1"/>
          <p:nvPr/>
        </p:nvSpPr>
        <p:spPr>
          <a:xfrm>
            <a:off x="5166360" y="3439160"/>
            <a:ext cx="1389300" cy="513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zh-CN" sz="1800">
                <a:solidFill>
                  <a:srgbClr val="111827"/>
                </a:solidFill>
                <a:latin typeface="Georgia"/>
                <a:ea typeface="Georgia"/>
                <a:cs typeface="Georgia"/>
                <a:sym typeface="Georgia"/>
              </a:rPr>
              <a:t>h</a:t>
            </a:r>
            <a:r>
              <a:rPr baseline="-25000" lang="zh-CN" sz="1800">
                <a:solidFill>
                  <a:srgbClr val="111827"/>
                </a:solidFill>
                <a:latin typeface="Georgia"/>
                <a:ea typeface="Georgia"/>
                <a:cs typeface="Georgia"/>
                <a:sym typeface="Georgia"/>
              </a:rPr>
              <a:t>end,2</a:t>
            </a:r>
            <a:endParaRPr baseline="-25000" sz="1800">
              <a:solidFill>
                <a:srgbClr val="111827"/>
              </a:solidFill>
              <a:latin typeface="Georgia"/>
              <a:ea typeface="Georgia"/>
              <a:cs typeface="Georgia"/>
              <a:sym typeface="Georgia"/>
            </a:endParaRPr>
          </a:p>
        </p:txBody>
      </p:sp>
      <p:sp>
        <p:nvSpPr>
          <p:cNvPr id="152" name="Google Shape;152;p14"/>
          <p:cNvSpPr txBox="1"/>
          <p:nvPr/>
        </p:nvSpPr>
        <p:spPr>
          <a:xfrm>
            <a:off x="6474460" y="3439160"/>
            <a:ext cx="1389300" cy="513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zh-CN" sz="1800">
                <a:solidFill>
                  <a:srgbClr val="111827"/>
                </a:solidFill>
                <a:latin typeface="Georgia"/>
                <a:ea typeface="Georgia"/>
                <a:cs typeface="Georgia"/>
                <a:sym typeface="Georgia"/>
              </a:rPr>
              <a:t>h</a:t>
            </a:r>
            <a:r>
              <a:rPr baseline="-25000" lang="zh-CN" sz="1800">
                <a:solidFill>
                  <a:srgbClr val="111827"/>
                </a:solidFill>
                <a:latin typeface="Georgia"/>
                <a:ea typeface="Georgia"/>
                <a:cs typeface="Georgia"/>
                <a:sym typeface="Georgia"/>
              </a:rPr>
              <a:t>end,3</a:t>
            </a:r>
            <a:endParaRPr baseline="-25000" sz="1800">
              <a:solidFill>
                <a:srgbClr val="111827"/>
              </a:solidFill>
              <a:latin typeface="Georgia"/>
              <a:ea typeface="Georgia"/>
              <a:cs typeface="Georgia"/>
              <a:sym typeface="Georgia"/>
            </a:endParaRPr>
          </a:p>
        </p:txBody>
      </p:sp>
      <p:sp>
        <p:nvSpPr>
          <p:cNvPr id="153" name="Google Shape;153;p14"/>
          <p:cNvSpPr txBox="1"/>
          <p:nvPr/>
        </p:nvSpPr>
        <p:spPr>
          <a:xfrm>
            <a:off x="7782560" y="3439160"/>
            <a:ext cx="995700" cy="513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zh-CN" sz="1800">
                <a:solidFill>
                  <a:srgbClr val="111827"/>
                </a:solidFill>
                <a:latin typeface="Georgia"/>
                <a:ea typeface="Georgia"/>
                <a:cs typeface="Georgia"/>
                <a:sym typeface="Georgia"/>
              </a:rPr>
              <a:t>h</a:t>
            </a:r>
            <a:r>
              <a:rPr baseline="-25000" lang="zh-CN" sz="1800">
                <a:solidFill>
                  <a:srgbClr val="111827"/>
                </a:solidFill>
                <a:latin typeface="Georgia"/>
                <a:ea typeface="Georgia"/>
                <a:cs typeface="Georgia"/>
                <a:sym typeface="Georgia"/>
              </a:rPr>
              <a:t>decide</a:t>
            </a:r>
            <a:endParaRPr baseline="-25000" sz="1800">
              <a:solidFill>
                <a:srgbClr val="111827"/>
              </a:solidFill>
              <a:latin typeface="Georgia"/>
              <a:ea typeface="Georgia"/>
              <a:cs typeface="Georgia"/>
              <a:sym typeface="Georgia"/>
            </a:endParaRPr>
          </a:p>
        </p:txBody>
      </p:sp>
      <p:sp>
        <p:nvSpPr>
          <p:cNvPr id="154" name="Google Shape;154;p14"/>
          <p:cNvSpPr txBox="1"/>
          <p:nvPr/>
        </p:nvSpPr>
        <p:spPr>
          <a:xfrm>
            <a:off x="365760" y="3909060"/>
            <a:ext cx="8412600" cy="47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300">
                <a:solidFill>
                  <a:srgbClr val="5E6E80"/>
                </a:solidFill>
              </a:rPr>
              <a:t>The pointer head reads each option ending and the final decision vector</a:t>
            </a:r>
            <a:endParaRPr sz="1300">
              <a:solidFill>
                <a:srgbClr val="5E6E80"/>
              </a:solidFill>
            </a:endParaRPr>
          </a:p>
        </p:txBody>
      </p:sp>
      <p:sp>
        <p:nvSpPr>
          <p:cNvPr id="155" name="Google Shape;155;p14"/>
          <p:cNvSpPr txBox="1"/>
          <p:nvPr/>
        </p:nvSpPr>
        <p:spPr>
          <a:xfrm>
            <a:off x="365760" y="4239260"/>
            <a:ext cx="4119900" cy="56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2000">
                <a:solidFill>
                  <a:srgbClr val="111827"/>
                </a:solidFill>
                <a:latin typeface="Georgia"/>
                <a:ea typeface="Georgia"/>
                <a:cs typeface="Georgia"/>
                <a:sym typeface="Georgia"/>
              </a:rPr>
              <a:t>x = encode(s, u, A)</a:t>
            </a:r>
            <a:endParaRPr sz="2000">
              <a:solidFill>
                <a:srgbClr val="111827"/>
              </a:solidFill>
              <a:latin typeface="Georgia"/>
              <a:ea typeface="Georgia"/>
              <a:cs typeface="Georgia"/>
              <a:sym typeface="Georgia"/>
            </a:endParaRPr>
          </a:p>
        </p:txBody>
      </p:sp>
      <p:sp>
        <p:nvSpPr>
          <p:cNvPr id="156" name="Google Shape;156;p14"/>
          <p:cNvSpPr txBox="1"/>
          <p:nvPr/>
        </p:nvSpPr>
        <p:spPr>
          <a:xfrm>
            <a:off x="4861560" y="4239260"/>
            <a:ext cx="2278500" cy="56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2000">
                <a:solidFill>
                  <a:srgbClr val="111827"/>
                </a:solidFill>
                <a:latin typeface="Georgia"/>
                <a:ea typeface="Georgia"/>
                <a:cs typeface="Georgia"/>
                <a:sym typeface="Georgia"/>
              </a:rPr>
              <a:t>H ∈ ℝ</a:t>
            </a:r>
            <a:r>
              <a:rPr baseline="30000" lang="zh-CN" sz="2000">
                <a:solidFill>
                  <a:srgbClr val="111827"/>
                </a:solidFill>
                <a:latin typeface="Georgia"/>
                <a:ea typeface="Georgia"/>
                <a:cs typeface="Georgia"/>
                <a:sym typeface="Georgia"/>
              </a:rPr>
              <a:t>L×d</a:t>
            </a:r>
            <a:endParaRPr baseline="30000" sz="2000">
              <a:solidFill>
                <a:srgbClr val="111827"/>
              </a:solidFill>
              <a:latin typeface="Georgia"/>
              <a:ea typeface="Georgia"/>
              <a:cs typeface="Georgia"/>
              <a:sym typeface="Georgia"/>
            </a:endParaRPr>
          </a:p>
        </p:txBody>
      </p:sp>
      <p:sp>
        <p:nvSpPr>
          <p:cNvPr id="157" name="Google Shape;157;p14"/>
          <p:cNvSpPr txBox="1"/>
          <p:nvPr/>
        </p:nvSpPr>
        <p:spPr>
          <a:xfrm>
            <a:off x="6957060" y="4290060"/>
            <a:ext cx="1821300" cy="50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sz="1200">
                <a:solidFill>
                  <a:srgbClr val="5E6E80"/>
                </a:solidFill>
              </a:rPr>
              <a:t>L tokens × d features</a:t>
            </a:r>
            <a:endParaRPr sz="1200">
              <a:solidFill>
                <a:srgbClr val="5E6E8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pic>
        <p:nvPicPr>
          <p:cNvPr descr="Highlights a layer input, the fixed base matrix, learned matrices A then B, scaling and addition. The footer opens Play, pause and step controls. Static diagram and mathematics remain native editable objects." id="162" name="Google Shape;162;p15" title="Animated LoRA projection"/>
          <p:cNvPicPr preferRelativeResize="0"/>
          <p:nvPr/>
        </p:nvPicPr>
        <p:blipFill>
          <a:blip r:embed="rId3">
            <a:alphaModFix/>
          </a:blip>
          <a:stretch>
            <a:fillRect/>
          </a:stretch>
        </p:blipFill>
        <p:spPr>
          <a:xfrm>
            <a:off x="558800" y="1333500"/>
            <a:ext cx="8255000" cy="2247900"/>
          </a:xfrm>
          <a:prstGeom prst="rect">
            <a:avLst/>
          </a:prstGeom>
          <a:noFill/>
          <a:ln>
            <a:noFill/>
          </a:ln>
        </p:spPr>
      </p:pic>
      <p:sp>
        <p:nvSpPr>
          <p:cNvPr id="163" name="Google Shape;163;p15"/>
          <p:cNvSpPr txBox="1"/>
          <p:nvPr>
            <p:ph type="title"/>
          </p:nvPr>
        </p:nvSpPr>
        <p:spPr>
          <a:xfrm>
            <a:off x="365760" y="226060"/>
            <a:ext cx="8412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3000">
                <a:solidFill>
                  <a:srgbClr val="111827"/>
                </a:solidFill>
              </a:rPr>
              <a:t>LoRA inside Kev</a:t>
            </a:r>
            <a:endParaRPr b="1" sz="3000">
              <a:solidFill>
                <a:srgbClr val="111827"/>
              </a:solidFill>
            </a:endParaRPr>
          </a:p>
        </p:txBody>
      </p:sp>
      <p:sp>
        <p:nvSpPr>
          <p:cNvPr id="164" name="Google Shape;164;p15"/>
          <p:cNvSpPr txBox="1"/>
          <p:nvPr/>
        </p:nvSpPr>
        <p:spPr>
          <a:xfrm>
            <a:off x="365760" y="4772660"/>
            <a:ext cx="7993500" cy="348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One adapted projection. Kev uses all targets.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165" name="Google Shape;165;p15"/>
          <p:cNvSpPr txBox="1"/>
          <p:nvPr/>
        </p:nvSpPr>
        <p:spPr>
          <a:xfrm>
            <a:off x="8354060" y="4772660"/>
            <a:ext cx="424200" cy="348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3</a:t>
            </a:r>
            <a:endParaRPr sz="900">
              <a:solidFill>
                <a:srgbClr val="5E6E80"/>
              </a:solidFill>
            </a:endParaRPr>
          </a:p>
        </p:txBody>
      </p:sp>
      <p:sp>
        <p:nvSpPr>
          <p:cNvPr id="166" name="Google Shape;166;p15"/>
          <p:cNvSpPr/>
          <p:nvPr/>
        </p:nvSpPr>
        <p:spPr>
          <a:xfrm>
            <a:off x="2438400" y="1447800"/>
            <a:ext cx="4064100" cy="7239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15"/>
          <p:cNvSpPr/>
          <p:nvPr/>
        </p:nvSpPr>
        <p:spPr>
          <a:xfrm>
            <a:off x="2235200" y="2768600"/>
            <a:ext cx="1346100" cy="6858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15"/>
          <p:cNvSpPr/>
          <p:nvPr/>
        </p:nvSpPr>
        <p:spPr>
          <a:xfrm>
            <a:off x="4165600" y="2768600"/>
            <a:ext cx="1346100" cy="6858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15"/>
          <p:cNvSpPr/>
          <p:nvPr/>
        </p:nvSpPr>
        <p:spPr>
          <a:xfrm>
            <a:off x="5918200" y="2768600"/>
            <a:ext cx="1066800" cy="6858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15"/>
          <p:cNvSpPr/>
          <p:nvPr/>
        </p:nvSpPr>
        <p:spPr>
          <a:xfrm>
            <a:off x="7645400" y="2197100"/>
            <a:ext cx="482700" cy="482700"/>
          </a:xfrm>
          <a:prstGeom prst="ellipse">
            <a:avLst/>
          </a:prstGeom>
          <a:solidFill>
            <a:srgbClr val="FFFFFF"/>
          </a:solidFill>
          <a:ln cap="flat" cmpd="sng" w="12700">
            <a:solidFill>
              <a:srgbClr val="5E6E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1" name="Google Shape;171;p15"/>
          <p:cNvCxnSpPr/>
          <p:nvPr/>
        </p:nvCxnSpPr>
        <p:spPr>
          <a:xfrm>
            <a:off x="1104900" y="2438400"/>
            <a:ext cx="635100" cy="0"/>
          </a:xfrm>
          <a:prstGeom prst="straightConnector1">
            <a:avLst/>
          </a:prstGeom>
          <a:noFill/>
          <a:ln cap="flat" cmpd="sng" w="15250">
            <a:solidFill>
              <a:srgbClr val="167985"/>
            </a:solidFill>
            <a:prstDash val="solid"/>
            <a:round/>
            <a:headEnd len="med" w="med" type="none"/>
            <a:tailEnd len="med" w="med" type="none"/>
          </a:ln>
        </p:spPr>
      </p:cxnSp>
      <p:cxnSp>
        <p:nvCxnSpPr>
          <p:cNvPr id="172" name="Google Shape;172;p15"/>
          <p:cNvCxnSpPr/>
          <p:nvPr/>
        </p:nvCxnSpPr>
        <p:spPr>
          <a:xfrm>
            <a:off x="1739900" y="1809750"/>
            <a:ext cx="0" cy="1301700"/>
          </a:xfrm>
          <a:prstGeom prst="straightConnector1">
            <a:avLst/>
          </a:prstGeom>
          <a:noFill/>
          <a:ln cap="flat" cmpd="sng" w="15250">
            <a:solidFill>
              <a:srgbClr val="167985"/>
            </a:solidFill>
            <a:prstDash val="solid"/>
            <a:round/>
            <a:headEnd len="med" w="med" type="none"/>
            <a:tailEnd len="med" w="med" type="none"/>
          </a:ln>
        </p:spPr>
      </p:cxnSp>
      <p:cxnSp>
        <p:nvCxnSpPr>
          <p:cNvPr id="173" name="Google Shape;173;p15"/>
          <p:cNvCxnSpPr/>
          <p:nvPr/>
        </p:nvCxnSpPr>
        <p:spPr>
          <a:xfrm>
            <a:off x="1739900" y="1809750"/>
            <a:ext cx="673200" cy="0"/>
          </a:xfrm>
          <a:prstGeom prst="straightConnector1">
            <a:avLst/>
          </a:prstGeom>
          <a:noFill/>
          <a:ln cap="flat" cmpd="sng" w="15250">
            <a:solidFill>
              <a:srgbClr val="167985"/>
            </a:solidFill>
            <a:prstDash val="solid"/>
            <a:round/>
            <a:headEnd len="med" w="med" type="none"/>
            <a:tailEnd len="med" w="med" type="triangle"/>
          </a:ln>
        </p:spPr>
      </p:cxnSp>
      <p:cxnSp>
        <p:nvCxnSpPr>
          <p:cNvPr id="174" name="Google Shape;174;p15"/>
          <p:cNvCxnSpPr/>
          <p:nvPr/>
        </p:nvCxnSpPr>
        <p:spPr>
          <a:xfrm>
            <a:off x="6502400" y="1809750"/>
            <a:ext cx="1384200" cy="0"/>
          </a:xfrm>
          <a:prstGeom prst="straightConnector1">
            <a:avLst/>
          </a:prstGeom>
          <a:noFill/>
          <a:ln cap="flat" cmpd="sng" w="15250">
            <a:solidFill>
              <a:srgbClr val="167985"/>
            </a:solidFill>
            <a:prstDash val="solid"/>
            <a:round/>
            <a:headEnd len="med" w="med" type="none"/>
            <a:tailEnd len="med" w="med" type="none"/>
          </a:ln>
        </p:spPr>
      </p:cxnSp>
      <p:cxnSp>
        <p:nvCxnSpPr>
          <p:cNvPr id="175" name="Google Shape;175;p15"/>
          <p:cNvCxnSpPr/>
          <p:nvPr/>
        </p:nvCxnSpPr>
        <p:spPr>
          <a:xfrm>
            <a:off x="7886700" y="1809750"/>
            <a:ext cx="0" cy="362100"/>
          </a:xfrm>
          <a:prstGeom prst="straightConnector1">
            <a:avLst/>
          </a:prstGeom>
          <a:noFill/>
          <a:ln cap="flat" cmpd="sng" w="15250">
            <a:solidFill>
              <a:srgbClr val="167985"/>
            </a:solidFill>
            <a:prstDash val="solid"/>
            <a:round/>
            <a:headEnd len="med" w="med" type="none"/>
            <a:tailEnd len="med" w="med" type="triangle"/>
          </a:ln>
        </p:spPr>
      </p:cxnSp>
      <p:cxnSp>
        <p:nvCxnSpPr>
          <p:cNvPr id="176" name="Google Shape;176;p15"/>
          <p:cNvCxnSpPr/>
          <p:nvPr/>
        </p:nvCxnSpPr>
        <p:spPr>
          <a:xfrm>
            <a:off x="1739900" y="3111500"/>
            <a:ext cx="469800" cy="0"/>
          </a:xfrm>
          <a:prstGeom prst="straightConnector1">
            <a:avLst/>
          </a:prstGeom>
          <a:noFill/>
          <a:ln cap="flat" cmpd="sng" w="15250">
            <a:solidFill>
              <a:srgbClr val="B36B17"/>
            </a:solidFill>
            <a:prstDash val="solid"/>
            <a:round/>
            <a:headEnd len="med" w="med" type="none"/>
            <a:tailEnd len="med" w="med" type="triangle"/>
          </a:ln>
        </p:spPr>
      </p:cxnSp>
      <p:cxnSp>
        <p:nvCxnSpPr>
          <p:cNvPr id="177" name="Google Shape;177;p15"/>
          <p:cNvCxnSpPr/>
          <p:nvPr/>
        </p:nvCxnSpPr>
        <p:spPr>
          <a:xfrm>
            <a:off x="3581400" y="3111500"/>
            <a:ext cx="558900" cy="0"/>
          </a:xfrm>
          <a:prstGeom prst="straightConnector1">
            <a:avLst/>
          </a:prstGeom>
          <a:noFill/>
          <a:ln cap="flat" cmpd="sng" w="15250">
            <a:solidFill>
              <a:srgbClr val="B36B17"/>
            </a:solidFill>
            <a:prstDash val="solid"/>
            <a:round/>
            <a:headEnd len="med" w="med" type="none"/>
            <a:tailEnd len="med" w="med" type="triangle"/>
          </a:ln>
        </p:spPr>
      </p:cxnSp>
      <p:cxnSp>
        <p:nvCxnSpPr>
          <p:cNvPr id="178" name="Google Shape;178;p15"/>
          <p:cNvCxnSpPr/>
          <p:nvPr/>
        </p:nvCxnSpPr>
        <p:spPr>
          <a:xfrm>
            <a:off x="5511800" y="3111500"/>
            <a:ext cx="381000" cy="0"/>
          </a:xfrm>
          <a:prstGeom prst="straightConnector1">
            <a:avLst/>
          </a:prstGeom>
          <a:noFill/>
          <a:ln cap="flat" cmpd="sng" w="15250">
            <a:solidFill>
              <a:srgbClr val="B36B17"/>
            </a:solidFill>
            <a:prstDash val="solid"/>
            <a:round/>
            <a:headEnd len="med" w="med" type="none"/>
            <a:tailEnd len="med" w="med" type="triangle"/>
          </a:ln>
        </p:spPr>
      </p:cxnSp>
      <p:cxnSp>
        <p:nvCxnSpPr>
          <p:cNvPr id="179" name="Google Shape;179;p15"/>
          <p:cNvCxnSpPr/>
          <p:nvPr/>
        </p:nvCxnSpPr>
        <p:spPr>
          <a:xfrm>
            <a:off x="6985000" y="3111500"/>
            <a:ext cx="901800" cy="0"/>
          </a:xfrm>
          <a:prstGeom prst="straightConnector1">
            <a:avLst/>
          </a:prstGeom>
          <a:noFill/>
          <a:ln cap="flat" cmpd="sng" w="15250">
            <a:solidFill>
              <a:srgbClr val="B36B17"/>
            </a:solidFill>
            <a:prstDash val="solid"/>
            <a:round/>
            <a:headEnd len="med" w="med" type="none"/>
            <a:tailEnd len="med" w="med" type="none"/>
          </a:ln>
        </p:spPr>
      </p:cxnSp>
      <p:cxnSp>
        <p:nvCxnSpPr>
          <p:cNvPr id="180" name="Google Shape;180;p15"/>
          <p:cNvCxnSpPr/>
          <p:nvPr/>
        </p:nvCxnSpPr>
        <p:spPr>
          <a:xfrm rot="10800000">
            <a:off x="7886700" y="2705000"/>
            <a:ext cx="0" cy="406500"/>
          </a:xfrm>
          <a:prstGeom prst="straightConnector1">
            <a:avLst/>
          </a:prstGeom>
          <a:noFill/>
          <a:ln cap="flat" cmpd="sng" w="15250">
            <a:solidFill>
              <a:srgbClr val="B36B17"/>
            </a:solidFill>
            <a:prstDash val="solid"/>
            <a:round/>
            <a:headEnd len="med" w="med" type="none"/>
            <a:tailEnd len="med" w="med" type="triangle"/>
          </a:ln>
        </p:spPr>
      </p:cxnSp>
      <p:cxnSp>
        <p:nvCxnSpPr>
          <p:cNvPr id="181" name="Google Shape;181;p15"/>
          <p:cNvCxnSpPr/>
          <p:nvPr/>
        </p:nvCxnSpPr>
        <p:spPr>
          <a:xfrm>
            <a:off x="8128000" y="2438400"/>
            <a:ext cx="444600" cy="0"/>
          </a:xfrm>
          <a:prstGeom prst="straightConnector1">
            <a:avLst/>
          </a:prstGeom>
          <a:noFill/>
          <a:ln cap="flat" cmpd="sng" w="15250">
            <a:solidFill>
              <a:srgbClr val="167985"/>
            </a:solidFill>
            <a:prstDash val="solid"/>
            <a:round/>
            <a:headEnd len="med" w="med" type="none"/>
            <a:tailEnd len="med" w="med" type="triangle"/>
          </a:ln>
        </p:spPr>
      </p:cxnSp>
      <p:sp>
        <p:nvSpPr>
          <p:cNvPr id="182" name="Google Shape;182;p15"/>
          <p:cNvSpPr txBox="1"/>
          <p:nvPr/>
        </p:nvSpPr>
        <p:spPr>
          <a:xfrm>
            <a:off x="365760" y="873760"/>
            <a:ext cx="84126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700">
                <a:solidFill>
                  <a:srgbClr val="111827"/>
                </a:solidFill>
              </a:rPr>
              <a:t>Small learned matrices adapt each selected projection</a:t>
            </a:r>
            <a:endParaRPr sz="1700">
              <a:solidFill>
                <a:srgbClr val="111827"/>
              </a:solidFill>
            </a:endParaRPr>
          </a:p>
        </p:txBody>
      </p:sp>
      <p:sp>
        <p:nvSpPr>
          <p:cNvPr id="183" name="Google Shape;183;p15"/>
          <p:cNvSpPr txBox="1"/>
          <p:nvPr/>
        </p:nvSpPr>
        <p:spPr>
          <a:xfrm>
            <a:off x="619760" y="2131060"/>
            <a:ext cx="564000" cy="56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400">
                <a:solidFill>
                  <a:srgbClr val="111827"/>
                </a:solidFill>
                <a:latin typeface="Georgia"/>
                <a:ea typeface="Georgia"/>
                <a:cs typeface="Georgia"/>
                <a:sym typeface="Georgia"/>
              </a:rPr>
              <a:t>v</a:t>
            </a:r>
            <a:endParaRPr sz="2400">
              <a:solidFill>
                <a:srgbClr val="111827"/>
              </a:solidFill>
              <a:latin typeface="Georgia"/>
              <a:ea typeface="Georgia"/>
              <a:cs typeface="Georgia"/>
              <a:sym typeface="Georgia"/>
            </a:endParaRPr>
          </a:p>
        </p:txBody>
      </p:sp>
      <p:sp>
        <p:nvSpPr>
          <p:cNvPr id="184" name="Google Shape;184;p15"/>
          <p:cNvSpPr txBox="1"/>
          <p:nvPr/>
        </p:nvSpPr>
        <p:spPr>
          <a:xfrm>
            <a:off x="8506460" y="2131060"/>
            <a:ext cx="500400" cy="56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400">
                <a:solidFill>
                  <a:srgbClr val="111827"/>
                </a:solidFill>
                <a:latin typeface="Georgia"/>
                <a:ea typeface="Georgia"/>
                <a:cs typeface="Georgia"/>
                <a:sym typeface="Georgia"/>
              </a:rPr>
              <a:t>y</a:t>
            </a:r>
            <a:endParaRPr sz="2400">
              <a:solidFill>
                <a:srgbClr val="111827"/>
              </a:solidFill>
              <a:latin typeface="Georgia"/>
              <a:ea typeface="Georgia"/>
              <a:cs typeface="Georgia"/>
              <a:sym typeface="Georgia"/>
            </a:endParaRPr>
          </a:p>
        </p:txBody>
      </p:sp>
      <p:sp>
        <p:nvSpPr>
          <p:cNvPr id="185" name="Google Shape;185;p15"/>
          <p:cNvSpPr txBox="1"/>
          <p:nvPr/>
        </p:nvSpPr>
        <p:spPr>
          <a:xfrm>
            <a:off x="2346960" y="1419860"/>
            <a:ext cx="42468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zh-CN" sz="2000">
                <a:solidFill>
                  <a:srgbClr val="167985"/>
                </a:solidFill>
              </a:rPr>
              <a:t>Base W₀ stays fixed</a:t>
            </a:r>
            <a:endParaRPr b="1" sz="2000">
              <a:solidFill>
                <a:srgbClr val="167985"/>
              </a:solidFill>
            </a:endParaRPr>
          </a:p>
        </p:txBody>
      </p:sp>
      <p:sp>
        <p:nvSpPr>
          <p:cNvPr id="186" name="Google Shape;186;p15"/>
          <p:cNvSpPr txBox="1"/>
          <p:nvPr/>
        </p:nvSpPr>
        <p:spPr>
          <a:xfrm>
            <a:off x="2346960" y="1775460"/>
            <a:ext cx="4246800" cy="436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a:solidFill>
                  <a:srgbClr val="5E6E80"/>
                </a:solidFill>
                <a:latin typeface="Georgia"/>
                <a:ea typeface="Georgia"/>
                <a:cs typeface="Georgia"/>
                <a:sym typeface="Georgia"/>
              </a:rPr>
              <a:t>d</a:t>
            </a:r>
            <a:r>
              <a:rPr baseline="-25000" lang="zh-CN">
                <a:solidFill>
                  <a:srgbClr val="5E6E80"/>
                </a:solidFill>
                <a:latin typeface="Georgia"/>
                <a:ea typeface="Georgia"/>
                <a:cs typeface="Georgia"/>
                <a:sym typeface="Georgia"/>
              </a:rPr>
              <a:t>out</a:t>
            </a:r>
            <a:r>
              <a:rPr lang="zh-CN">
                <a:solidFill>
                  <a:srgbClr val="5E6E80"/>
                </a:solidFill>
                <a:latin typeface="Georgia"/>
                <a:ea typeface="Georgia"/>
                <a:cs typeface="Georgia"/>
                <a:sym typeface="Georgia"/>
              </a:rPr>
              <a:t> × d</a:t>
            </a:r>
            <a:r>
              <a:rPr baseline="-25000" lang="zh-CN">
                <a:solidFill>
                  <a:srgbClr val="5E6E80"/>
                </a:solidFill>
                <a:latin typeface="Georgia"/>
                <a:ea typeface="Georgia"/>
                <a:cs typeface="Georgia"/>
                <a:sym typeface="Georgia"/>
              </a:rPr>
              <a:t>in</a:t>
            </a:r>
            <a:endParaRPr baseline="-25000">
              <a:solidFill>
                <a:srgbClr val="5E6E80"/>
              </a:solidFill>
              <a:latin typeface="Georgia"/>
              <a:ea typeface="Georgia"/>
              <a:cs typeface="Georgia"/>
              <a:sym typeface="Georgia"/>
            </a:endParaRPr>
          </a:p>
        </p:txBody>
      </p:sp>
      <p:sp>
        <p:nvSpPr>
          <p:cNvPr id="187" name="Google Shape;187;p15"/>
          <p:cNvSpPr txBox="1"/>
          <p:nvPr/>
        </p:nvSpPr>
        <p:spPr>
          <a:xfrm>
            <a:off x="2143760" y="2689860"/>
            <a:ext cx="15291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200">
                <a:solidFill>
                  <a:srgbClr val="B36B17"/>
                </a:solidFill>
                <a:latin typeface="Georgia"/>
                <a:ea typeface="Georgia"/>
                <a:cs typeface="Georgia"/>
                <a:sym typeface="Georgia"/>
              </a:rPr>
              <a:t>A</a:t>
            </a:r>
            <a:endParaRPr sz="2200">
              <a:solidFill>
                <a:srgbClr val="B36B17"/>
              </a:solidFill>
              <a:latin typeface="Georgia"/>
              <a:ea typeface="Georgia"/>
              <a:cs typeface="Georgia"/>
              <a:sym typeface="Georgia"/>
            </a:endParaRPr>
          </a:p>
        </p:txBody>
      </p:sp>
      <p:sp>
        <p:nvSpPr>
          <p:cNvPr id="188" name="Google Shape;188;p15"/>
          <p:cNvSpPr txBox="1"/>
          <p:nvPr/>
        </p:nvSpPr>
        <p:spPr>
          <a:xfrm>
            <a:off x="2143760" y="3070860"/>
            <a:ext cx="1529100" cy="436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a:solidFill>
                  <a:srgbClr val="B36B17"/>
                </a:solidFill>
                <a:latin typeface="Georgia"/>
                <a:ea typeface="Georgia"/>
                <a:cs typeface="Georgia"/>
                <a:sym typeface="Georgia"/>
              </a:rPr>
              <a:t>r × d</a:t>
            </a:r>
            <a:r>
              <a:rPr baseline="-25000" lang="zh-CN">
                <a:solidFill>
                  <a:srgbClr val="B36B17"/>
                </a:solidFill>
                <a:latin typeface="Georgia"/>
                <a:ea typeface="Georgia"/>
                <a:cs typeface="Georgia"/>
                <a:sym typeface="Georgia"/>
              </a:rPr>
              <a:t>in</a:t>
            </a:r>
            <a:endParaRPr baseline="-25000">
              <a:solidFill>
                <a:srgbClr val="B36B17"/>
              </a:solidFill>
              <a:latin typeface="Georgia"/>
              <a:ea typeface="Georgia"/>
              <a:cs typeface="Georgia"/>
              <a:sym typeface="Georgia"/>
            </a:endParaRPr>
          </a:p>
        </p:txBody>
      </p:sp>
      <p:sp>
        <p:nvSpPr>
          <p:cNvPr id="189" name="Google Shape;189;p15"/>
          <p:cNvSpPr txBox="1"/>
          <p:nvPr/>
        </p:nvSpPr>
        <p:spPr>
          <a:xfrm>
            <a:off x="4074160" y="2689860"/>
            <a:ext cx="15291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200">
                <a:solidFill>
                  <a:srgbClr val="B36B17"/>
                </a:solidFill>
                <a:latin typeface="Georgia"/>
                <a:ea typeface="Georgia"/>
                <a:cs typeface="Georgia"/>
                <a:sym typeface="Georgia"/>
              </a:rPr>
              <a:t>B</a:t>
            </a:r>
            <a:endParaRPr sz="2200">
              <a:solidFill>
                <a:srgbClr val="B36B17"/>
              </a:solidFill>
              <a:latin typeface="Georgia"/>
              <a:ea typeface="Georgia"/>
              <a:cs typeface="Georgia"/>
              <a:sym typeface="Georgia"/>
            </a:endParaRPr>
          </a:p>
        </p:txBody>
      </p:sp>
      <p:sp>
        <p:nvSpPr>
          <p:cNvPr id="190" name="Google Shape;190;p15"/>
          <p:cNvSpPr txBox="1"/>
          <p:nvPr/>
        </p:nvSpPr>
        <p:spPr>
          <a:xfrm>
            <a:off x="4074160" y="3070860"/>
            <a:ext cx="1529100" cy="436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a:solidFill>
                  <a:srgbClr val="B36B17"/>
                </a:solidFill>
                <a:latin typeface="Georgia"/>
                <a:ea typeface="Georgia"/>
                <a:cs typeface="Georgia"/>
                <a:sym typeface="Georgia"/>
              </a:rPr>
              <a:t>d</a:t>
            </a:r>
            <a:r>
              <a:rPr baseline="-25000" lang="zh-CN">
                <a:solidFill>
                  <a:srgbClr val="B36B17"/>
                </a:solidFill>
                <a:latin typeface="Georgia"/>
                <a:ea typeface="Georgia"/>
                <a:cs typeface="Georgia"/>
                <a:sym typeface="Georgia"/>
              </a:rPr>
              <a:t>out</a:t>
            </a:r>
            <a:r>
              <a:rPr lang="zh-CN">
                <a:solidFill>
                  <a:srgbClr val="B36B17"/>
                </a:solidFill>
                <a:latin typeface="Georgia"/>
                <a:ea typeface="Georgia"/>
                <a:cs typeface="Georgia"/>
                <a:sym typeface="Georgia"/>
              </a:rPr>
              <a:t> × r</a:t>
            </a:r>
            <a:endParaRPr>
              <a:solidFill>
                <a:srgbClr val="B36B17"/>
              </a:solidFill>
              <a:latin typeface="Georgia"/>
              <a:ea typeface="Georgia"/>
              <a:cs typeface="Georgia"/>
              <a:sym typeface="Georgia"/>
            </a:endParaRPr>
          </a:p>
        </p:txBody>
      </p:sp>
      <p:sp>
        <p:nvSpPr>
          <p:cNvPr id="191" name="Google Shape;191;p15"/>
          <p:cNvSpPr txBox="1"/>
          <p:nvPr/>
        </p:nvSpPr>
        <p:spPr>
          <a:xfrm>
            <a:off x="5826760" y="2829560"/>
            <a:ext cx="1249800" cy="5385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000">
                <a:solidFill>
                  <a:srgbClr val="B36B17"/>
                </a:solidFill>
                <a:latin typeface="Georgia"/>
                <a:ea typeface="Georgia"/>
                <a:cs typeface="Georgia"/>
                <a:sym typeface="Georgia"/>
              </a:rPr>
              <a:t>α/r</a:t>
            </a:r>
            <a:endParaRPr sz="2000">
              <a:solidFill>
                <a:srgbClr val="B36B17"/>
              </a:solidFill>
              <a:latin typeface="Georgia"/>
              <a:ea typeface="Georgia"/>
              <a:cs typeface="Georgia"/>
              <a:sym typeface="Georgia"/>
            </a:endParaRPr>
          </a:p>
        </p:txBody>
      </p:sp>
      <p:sp>
        <p:nvSpPr>
          <p:cNvPr id="192" name="Google Shape;192;p15"/>
          <p:cNvSpPr txBox="1"/>
          <p:nvPr/>
        </p:nvSpPr>
        <p:spPr>
          <a:xfrm>
            <a:off x="2143760" y="2334260"/>
            <a:ext cx="4932600" cy="474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500">
                <a:solidFill>
                  <a:srgbClr val="B36B17"/>
                </a:solidFill>
              </a:rPr>
              <a:t>LoRA matrices A and B train</a:t>
            </a:r>
            <a:endParaRPr b="1" sz="1500">
              <a:solidFill>
                <a:srgbClr val="B36B17"/>
              </a:solidFill>
            </a:endParaRPr>
          </a:p>
        </p:txBody>
      </p:sp>
      <p:sp>
        <p:nvSpPr>
          <p:cNvPr id="193" name="Google Shape;193;p15"/>
          <p:cNvSpPr txBox="1"/>
          <p:nvPr/>
        </p:nvSpPr>
        <p:spPr>
          <a:xfrm>
            <a:off x="7553960" y="2118360"/>
            <a:ext cx="665400" cy="627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500">
                <a:solidFill>
                  <a:srgbClr val="111827"/>
                </a:solidFill>
                <a:latin typeface="Georgia"/>
                <a:ea typeface="Georgia"/>
                <a:cs typeface="Georgia"/>
                <a:sym typeface="Georgia"/>
              </a:rPr>
              <a:t>+</a:t>
            </a:r>
            <a:endParaRPr sz="2500">
              <a:solidFill>
                <a:srgbClr val="111827"/>
              </a:solidFill>
              <a:latin typeface="Georgia"/>
              <a:ea typeface="Georgia"/>
              <a:cs typeface="Georgia"/>
              <a:sym typeface="Georgia"/>
            </a:endParaRPr>
          </a:p>
        </p:txBody>
      </p:sp>
      <p:sp>
        <p:nvSpPr>
          <p:cNvPr id="194" name="Google Shape;194;p15"/>
          <p:cNvSpPr txBox="1"/>
          <p:nvPr/>
        </p:nvSpPr>
        <p:spPr>
          <a:xfrm>
            <a:off x="365760" y="3540760"/>
            <a:ext cx="5136000" cy="56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300">
                <a:solidFill>
                  <a:srgbClr val="111827"/>
                </a:solidFill>
                <a:latin typeface="Georgia"/>
                <a:ea typeface="Georgia"/>
                <a:cs typeface="Georgia"/>
                <a:sym typeface="Georgia"/>
              </a:rPr>
              <a:t>y = W</a:t>
            </a:r>
            <a:r>
              <a:rPr baseline="-25000" lang="zh-CN" sz="2300">
                <a:solidFill>
                  <a:srgbClr val="111827"/>
                </a:solidFill>
                <a:latin typeface="Georgia"/>
                <a:ea typeface="Georgia"/>
                <a:cs typeface="Georgia"/>
                <a:sym typeface="Georgia"/>
              </a:rPr>
              <a:t>0</a:t>
            </a:r>
            <a:r>
              <a:rPr lang="zh-CN" sz="2300">
                <a:solidFill>
                  <a:srgbClr val="111827"/>
                </a:solidFill>
                <a:latin typeface="Georgia"/>
                <a:ea typeface="Georgia"/>
                <a:cs typeface="Georgia"/>
                <a:sym typeface="Georgia"/>
              </a:rPr>
              <a:t>v + (α/r)BAv</a:t>
            </a:r>
            <a:endParaRPr sz="2300">
              <a:solidFill>
                <a:srgbClr val="111827"/>
              </a:solidFill>
              <a:latin typeface="Georgia"/>
              <a:ea typeface="Georgia"/>
              <a:cs typeface="Georgia"/>
              <a:sym typeface="Georgia"/>
            </a:endParaRPr>
          </a:p>
        </p:txBody>
      </p:sp>
      <p:sp>
        <p:nvSpPr>
          <p:cNvPr id="195" name="Google Shape;195;p15"/>
          <p:cNvSpPr txBox="1"/>
          <p:nvPr/>
        </p:nvSpPr>
        <p:spPr>
          <a:xfrm>
            <a:off x="5737860" y="3540760"/>
            <a:ext cx="3040500" cy="56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200">
                <a:solidFill>
                  <a:srgbClr val="111827"/>
                </a:solidFill>
                <a:latin typeface="Georgia"/>
                <a:ea typeface="Georgia"/>
                <a:cs typeface="Georgia"/>
                <a:sym typeface="Georgia"/>
              </a:rPr>
              <a:t>ΔW = (α/r)BA</a:t>
            </a:r>
            <a:endParaRPr sz="2200">
              <a:solidFill>
                <a:srgbClr val="111827"/>
              </a:solidFill>
              <a:latin typeface="Georgia"/>
              <a:ea typeface="Georgia"/>
              <a:cs typeface="Georgia"/>
              <a:sym typeface="Georgia"/>
            </a:endParaRPr>
          </a:p>
        </p:txBody>
      </p:sp>
      <p:sp>
        <p:nvSpPr>
          <p:cNvPr id="196" name="Google Shape;196;p15"/>
          <p:cNvSpPr txBox="1"/>
          <p:nvPr/>
        </p:nvSpPr>
        <p:spPr>
          <a:xfrm>
            <a:off x="365760" y="3997960"/>
            <a:ext cx="8412600" cy="487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600">
                <a:solidFill>
                  <a:srgbClr val="111827"/>
                </a:solidFill>
              </a:rPr>
              <a:t>r = 16     α = 32     α/r = 2     LoRA dropout = 0.05</a:t>
            </a:r>
            <a:endParaRPr sz="1600">
              <a:solidFill>
                <a:srgbClr val="111827"/>
              </a:solidFill>
            </a:endParaRPr>
          </a:p>
        </p:txBody>
      </p:sp>
      <p:sp>
        <p:nvSpPr>
          <p:cNvPr id="197" name="Google Shape;197;p15"/>
          <p:cNvSpPr txBox="1"/>
          <p:nvPr/>
        </p:nvSpPr>
        <p:spPr>
          <a:xfrm>
            <a:off x="365760" y="4328160"/>
            <a:ext cx="84126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a:solidFill>
                  <a:srgbClr val="111827"/>
                </a:solidFill>
              </a:rPr>
              <a:t>33.8M trainable parameters across LoRA and the pointer head</a:t>
            </a:r>
            <a:endParaRPr>
              <a:solidFill>
                <a:srgbClr val="111827"/>
              </a:solidFill>
            </a:endParaRPr>
          </a:p>
        </p:txBody>
      </p:sp>
      <p:sp>
        <p:nvSpPr>
          <p:cNvPr id="198" name="Google Shape;198;p15"/>
          <p:cNvSpPr txBox="1"/>
          <p:nvPr/>
        </p:nvSpPr>
        <p:spPr>
          <a:xfrm>
            <a:off x="365760" y="4594860"/>
            <a:ext cx="84126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5E6E80"/>
                </a:solidFill>
              </a:rPr>
              <a:t>v: layer input    y: layer output    d</a:t>
            </a:r>
            <a:r>
              <a:rPr baseline="-25000" lang="zh-CN" sz="1200">
                <a:solidFill>
                  <a:srgbClr val="5E6E80"/>
                </a:solidFill>
              </a:rPr>
              <a:t>in</a:t>
            </a:r>
            <a:r>
              <a:rPr lang="zh-CN" sz="1200">
                <a:solidFill>
                  <a:srgbClr val="5E6E80"/>
                </a:solidFill>
              </a:rPr>
              <a:t> / d</a:t>
            </a:r>
            <a:r>
              <a:rPr baseline="-25000" lang="zh-CN" sz="1200">
                <a:solidFill>
                  <a:srgbClr val="5E6E80"/>
                </a:solidFill>
              </a:rPr>
              <a:t>out</a:t>
            </a:r>
            <a:r>
              <a:rPr lang="zh-CN" sz="1200">
                <a:solidFill>
                  <a:srgbClr val="5E6E80"/>
                </a:solidFill>
              </a:rPr>
              <a:t>: input / output widths</a:t>
            </a:r>
            <a:endParaRPr sz="1200">
              <a:solidFill>
                <a:srgbClr val="5E6E8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pic>
        <p:nvPicPr>
          <p:cNvPr descr="Highlights the contextual decide and option readouts, affine query/key projections, dot product, fixed scaling and option-score repetition. The footer opens Play, pause and step controls. Static diagram and mathematics remain native editable objects." id="203" name="Google Shape;203;p16" title="Animated Kev pointer-head comparison"/>
          <p:cNvPicPr preferRelativeResize="0"/>
          <p:nvPr/>
        </p:nvPicPr>
        <p:blipFill>
          <a:blip r:embed="rId3">
            <a:alphaModFix/>
          </a:blip>
          <a:stretch>
            <a:fillRect/>
          </a:stretch>
        </p:blipFill>
        <p:spPr>
          <a:xfrm>
            <a:off x="381000" y="1498600"/>
            <a:ext cx="8458200" cy="2273300"/>
          </a:xfrm>
          <a:prstGeom prst="rect">
            <a:avLst/>
          </a:prstGeom>
          <a:noFill/>
          <a:ln>
            <a:noFill/>
          </a:ln>
        </p:spPr>
      </p:pic>
      <p:sp>
        <p:nvSpPr>
          <p:cNvPr id="204" name="Google Shape;204;p16"/>
          <p:cNvSpPr txBox="1"/>
          <p:nvPr>
            <p:ph type="title"/>
          </p:nvPr>
        </p:nvSpPr>
        <p:spPr>
          <a:xfrm>
            <a:off x="365760" y="226060"/>
            <a:ext cx="8412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3000">
                <a:solidFill>
                  <a:srgbClr val="111827"/>
                </a:solidFill>
              </a:rPr>
              <a:t>The pointer head scores every option</a:t>
            </a:r>
            <a:endParaRPr b="1" sz="3000">
              <a:solidFill>
                <a:srgbClr val="111827"/>
              </a:solidFill>
            </a:endParaRPr>
          </a:p>
        </p:txBody>
      </p:sp>
      <p:sp>
        <p:nvSpPr>
          <p:cNvPr id="205" name="Google Shape;205;p16"/>
          <p:cNvSpPr txBox="1"/>
          <p:nvPr/>
        </p:nvSpPr>
        <p:spPr>
          <a:xfrm>
            <a:off x="365760" y="4772660"/>
            <a:ext cx="79935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Exact Kev pointer head. i indexes one option.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206" name="Google Shape;206;p16"/>
          <p:cNvSpPr txBox="1"/>
          <p:nvPr/>
        </p:nvSpPr>
        <p:spPr>
          <a:xfrm>
            <a:off x="8354060" y="4772660"/>
            <a:ext cx="4242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4</a:t>
            </a:r>
            <a:endParaRPr sz="900">
              <a:solidFill>
                <a:srgbClr val="5E6E80"/>
              </a:solidFill>
            </a:endParaRPr>
          </a:p>
        </p:txBody>
      </p:sp>
      <p:sp>
        <p:nvSpPr>
          <p:cNvPr id="207" name="Google Shape;207;p16"/>
          <p:cNvSpPr/>
          <p:nvPr/>
        </p:nvSpPr>
        <p:spPr>
          <a:xfrm>
            <a:off x="457200" y="1651000"/>
            <a:ext cx="1333500" cy="5079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16"/>
          <p:cNvSpPr/>
          <p:nvPr/>
        </p:nvSpPr>
        <p:spPr>
          <a:xfrm>
            <a:off x="457200" y="2921000"/>
            <a:ext cx="1333500" cy="5079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16"/>
          <p:cNvSpPr/>
          <p:nvPr/>
        </p:nvSpPr>
        <p:spPr>
          <a:xfrm>
            <a:off x="2247900" y="1574800"/>
            <a:ext cx="2857500" cy="6603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16"/>
          <p:cNvSpPr/>
          <p:nvPr/>
        </p:nvSpPr>
        <p:spPr>
          <a:xfrm>
            <a:off x="2247900" y="2844800"/>
            <a:ext cx="2857500" cy="6603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16"/>
          <p:cNvSpPr/>
          <p:nvPr/>
        </p:nvSpPr>
        <p:spPr>
          <a:xfrm>
            <a:off x="7315200" y="2273300"/>
            <a:ext cx="660300" cy="457200"/>
          </a:xfrm>
          <a:prstGeom prst="rect">
            <a:avLst/>
          </a:prstGeom>
          <a:solidFill>
            <a:srgbClr val="F5F7F9"/>
          </a:solidFill>
          <a:ln cap="flat" cmpd="sng" w="12700">
            <a:solidFill>
              <a:srgbClr val="5E6E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16"/>
          <p:cNvSpPr/>
          <p:nvPr/>
        </p:nvSpPr>
        <p:spPr>
          <a:xfrm>
            <a:off x="6464300" y="2247900"/>
            <a:ext cx="507900" cy="507900"/>
          </a:xfrm>
          <a:prstGeom prst="ellipse">
            <a:avLst/>
          </a:prstGeom>
          <a:solidFill>
            <a:srgbClr val="FFFFFF"/>
          </a:solidFill>
          <a:ln cap="flat" cmpd="sng" w="12700">
            <a:solidFill>
              <a:srgbClr val="5E6E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3" name="Google Shape;213;p16"/>
          <p:cNvCxnSpPr/>
          <p:nvPr/>
        </p:nvCxnSpPr>
        <p:spPr>
          <a:xfrm>
            <a:off x="1790700" y="1905000"/>
            <a:ext cx="431700" cy="0"/>
          </a:xfrm>
          <a:prstGeom prst="straightConnector1">
            <a:avLst/>
          </a:prstGeom>
          <a:noFill/>
          <a:ln cap="flat" cmpd="sng" w="15250">
            <a:solidFill>
              <a:srgbClr val="167985"/>
            </a:solidFill>
            <a:prstDash val="solid"/>
            <a:round/>
            <a:headEnd len="med" w="med" type="none"/>
            <a:tailEnd len="med" w="med" type="triangle"/>
          </a:ln>
        </p:spPr>
      </p:cxnSp>
      <p:cxnSp>
        <p:nvCxnSpPr>
          <p:cNvPr id="214" name="Google Shape;214;p16"/>
          <p:cNvCxnSpPr/>
          <p:nvPr/>
        </p:nvCxnSpPr>
        <p:spPr>
          <a:xfrm>
            <a:off x="5105400" y="1905000"/>
            <a:ext cx="393600" cy="0"/>
          </a:xfrm>
          <a:prstGeom prst="straightConnector1">
            <a:avLst/>
          </a:prstGeom>
          <a:noFill/>
          <a:ln cap="flat" cmpd="sng" w="15250">
            <a:solidFill>
              <a:srgbClr val="167985"/>
            </a:solidFill>
            <a:prstDash val="solid"/>
            <a:round/>
            <a:headEnd len="med" w="med" type="none"/>
            <a:tailEnd len="med" w="med" type="triangle"/>
          </a:ln>
        </p:spPr>
      </p:cxnSp>
      <p:cxnSp>
        <p:nvCxnSpPr>
          <p:cNvPr id="215" name="Google Shape;215;p16"/>
          <p:cNvCxnSpPr/>
          <p:nvPr/>
        </p:nvCxnSpPr>
        <p:spPr>
          <a:xfrm>
            <a:off x="5969000" y="1905000"/>
            <a:ext cx="749400" cy="0"/>
          </a:xfrm>
          <a:prstGeom prst="straightConnector1">
            <a:avLst/>
          </a:prstGeom>
          <a:noFill/>
          <a:ln cap="flat" cmpd="sng" w="15250">
            <a:solidFill>
              <a:srgbClr val="167985"/>
            </a:solidFill>
            <a:prstDash val="solid"/>
            <a:round/>
            <a:headEnd len="med" w="med" type="none"/>
            <a:tailEnd len="med" w="med" type="none"/>
          </a:ln>
        </p:spPr>
      </p:cxnSp>
      <p:cxnSp>
        <p:nvCxnSpPr>
          <p:cNvPr id="216" name="Google Shape;216;p16"/>
          <p:cNvCxnSpPr/>
          <p:nvPr/>
        </p:nvCxnSpPr>
        <p:spPr>
          <a:xfrm>
            <a:off x="6718300" y="1905000"/>
            <a:ext cx="0" cy="317400"/>
          </a:xfrm>
          <a:prstGeom prst="straightConnector1">
            <a:avLst/>
          </a:prstGeom>
          <a:noFill/>
          <a:ln cap="flat" cmpd="sng" w="15250">
            <a:solidFill>
              <a:srgbClr val="167985"/>
            </a:solidFill>
            <a:prstDash val="solid"/>
            <a:round/>
            <a:headEnd len="med" w="med" type="none"/>
            <a:tailEnd len="med" w="med" type="triangle"/>
          </a:ln>
        </p:spPr>
      </p:cxnSp>
      <p:cxnSp>
        <p:nvCxnSpPr>
          <p:cNvPr id="217" name="Google Shape;217;p16"/>
          <p:cNvCxnSpPr/>
          <p:nvPr/>
        </p:nvCxnSpPr>
        <p:spPr>
          <a:xfrm>
            <a:off x="1790700" y="3175000"/>
            <a:ext cx="431700" cy="0"/>
          </a:xfrm>
          <a:prstGeom prst="straightConnector1">
            <a:avLst/>
          </a:prstGeom>
          <a:noFill/>
          <a:ln cap="flat" cmpd="sng" w="15250">
            <a:solidFill>
              <a:srgbClr val="B36B17"/>
            </a:solidFill>
            <a:prstDash val="solid"/>
            <a:round/>
            <a:headEnd len="med" w="med" type="none"/>
            <a:tailEnd len="med" w="med" type="triangle"/>
          </a:ln>
        </p:spPr>
      </p:cxnSp>
      <p:cxnSp>
        <p:nvCxnSpPr>
          <p:cNvPr id="218" name="Google Shape;218;p16"/>
          <p:cNvCxnSpPr/>
          <p:nvPr/>
        </p:nvCxnSpPr>
        <p:spPr>
          <a:xfrm>
            <a:off x="5105400" y="3175000"/>
            <a:ext cx="393600" cy="0"/>
          </a:xfrm>
          <a:prstGeom prst="straightConnector1">
            <a:avLst/>
          </a:prstGeom>
          <a:noFill/>
          <a:ln cap="flat" cmpd="sng" w="15250">
            <a:solidFill>
              <a:srgbClr val="B36B17"/>
            </a:solidFill>
            <a:prstDash val="solid"/>
            <a:round/>
            <a:headEnd len="med" w="med" type="none"/>
            <a:tailEnd len="med" w="med" type="triangle"/>
          </a:ln>
        </p:spPr>
      </p:cxnSp>
      <p:cxnSp>
        <p:nvCxnSpPr>
          <p:cNvPr id="219" name="Google Shape;219;p16"/>
          <p:cNvCxnSpPr/>
          <p:nvPr/>
        </p:nvCxnSpPr>
        <p:spPr>
          <a:xfrm>
            <a:off x="5969000" y="3175000"/>
            <a:ext cx="749400" cy="0"/>
          </a:xfrm>
          <a:prstGeom prst="straightConnector1">
            <a:avLst/>
          </a:prstGeom>
          <a:noFill/>
          <a:ln cap="flat" cmpd="sng" w="15250">
            <a:solidFill>
              <a:srgbClr val="B36B17"/>
            </a:solidFill>
            <a:prstDash val="solid"/>
            <a:round/>
            <a:headEnd len="med" w="med" type="none"/>
            <a:tailEnd len="med" w="med" type="none"/>
          </a:ln>
        </p:spPr>
      </p:cxnSp>
      <p:cxnSp>
        <p:nvCxnSpPr>
          <p:cNvPr id="220" name="Google Shape;220;p16"/>
          <p:cNvCxnSpPr/>
          <p:nvPr/>
        </p:nvCxnSpPr>
        <p:spPr>
          <a:xfrm rot="10800000">
            <a:off x="6718300" y="2781400"/>
            <a:ext cx="0" cy="393600"/>
          </a:xfrm>
          <a:prstGeom prst="straightConnector1">
            <a:avLst/>
          </a:prstGeom>
          <a:noFill/>
          <a:ln cap="flat" cmpd="sng" w="15250">
            <a:solidFill>
              <a:srgbClr val="B36B17"/>
            </a:solidFill>
            <a:prstDash val="solid"/>
            <a:round/>
            <a:headEnd len="med" w="med" type="none"/>
            <a:tailEnd len="med" w="med" type="triangle"/>
          </a:ln>
        </p:spPr>
      </p:cxnSp>
      <p:cxnSp>
        <p:nvCxnSpPr>
          <p:cNvPr id="221" name="Google Shape;221;p16"/>
          <p:cNvCxnSpPr/>
          <p:nvPr/>
        </p:nvCxnSpPr>
        <p:spPr>
          <a:xfrm>
            <a:off x="6997700" y="2501900"/>
            <a:ext cx="292200" cy="0"/>
          </a:xfrm>
          <a:prstGeom prst="straightConnector1">
            <a:avLst/>
          </a:prstGeom>
          <a:noFill/>
          <a:ln cap="flat" cmpd="sng" w="15250">
            <a:solidFill>
              <a:srgbClr val="5E6E80"/>
            </a:solidFill>
            <a:prstDash val="solid"/>
            <a:round/>
            <a:headEnd len="med" w="med" type="none"/>
            <a:tailEnd len="med" w="med" type="triangle"/>
          </a:ln>
        </p:spPr>
      </p:cxnSp>
      <p:cxnSp>
        <p:nvCxnSpPr>
          <p:cNvPr id="222" name="Google Shape;222;p16"/>
          <p:cNvCxnSpPr/>
          <p:nvPr/>
        </p:nvCxnSpPr>
        <p:spPr>
          <a:xfrm>
            <a:off x="7975600" y="2501900"/>
            <a:ext cx="342900" cy="0"/>
          </a:xfrm>
          <a:prstGeom prst="straightConnector1">
            <a:avLst/>
          </a:prstGeom>
          <a:noFill/>
          <a:ln cap="flat" cmpd="sng" w="15250">
            <a:solidFill>
              <a:srgbClr val="5E6E80"/>
            </a:solidFill>
            <a:prstDash val="solid"/>
            <a:round/>
            <a:headEnd len="med" w="med" type="none"/>
            <a:tailEnd len="med" w="med" type="triangle"/>
          </a:ln>
        </p:spPr>
      </p:cxnSp>
      <p:sp>
        <p:nvSpPr>
          <p:cNvPr id="223" name="Google Shape;223;p16"/>
          <p:cNvSpPr txBox="1"/>
          <p:nvPr/>
        </p:nvSpPr>
        <p:spPr>
          <a:xfrm>
            <a:off x="365760" y="873760"/>
            <a:ext cx="84126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700">
                <a:solidFill>
                  <a:srgbClr val="111827"/>
                </a:solidFill>
              </a:rPr>
              <a:t>Two learned linear projections, then a scaled dot product</a:t>
            </a:r>
            <a:endParaRPr sz="1700">
              <a:solidFill>
                <a:srgbClr val="111827"/>
              </a:solidFill>
            </a:endParaRPr>
          </a:p>
        </p:txBody>
      </p:sp>
      <p:sp>
        <p:nvSpPr>
          <p:cNvPr id="224" name="Google Shape;224;p16"/>
          <p:cNvSpPr txBox="1"/>
          <p:nvPr/>
        </p:nvSpPr>
        <p:spPr>
          <a:xfrm>
            <a:off x="365760" y="1254760"/>
            <a:ext cx="1986300" cy="449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300">
                <a:solidFill>
                  <a:srgbClr val="167985"/>
                </a:solidFill>
              </a:rPr>
              <a:t>Final &lt;decide&gt; vector</a:t>
            </a:r>
            <a:endParaRPr b="1" sz="1300">
              <a:solidFill>
                <a:srgbClr val="167985"/>
              </a:solidFill>
            </a:endParaRPr>
          </a:p>
        </p:txBody>
      </p:sp>
      <p:sp>
        <p:nvSpPr>
          <p:cNvPr id="225" name="Google Shape;225;p16"/>
          <p:cNvSpPr txBox="1"/>
          <p:nvPr/>
        </p:nvSpPr>
        <p:spPr>
          <a:xfrm>
            <a:off x="365760" y="2499360"/>
            <a:ext cx="2265600" cy="449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300">
                <a:solidFill>
                  <a:srgbClr val="B36B17"/>
                </a:solidFill>
              </a:rPr>
              <a:t>Option i: closing &lt;/opt&gt;</a:t>
            </a:r>
            <a:endParaRPr b="1" sz="1300">
              <a:solidFill>
                <a:srgbClr val="B36B17"/>
              </a:solidFill>
            </a:endParaRPr>
          </a:p>
        </p:txBody>
      </p:sp>
      <p:sp>
        <p:nvSpPr>
          <p:cNvPr id="226" name="Google Shape;226;p16"/>
          <p:cNvSpPr txBox="1"/>
          <p:nvPr/>
        </p:nvSpPr>
        <p:spPr>
          <a:xfrm>
            <a:off x="365760" y="1572260"/>
            <a:ext cx="1516500" cy="627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300">
                <a:solidFill>
                  <a:srgbClr val="167985"/>
                </a:solidFill>
                <a:latin typeface="Georgia"/>
                <a:ea typeface="Georgia"/>
                <a:cs typeface="Georgia"/>
                <a:sym typeface="Georgia"/>
              </a:rPr>
              <a:t>h</a:t>
            </a:r>
            <a:r>
              <a:rPr baseline="-25000" lang="zh-CN" sz="2300">
                <a:solidFill>
                  <a:srgbClr val="167985"/>
                </a:solidFill>
                <a:latin typeface="Georgia"/>
                <a:ea typeface="Georgia"/>
                <a:cs typeface="Georgia"/>
                <a:sym typeface="Georgia"/>
              </a:rPr>
              <a:t>decide</a:t>
            </a:r>
            <a:endParaRPr baseline="-25000" sz="2300">
              <a:solidFill>
                <a:srgbClr val="167985"/>
              </a:solidFill>
              <a:latin typeface="Georgia"/>
              <a:ea typeface="Georgia"/>
              <a:cs typeface="Georgia"/>
              <a:sym typeface="Georgia"/>
            </a:endParaRPr>
          </a:p>
        </p:txBody>
      </p:sp>
      <p:sp>
        <p:nvSpPr>
          <p:cNvPr id="227" name="Google Shape;227;p16"/>
          <p:cNvSpPr txBox="1"/>
          <p:nvPr/>
        </p:nvSpPr>
        <p:spPr>
          <a:xfrm>
            <a:off x="365760" y="2842260"/>
            <a:ext cx="1516500" cy="627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300">
                <a:solidFill>
                  <a:srgbClr val="B36B17"/>
                </a:solidFill>
                <a:latin typeface="Georgia"/>
                <a:ea typeface="Georgia"/>
                <a:cs typeface="Georgia"/>
                <a:sym typeface="Georgia"/>
              </a:rPr>
              <a:t>h</a:t>
            </a:r>
            <a:r>
              <a:rPr baseline="-25000" lang="zh-CN" sz="2300">
                <a:solidFill>
                  <a:srgbClr val="B36B17"/>
                </a:solidFill>
                <a:latin typeface="Georgia"/>
                <a:ea typeface="Georgia"/>
                <a:cs typeface="Georgia"/>
                <a:sym typeface="Georgia"/>
              </a:rPr>
              <a:t>end,i</a:t>
            </a:r>
            <a:endParaRPr baseline="-25000" sz="2300">
              <a:solidFill>
                <a:srgbClr val="B36B17"/>
              </a:solidFill>
              <a:latin typeface="Georgia"/>
              <a:ea typeface="Georgia"/>
              <a:cs typeface="Georgia"/>
              <a:sym typeface="Georgia"/>
            </a:endParaRPr>
          </a:p>
        </p:txBody>
      </p:sp>
      <p:sp>
        <p:nvSpPr>
          <p:cNvPr id="228" name="Google Shape;228;p16"/>
          <p:cNvSpPr txBox="1"/>
          <p:nvPr/>
        </p:nvSpPr>
        <p:spPr>
          <a:xfrm>
            <a:off x="2156460" y="1623060"/>
            <a:ext cx="3040500" cy="614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000">
                <a:solidFill>
                  <a:srgbClr val="167985"/>
                </a:solidFill>
                <a:latin typeface="Georgia"/>
                <a:ea typeface="Georgia"/>
                <a:cs typeface="Georgia"/>
                <a:sym typeface="Georgia"/>
              </a:rPr>
              <a:t>q = W</a:t>
            </a:r>
            <a:r>
              <a:rPr baseline="-25000" lang="zh-CN" sz="2000">
                <a:solidFill>
                  <a:srgbClr val="167985"/>
                </a:solidFill>
                <a:latin typeface="Georgia"/>
                <a:ea typeface="Georgia"/>
                <a:cs typeface="Georgia"/>
                <a:sym typeface="Georgia"/>
              </a:rPr>
              <a:t>q</a:t>
            </a:r>
            <a:r>
              <a:rPr lang="zh-CN" sz="2000">
                <a:solidFill>
                  <a:srgbClr val="167985"/>
                </a:solidFill>
                <a:latin typeface="Georgia"/>
                <a:ea typeface="Georgia"/>
                <a:cs typeface="Georgia"/>
                <a:sym typeface="Georgia"/>
              </a:rPr>
              <a:t> h</a:t>
            </a:r>
            <a:r>
              <a:rPr baseline="-25000" lang="zh-CN" sz="2000">
                <a:solidFill>
                  <a:srgbClr val="167985"/>
                </a:solidFill>
                <a:latin typeface="Georgia"/>
                <a:ea typeface="Georgia"/>
                <a:cs typeface="Georgia"/>
                <a:sym typeface="Georgia"/>
              </a:rPr>
              <a:t>decide</a:t>
            </a:r>
            <a:r>
              <a:rPr lang="zh-CN" sz="2000">
                <a:solidFill>
                  <a:srgbClr val="167985"/>
                </a:solidFill>
                <a:latin typeface="Georgia"/>
                <a:ea typeface="Georgia"/>
                <a:cs typeface="Georgia"/>
                <a:sym typeface="Georgia"/>
              </a:rPr>
              <a:t> + b</a:t>
            </a:r>
            <a:r>
              <a:rPr baseline="-25000" lang="zh-CN" sz="2000">
                <a:solidFill>
                  <a:srgbClr val="167985"/>
                </a:solidFill>
                <a:latin typeface="Georgia"/>
                <a:ea typeface="Georgia"/>
                <a:cs typeface="Georgia"/>
                <a:sym typeface="Georgia"/>
              </a:rPr>
              <a:t>q</a:t>
            </a:r>
            <a:endParaRPr baseline="-25000" sz="2000">
              <a:solidFill>
                <a:srgbClr val="167985"/>
              </a:solidFill>
              <a:latin typeface="Georgia"/>
              <a:ea typeface="Georgia"/>
              <a:cs typeface="Georgia"/>
              <a:sym typeface="Georgia"/>
            </a:endParaRPr>
          </a:p>
        </p:txBody>
      </p:sp>
      <p:sp>
        <p:nvSpPr>
          <p:cNvPr id="229" name="Google Shape;229;p16"/>
          <p:cNvSpPr txBox="1"/>
          <p:nvPr/>
        </p:nvSpPr>
        <p:spPr>
          <a:xfrm>
            <a:off x="2156460" y="2893060"/>
            <a:ext cx="3040500" cy="614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000">
                <a:solidFill>
                  <a:srgbClr val="B36B17"/>
                </a:solidFill>
                <a:latin typeface="Georgia"/>
                <a:ea typeface="Georgia"/>
                <a:cs typeface="Georgia"/>
                <a:sym typeface="Georgia"/>
              </a:rPr>
              <a:t>k</a:t>
            </a:r>
            <a:r>
              <a:rPr baseline="-25000" lang="zh-CN" sz="2000">
                <a:solidFill>
                  <a:srgbClr val="B36B17"/>
                </a:solidFill>
                <a:latin typeface="Georgia"/>
                <a:ea typeface="Georgia"/>
                <a:cs typeface="Georgia"/>
                <a:sym typeface="Georgia"/>
              </a:rPr>
              <a:t>i</a:t>
            </a:r>
            <a:r>
              <a:rPr lang="zh-CN" sz="2000">
                <a:solidFill>
                  <a:srgbClr val="B36B17"/>
                </a:solidFill>
                <a:latin typeface="Georgia"/>
                <a:ea typeface="Georgia"/>
                <a:cs typeface="Georgia"/>
                <a:sym typeface="Georgia"/>
              </a:rPr>
              <a:t> = W</a:t>
            </a:r>
            <a:r>
              <a:rPr baseline="-25000" lang="zh-CN" sz="2000">
                <a:solidFill>
                  <a:srgbClr val="B36B17"/>
                </a:solidFill>
                <a:latin typeface="Georgia"/>
                <a:ea typeface="Georgia"/>
                <a:cs typeface="Georgia"/>
                <a:sym typeface="Georgia"/>
              </a:rPr>
              <a:t>k</a:t>
            </a:r>
            <a:r>
              <a:rPr lang="zh-CN" sz="2000">
                <a:solidFill>
                  <a:srgbClr val="B36B17"/>
                </a:solidFill>
                <a:latin typeface="Georgia"/>
                <a:ea typeface="Georgia"/>
                <a:cs typeface="Georgia"/>
                <a:sym typeface="Georgia"/>
              </a:rPr>
              <a:t> h</a:t>
            </a:r>
            <a:r>
              <a:rPr baseline="-25000" lang="zh-CN" sz="2000">
                <a:solidFill>
                  <a:srgbClr val="B36B17"/>
                </a:solidFill>
                <a:latin typeface="Georgia"/>
                <a:ea typeface="Georgia"/>
                <a:cs typeface="Georgia"/>
                <a:sym typeface="Georgia"/>
              </a:rPr>
              <a:t>end,i</a:t>
            </a:r>
            <a:r>
              <a:rPr lang="zh-CN" sz="2000">
                <a:solidFill>
                  <a:srgbClr val="B36B17"/>
                </a:solidFill>
                <a:latin typeface="Georgia"/>
                <a:ea typeface="Georgia"/>
                <a:cs typeface="Georgia"/>
                <a:sym typeface="Georgia"/>
              </a:rPr>
              <a:t> + b</a:t>
            </a:r>
            <a:r>
              <a:rPr baseline="-25000" lang="zh-CN" sz="2000">
                <a:solidFill>
                  <a:srgbClr val="B36B17"/>
                </a:solidFill>
                <a:latin typeface="Georgia"/>
                <a:ea typeface="Georgia"/>
                <a:cs typeface="Georgia"/>
                <a:sym typeface="Georgia"/>
              </a:rPr>
              <a:t>k</a:t>
            </a:r>
            <a:endParaRPr baseline="-25000" sz="2000">
              <a:solidFill>
                <a:srgbClr val="B36B17"/>
              </a:solidFill>
              <a:latin typeface="Georgia"/>
              <a:ea typeface="Georgia"/>
              <a:cs typeface="Georgia"/>
              <a:sym typeface="Georgia"/>
            </a:endParaRPr>
          </a:p>
        </p:txBody>
      </p:sp>
      <p:sp>
        <p:nvSpPr>
          <p:cNvPr id="230" name="Google Shape;230;p16"/>
          <p:cNvSpPr txBox="1"/>
          <p:nvPr/>
        </p:nvSpPr>
        <p:spPr>
          <a:xfrm>
            <a:off x="5445760" y="1572260"/>
            <a:ext cx="640200" cy="614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400">
                <a:solidFill>
                  <a:srgbClr val="167985"/>
                </a:solidFill>
                <a:latin typeface="Georgia"/>
                <a:ea typeface="Georgia"/>
                <a:cs typeface="Georgia"/>
                <a:sym typeface="Georgia"/>
              </a:rPr>
              <a:t>q</a:t>
            </a:r>
            <a:endParaRPr sz="2400">
              <a:solidFill>
                <a:srgbClr val="167985"/>
              </a:solidFill>
              <a:latin typeface="Georgia"/>
              <a:ea typeface="Georgia"/>
              <a:cs typeface="Georgia"/>
              <a:sym typeface="Georgia"/>
            </a:endParaRPr>
          </a:p>
        </p:txBody>
      </p:sp>
      <p:sp>
        <p:nvSpPr>
          <p:cNvPr id="231" name="Google Shape;231;p16"/>
          <p:cNvSpPr txBox="1"/>
          <p:nvPr/>
        </p:nvSpPr>
        <p:spPr>
          <a:xfrm>
            <a:off x="5445760" y="2842260"/>
            <a:ext cx="640200" cy="614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400">
                <a:solidFill>
                  <a:srgbClr val="B36B17"/>
                </a:solidFill>
                <a:latin typeface="Georgia"/>
                <a:ea typeface="Georgia"/>
                <a:cs typeface="Georgia"/>
                <a:sym typeface="Georgia"/>
              </a:rPr>
              <a:t>k</a:t>
            </a:r>
            <a:r>
              <a:rPr baseline="-25000" lang="zh-CN" sz="2400">
                <a:solidFill>
                  <a:srgbClr val="B36B17"/>
                </a:solidFill>
                <a:latin typeface="Georgia"/>
                <a:ea typeface="Georgia"/>
                <a:cs typeface="Georgia"/>
                <a:sym typeface="Georgia"/>
              </a:rPr>
              <a:t>i</a:t>
            </a:r>
            <a:endParaRPr baseline="-25000" sz="2400">
              <a:solidFill>
                <a:srgbClr val="B36B17"/>
              </a:solidFill>
              <a:latin typeface="Georgia"/>
              <a:ea typeface="Georgia"/>
              <a:cs typeface="Georgia"/>
              <a:sym typeface="Georgia"/>
            </a:endParaRPr>
          </a:p>
        </p:txBody>
      </p:sp>
      <p:sp>
        <p:nvSpPr>
          <p:cNvPr id="232" name="Google Shape;232;p16"/>
          <p:cNvSpPr txBox="1"/>
          <p:nvPr/>
        </p:nvSpPr>
        <p:spPr>
          <a:xfrm>
            <a:off x="2156460" y="2194560"/>
            <a:ext cx="3040500" cy="436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300">
                <a:solidFill>
                  <a:srgbClr val="5E6E80"/>
                </a:solidFill>
              </a:rPr>
              <a:t>2,560 features → 256 features</a:t>
            </a:r>
            <a:endParaRPr sz="1300">
              <a:solidFill>
                <a:srgbClr val="5E6E80"/>
              </a:solidFill>
            </a:endParaRPr>
          </a:p>
        </p:txBody>
      </p:sp>
      <p:sp>
        <p:nvSpPr>
          <p:cNvPr id="233" name="Google Shape;233;p16"/>
          <p:cNvSpPr txBox="1"/>
          <p:nvPr/>
        </p:nvSpPr>
        <p:spPr>
          <a:xfrm>
            <a:off x="2156460" y="3464560"/>
            <a:ext cx="3040500" cy="449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300">
                <a:solidFill>
                  <a:srgbClr val="5E6E80"/>
                </a:solidFill>
              </a:rPr>
              <a:t>The same key layer for every option</a:t>
            </a:r>
            <a:endParaRPr sz="1300">
              <a:solidFill>
                <a:srgbClr val="5E6E80"/>
              </a:solidFill>
            </a:endParaRPr>
          </a:p>
        </p:txBody>
      </p:sp>
      <p:sp>
        <p:nvSpPr>
          <p:cNvPr id="234" name="Google Shape;234;p16"/>
          <p:cNvSpPr txBox="1"/>
          <p:nvPr/>
        </p:nvSpPr>
        <p:spPr>
          <a:xfrm>
            <a:off x="6372860" y="2092960"/>
            <a:ext cx="690900" cy="7035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3000">
                <a:solidFill>
                  <a:srgbClr val="111827"/>
                </a:solidFill>
                <a:latin typeface="Georgia"/>
                <a:ea typeface="Georgia"/>
                <a:cs typeface="Georgia"/>
                <a:sym typeface="Georgia"/>
              </a:rPr>
              <a:t>·</a:t>
            </a:r>
            <a:endParaRPr sz="3000">
              <a:solidFill>
                <a:srgbClr val="111827"/>
              </a:solidFill>
              <a:latin typeface="Georgia"/>
              <a:ea typeface="Georgia"/>
              <a:cs typeface="Georgia"/>
              <a:sym typeface="Georgia"/>
            </a:endParaRPr>
          </a:p>
        </p:txBody>
      </p:sp>
      <p:sp>
        <p:nvSpPr>
          <p:cNvPr id="235" name="Google Shape;235;p16"/>
          <p:cNvSpPr txBox="1"/>
          <p:nvPr/>
        </p:nvSpPr>
        <p:spPr>
          <a:xfrm>
            <a:off x="7223760" y="2207260"/>
            <a:ext cx="843300" cy="564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700">
                <a:solidFill>
                  <a:srgbClr val="111827"/>
                </a:solidFill>
                <a:latin typeface="Georgia"/>
                <a:ea typeface="Georgia"/>
                <a:cs typeface="Georgia"/>
                <a:sym typeface="Georgia"/>
              </a:rPr>
              <a:t>÷√d</a:t>
            </a:r>
            <a:r>
              <a:rPr baseline="-25000" lang="zh-CN" sz="1700">
                <a:solidFill>
                  <a:srgbClr val="111827"/>
                </a:solidFill>
                <a:latin typeface="Georgia"/>
                <a:ea typeface="Georgia"/>
                <a:cs typeface="Georgia"/>
                <a:sym typeface="Georgia"/>
              </a:rPr>
              <a:t>p</a:t>
            </a:r>
            <a:endParaRPr baseline="-25000" sz="1700">
              <a:solidFill>
                <a:srgbClr val="111827"/>
              </a:solidFill>
              <a:latin typeface="Georgia"/>
              <a:ea typeface="Georgia"/>
              <a:cs typeface="Georgia"/>
              <a:sym typeface="Georgia"/>
            </a:endParaRPr>
          </a:p>
        </p:txBody>
      </p:sp>
      <p:sp>
        <p:nvSpPr>
          <p:cNvPr id="236" name="Google Shape;236;p16"/>
          <p:cNvSpPr txBox="1"/>
          <p:nvPr/>
        </p:nvSpPr>
        <p:spPr>
          <a:xfrm>
            <a:off x="7147560" y="2689860"/>
            <a:ext cx="983100" cy="436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300">
                <a:solidFill>
                  <a:srgbClr val="5E6E80"/>
                </a:solidFill>
              </a:rPr>
              <a:t>÷16 here</a:t>
            </a:r>
            <a:endParaRPr sz="1300">
              <a:solidFill>
                <a:srgbClr val="5E6E80"/>
              </a:solidFill>
            </a:endParaRPr>
          </a:p>
        </p:txBody>
      </p:sp>
      <p:sp>
        <p:nvSpPr>
          <p:cNvPr id="237" name="Google Shape;237;p16"/>
          <p:cNvSpPr txBox="1"/>
          <p:nvPr/>
        </p:nvSpPr>
        <p:spPr>
          <a:xfrm>
            <a:off x="8265160" y="2207260"/>
            <a:ext cx="551100" cy="640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400">
                <a:solidFill>
                  <a:srgbClr val="111827"/>
                </a:solidFill>
                <a:latin typeface="Georgia"/>
                <a:ea typeface="Georgia"/>
                <a:cs typeface="Georgia"/>
                <a:sym typeface="Georgia"/>
              </a:rPr>
              <a:t>z</a:t>
            </a:r>
            <a:r>
              <a:rPr baseline="-25000" lang="zh-CN" sz="2400">
                <a:solidFill>
                  <a:srgbClr val="111827"/>
                </a:solidFill>
                <a:latin typeface="Georgia"/>
                <a:ea typeface="Georgia"/>
                <a:cs typeface="Georgia"/>
                <a:sym typeface="Georgia"/>
              </a:rPr>
              <a:t>i</a:t>
            </a:r>
            <a:endParaRPr baseline="-25000" sz="2400">
              <a:solidFill>
                <a:srgbClr val="111827"/>
              </a:solidFill>
              <a:latin typeface="Georgia"/>
              <a:ea typeface="Georgia"/>
              <a:cs typeface="Georgia"/>
              <a:sym typeface="Georgia"/>
            </a:endParaRPr>
          </a:p>
        </p:txBody>
      </p:sp>
      <p:sp>
        <p:nvSpPr>
          <p:cNvPr id="238" name="Google Shape;238;p16"/>
          <p:cNvSpPr txBox="1"/>
          <p:nvPr/>
        </p:nvSpPr>
        <p:spPr>
          <a:xfrm>
            <a:off x="8049260" y="2689860"/>
            <a:ext cx="868800" cy="436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300">
                <a:solidFill>
                  <a:srgbClr val="5E6E80"/>
                </a:solidFill>
              </a:rPr>
              <a:t>Score</a:t>
            </a:r>
            <a:endParaRPr sz="1300">
              <a:solidFill>
                <a:srgbClr val="5E6E80"/>
              </a:solidFill>
            </a:endParaRPr>
          </a:p>
        </p:txBody>
      </p:sp>
      <p:sp>
        <p:nvSpPr>
          <p:cNvPr id="239" name="Google Shape;239;p16"/>
          <p:cNvSpPr txBox="1"/>
          <p:nvPr/>
        </p:nvSpPr>
        <p:spPr>
          <a:xfrm>
            <a:off x="365760" y="3845560"/>
            <a:ext cx="4221600" cy="614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400">
                <a:solidFill>
                  <a:srgbClr val="111827"/>
                </a:solidFill>
                <a:latin typeface="Georgia"/>
                <a:ea typeface="Georgia"/>
                <a:cs typeface="Georgia"/>
                <a:sym typeface="Georgia"/>
              </a:rPr>
              <a:t>z</a:t>
            </a:r>
            <a:r>
              <a:rPr baseline="-25000" lang="zh-CN" sz="2400">
                <a:solidFill>
                  <a:srgbClr val="111827"/>
                </a:solidFill>
                <a:latin typeface="Georgia"/>
                <a:ea typeface="Georgia"/>
                <a:cs typeface="Georgia"/>
                <a:sym typeface="Georgia"/>
              </a:rPr>
              <a:t>i</a:t>
            </a:r>
            <a:r>
              <a:rPr lang="zh-CN" sz="2400">
                <a:solidFill>
                  <a:srgbClr val="111827"/>
                </a:solidFill>
                <a:latin typeface="Georgia"/>
                <a:ea typeface="Georgia"/>
                <a:cs typeface="Georgia"/>
                <a:sym typeface="Georgia"/>
              </a:rPr>
              <a:t> = qᵀk</a:t>
            </a:r>
            <a:r>
              <a:rPr baseline="-25000" lang="zh-CN" sz="2400">
                <a:solidFill>
                  <a:srgbClr val="111827"/>
                </a:solidFill>
                <a:latin typeface="Georgia"/>
                <a:ea typeface="Georgia"/>
                <a:cs typeface="Georgia"/>
                <a:sym typeface="Georgia"/>
              </a:rPr>
              <a:t>i</a:t>
            </a:r>
            <a:r>
              <a:rPr lang="zh-CN" sz="2400">
                <a:solidFill>
                  <a:srgbClr val="111827"/>
                </a:solidFill>
                <a:latin typeface="Georgia"/>
                <a:ea typeface="Georgia"/>
                <a:cs typeface="Georgia"/>
                <a:sym typeface="Georgia"/>
              </a:rPr>
              <a:t> / √d</a:t>
            </a:r>
            <a:r>
              <a:rPr baseline="-25000" lang="zh-CN" sz="2400">
                <a:solidFill>
                  <a:srgbClr val="111827"/>
                </a:solidFill>
                <a:latin typeface="Georgia"/>
                <a:ea typeface="Georgia"/>
                <a:cs typeface="Georgia"/>
                <a:sym typeface="Georgia"/>
              </a:rPr>
              <a:t>p</a:t>
            </a:r>
            <a:endParaRPr baseline="-25000" sz="2400">
              <a:solidFill>
                <a:srgbClr val="111827"/>
              </a:solidFill>
              <a:latin typeface="Georgia"/>
              <a:ea typeface="Georgia"/>
              <a:cs typeface="Georgia"/>
              <a:sym typeface="Georgia"/>
            </a:endParaRPr>
          </a:p>
        </p:txBody>
      </p:sp>
      <p:sp>
        <p:nvSpPr>
          <p:cNvPr id="240" name="Google Shape;240;p16"/>
          <p:cNvSpPr txBox="1"/>
          <p:nvPr/>
        </p:nvSpPr>
        <p:spPr>
          <a:xfrm>
            <a:off x="4544060" y="3921760"/>
            <a:ext cx="4234200" cy="513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700">
                <a:solidFill>
                  <a:srgbClr val="111827"/>
                </a:solidFill>
              </a:rPr>
              <a:t>K legal options → K raw scores</a:t>
            </a:r>
            <a:endParaRPr sz="1700">
              <a:solidFill>
                <a:srgbClr val="111827"/>
              </a:solidFill>
            </a:endParaRPr>
          </a:p>
        </p:txBody>
      </p:sp>
      <p:sp>
        <p:nvSpPr>
          <p:cNvPr id="241" name="Google Shape;241;p16"/>
          <p:cNvSpPr txBox="1"/>
          <p:nvPr/>
        </p:nvSpPr>
        <p:spPr>
          <a:xfrm>
            <a:off x="365760" y="4340860"/>
            <a:ext cx="8412600" cy="474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a:solidFill>
                  <a:srgbClr val="111827"/>
                </a:solidFill>
              </a:rPr>
              <a:t>d = 2,560     d</a:t>
            </a:r>
            <a:r>
              <a:rPr baseline="-25000" lang="zh-CN">
                <a:solidFill>
                  <a:srgbClr val="111827"/>
                </a:solidFill>
              </a:rPr>
              <a:t>p</a:t>
            </a:r>
            <a:r>
              <a:rPr lang="zh-CN">
                <a:solidFill>
                  <a:srgbClr val="111827"/>
                </a:solidFill>
              </a:rPr>
              <a:t> = 256     √d</a:t>
            </a:r>
            <a:r>
              <a:rPr baseline="-25000" lang="zh-CN">
                <a:solidFill>
                  <a:srgbClr val="111827"/>
                </a:solidFill>
              </a:rPr>
              <a:t>p</a:t>
            </a:r>
            <a:r>
              <a:rPr lang="zh-CN">
                <a:solidFill>
                  <a:srgbClr val="111827"/>
                </a:solidFill>
              </a:rPr>
              <a:t> = 16     Both projection layers train</a:t>
            </a:r>
            <a:endParaRPr>
              <a:solidFill>
                <a:srgbClr val="111827"/>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pic>
        <p:nvPicPr>
          <p:cNvPr descr="Highlights raw scores, softmax, normalized probabilities and the deterministic chosen move. The footer opens Play, pause, step and temperature controls. Static diagram and mathematics remain native editable objects." id="246" name="Google Shape;246;p17" title="Animated Kev option softmax and action selection"/>
          <p:cNvPicPr preferRelativeResize="0"/>
          <p:nvPr/>
        </p:nvPicPr>
        <p:blipFill>
          <a:blip r:embed="rId3">
            <a:alphaModFix/>
          </a:blip>
          <a:stretch>
            <a:fillRect/>
          </a:stretch>
        </p:blipFill>
        <p:spPr>
          <a:xfrm>
            <a:off x="330200" y="1308100"/>
            <a:ext cx="8509000" cy="2959100"/>
          </a:xfrm>
          <a:prstGeom prst="rect">
            <a:avLst/>
          </a:prstGeom>
          <a:noFill/>
          <a:ln>
            <a:noFill/>
          </a:ln>
        </p:spPr>
      </p:pic>
      <p:sp>
        <p:nvSpPr>
          <p:cNvPr id="247" name="Google Shape;247;p17"/>
          <p:cNvSpPr txBox="1"/>
          <p:nvPr>
            <p:ph type="title"/>
          </p:nvPr>
        </p:nvSpPr>
        <p:spPr>
          <a:xfrm>
            <a:off x="365760" y="226060"/>
            <a:ext cx="8412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3000">
                <a:solidFill>
                  <a:srgbClr val="111827"/>
                </a:solidFill>
              </a:rPr>
              <a:t>Softmax and action selection</a:t>
            </a:r>
            <a:endParaRPr b="1" sz="3000">
              <a:solidFill>
                <a:srgbClr val="111827"/>
              </a:solidFill>
            </a:endParaRPr>
          </a:p>
        </p:txBody>
      </p:sp>
      <p:sp>
        <p:nvSpPr>
          <p:cNvPr id="248" name="Google Shape;248;p17"/>
          <p:cNvSpPr txBox="1"/>
          <p:nvPr/>
        </p:nvSpPr>
        <p:spPr>
          <a:xfrm>
            <a:off x="365760" y="4772660"/>
            <a:ext cx="79935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Illustrative scores, not a live prediction.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249" name="Google Shape;249;p17"/>
          <p:cNvSpPr txBox="1"/>
          <p:nvPr/>
        </p:nvSpPr>
        <p:spPr>
          <a:xfrm>
            <a:off x="8354060" y="4772660"/>
            <a:ext cx="4242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5</a:t>
            </a:r>
            <a:endParaRPr sz="900">
              <a:solidFill>
                <a:srgbClr val="5E6E80"/>
              </a:solidFill>
            </a:endParaRPr>
          </a:p>
        </p:txBody>
      </p:sp>
      <p:sp>
        <p:nvSpPr>
          <p:cNvPr id="250" name="Google Shape;250;p17"/>
          <p:cNvSpPr/>
          <p:nvPr/>
        </p:nvSpPr>
        <p:spPr>
          <a:xfrm>
            <a:off x="6680200" y="1562100"/>
            <a:ext cx="1993800" cy="6222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17"/>
          <p:cNvSpPr/>
          <p:nvPr/>
        </p:nvSpPr>
        <p:spPr>
          <a:xfrm>
            <a:off x="457200" y="3009900"/>
            <a:ext cx="2362200" cy="1155600"/>
          </a:xfrm>
          <a:prstGeom prst="rect">
            <a:avLst/>
          </a:prstGeom>
          <a:solidFill>
            <a:srgbClr val="F5F7F9"/>
          </a:solidFill>
          <a:ln cap="flat" cmpd="sng" w="12700">
            <a:solidFill>
              <a:srgbClr val="DCE4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17"/>
          <p:cNvSpPr/>
          <p:nvPr/>
        </p:nvSpPr>
        <p:spPr>
          <a:xfrm>
            <a:off x="3556000" y="3009900"/>
            <a:ext cx="3124200" cy="1155600"/>
          </a:xfrm>
          <a:prstGeom prst="rect">
            <a:avLst/>
          </a:prstGeom>
          <a:solidFill>
            <a:srgbClr val="EFF8F8"/>
          </a:solidFill>
          <a:ln cap="flat" cmpd="sng" w="12700">
            <a:solidFill>
              <a:srgbClr val="DCE4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17"/>
          <p:cNvSpPr/>
          <p:nvPr/>
        </p:nvSpPr>
        <p:spPr>
          <a:xfrm>
            <a:off x="7378700" y="3187700"/>
            <a:ext cx="1308000" cy="7875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17"/>
          <p:cNvSpPr/>
          <p:nvPr/>
        </p:nvSpPr>
        <p:spPr>
          <a:xfrm>
            <a:off x="3721100" y="3162300"/>
            <a:ext cx="1968600" cy="165000"/>
          </a:xfrm>
          <a:prstGeom prst="rect">
            <a:avLst/>
          </a:prstGeom>
          <a:solidFill>
            <a:srgbClr val="DBE8E9"/>
          </a:solidFill>
          <a:ln cap="flat" cmpd="sng" w="12700">
            <a:solidFill>
              <a:srgbClr val="DBE8E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17"/>
          <p:cNvSpPr/>
          <p:nvPr/>
        </p:nvSpPr>
        <p:spPr>
          <a:xfrm>
            <a:off x="3721100" y="3162300"/>
            <a:ext cx="481800" cy="165000"/>
          </a:xfrm>
          <a:prstGeom prst="rect">
            <a:avLst/>
          </a:prstGeom>
          <a:solidFill>
            <a:srgbClr val="167985"/>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17"/>
          <p:cNvSpPr/>
          <p:nvPr/>
        </p:nvSpPr>
        <p:spPr>
          <a:xfrm>
            <a:off x="3721100" y="3492500"/>
            <a:ext cx="1968600" cy="165000"/>
          </a:xfrm>
          <a:prstGeom prst="rect">
            <a:avLst/>
          </a:prstGeom>
          <a:solidFill>
            <a:srgbClr val="DBE8E9"/>
          </a:solidFill>
          <a:ln cap="flat" cmpd="sng" w="12700">
            <a:solidFill>
              <a:srgbClr val="DBE8E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 name="Google Shape;257;p17"/>
          <p:cNvSpPr/>
          <p:nvPr/>
        </p:nvSpPr>
        <p:spPr>
          <a:xfrm>
            <a:off x="3721100" y="3492500"/>
            <a:ext cx="177300" cy="165000"/>
          </a:xfrm>
          <a:prstGeom prst="rect">
            <a:avLst/>
          </a:prstGeom>
          <a:solidFill>
            <a:srgbClr val="167985"/>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17"/>
          <p:cNvSpPr/>
          <p:nvPr/>
        </p:nvSpPr>
        <p:spPr>
          <a:xfrm>
            <a:off x="3721100" y="3822700"/>
            <a:ext cx="1968600" cy="165000"/>
          </a:xfrm>
          <a:prstGeom prst="rect">
            <a:avLst/>
          </a:prstGeom>
          <a:solidFill>
            <a:srgbClr val="DBE8E9"/>
          </a:solidFill>
          <a:ln cap="flat" cmpd="sng" w="12700">
            <a:solidFill>
              <a:srgbClr val="DBE8E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17"/>
          <p:cNvSpPr/>
          <p:nvPr/>
        </p:nvSpPr>
        <p:spPr>
          <a:xfrm>
            <a:off x="3721100" y="3822700"/>
            <a:ext cx="1309500" cy="165000"/>
          </a:xfrm>
          <a:prstGeom prst="rect">
            <a:avLst/>
          </a:prstGeom>
          <a:solidFill>
            <a:srgbClr val="B36B17"/>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0" name="Google Shape;260;p17"/>
          <p:cNvCxnSpPr/>
          <p:nvPr/>
        </p:nvCxnSpPr>
        <p:spPr>
          <a:xfrm>
            <a:off x="3111500" y="1943100"/>
            <a:ext cx="3060600" cy="0"/>
          </a:xfrm>
          <a:prstGeom prst="straightConnector1">
            <a:avLst/>
          </a:prstGeom>
          <a:noFill/>
          <a:ln cap="flat" cmpd="sng" w="15250">
            <a:solidFill>
              <a:srgbClr val="111827"/>
            </a:solidFill>
            <a:prstDash val="solid"/>
            <a:round/>
            <a:headEnd len="med" w="med" type="none"/>
            <a:tailEnd len="med" w="med" type="none"/>
          </a:ln>
        </p:spPr>
      </p:cxnSp>
      <p:cxnSp>
        <p:nvCxnSpPr>
          <p:cNvPr id="261" name="Google Shape;261;p17"/>
          <p:cNvCxnSpPr/>
          <p:nvPr/>
        </p:nvCxnSpPr>
        <p:spPr>
          <a:xfrm>
            <a:off x="2844800" y="3581400"/>
            <a:ext cx="647700" cy="0"/>
          </a:xfrm>
          <a:prstGeom prst="straightConnector1">
            <a:avLst/>
          </a:prstGeom>
          <a:noFill/>
          <a:ln cap="flat" cmpd="sng" w="15250">
            <a:solidFill>
              <a:srgbClr val="5E6E80"/>
            </a:solidFill>
            <a:prstDash val="solid"/>
            <a:round/>
            <a:headEnd len="med" w="med" type="none"/>
            <a:tailEnd len="med" w="med" type="triangle"/>
          </a:ln>
        </p:spPr>
      </p:cxnSp>
      <p:cxnSp>
        <p:nvCxnSpPr>
          <p:cNvPr id="262" name="Google Shape;262;p17"/>
          <p:cNvCxnSpPr/>
          <p:nvPr/>
        </p:nvCxnSpPr>
        <p:spPr>
          <a:xfrm>
            <a:off x="6718300" y="3581400"/>
            <a:ext cx="597000" cy="0"/>
          </a:xfrm>
          <a:prstGeom prst="straightConnector1">
            <a:avLst/>
          </a:prstGeom>
          <a:noFill/>
          <a:ln cap="flat" cmpd="sng" w="15250">
            <a:solidFill>
              <a:srgbClr val="5E6E80"/>
            </a:solidFill>
            <a:prstDash val="solid"/>
            <a:round/>
            <a:headEnd len="med" w="med" type="none"/>
            <a:tailEnd len="med" w="med" type="triangle"/>
          </a:ln>
        </p:spPr>
      </p:cxnSp>
      <p:sp>
        <p:nvSpPr>
          <p:cNvPr id="263" name="Google Shape;263;p17"/>
          <p:cNvSpPr txBox="1"/>
          <p:nvPr/>
        </p:nvSpPr>
        <p:spPr>
          <a:xfrm>
            <a:off x="365760" y="873760"/>
            <a:ext cx="84126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700">
                <a:solidFill>
                  <a:srgbClr val="111827"/>
                </a:solidFill>
              </a:rPr>
              <a:t>Softmax gives option probabilities. Argmax chooses the largest.</a:t>
            </a:r>
            <a:endParaRPr sz="1700">
              <a:solidFill>
                <a:srgbClr val="111827"/>
              </a:solidFill>
            </a:endParaRPr>
          </a:p>
        </p:txBody>
      </p:sp>
      <p:sp>
        <p:nvSpPr>
          <p:cNvPr id="264" name="Google Shape;264;p17"/>
          <p:cNvSpPr txBox="1"/>
          <p:nvPr/>
        </p:nvSpPr>
        <p:spPr>
          <a:xfrm>
            <a:off x="365760" y="1610360"/>
            <a:ext cx="2646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500">
                <a:solidFill>
                  <a:srgbClr val="111827"/>
                </a:solidFill>
                <a:latin typeface="Georgia"/>
                <a:ea typeface="Georgia"/>
                <a:cs typeface="Georgia"/>
                <a:sym typeface="Georgia"/>
              </a:rPr>
              <a:t>p(a</a:t>
            </a:r>
            <a:r>
              <a:rPr baseline="-25000" lang="zh-CN" sz="2500">
                <a:solidFill>
                  <a:srgbClr val="111827"/>
                </a:solidFill>
                <a:latin typeface="Georgia"/>
                <a:ea typeface="Georgia"/>
                <a:cs typeface="Georgia"/>
                <a:sym typeface="Georgia"/>
              </a:rPr>
              <a:t>i</a:t>
            </a:r>
            <a:r>
              <a:rPr lang="zh-CN" sz="2500">
                <a:solidFill>
                  <a:srgbClr val="111827"/>
                </a:solidFill>
                <a:latin typeface="Georgia"/>
                <a:ea typeface="Georgia"/>
                <a:cs typeface="Georgia"/>
                <a:sym typeface="Georgia"/>
              </a:rPr>
              <a:t> | s) =</a:t>
            </a:r>
            <a:endParaRPr sz="2500">
              <a:solidFill>
                <a:srgbClr val="111827"/>
              </a:solidFill>
              <a:latin typeface="Georgia"/>
              <a:ea typeface="Georgia"/>
              <a:cs typeface="Georgia"/>
              <a:sym typeface="Georgia"/>
            </a:endParaRPr>
          </a:p>
        </p:txBody>
      </p:sp>
      <p:sp>
        <p:nvSpPr>
          <p:cNvPr id="265" name="Google Shape;265;p17"/>
          <p:cNvSpPr txBox="1"/>
          <p:nvPr/>
        </p:nvSpPr>
        <p:spPr>
          <a:xfrm>
            <a:off x="3134360" y="1318260"/>
            <a:ext cx="3015000" cy="652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500">
                <a:solidFill>
                  <a:srgbClr val="111827"/>
                </a:solidFill>
                <a:latin typeface="Georgia"/>
                <a:ea typeface="Georgia"/>
                <a:cs typeface="Georgia"/>
                <a:sym typeface="Georgia"/>
              </a:rPr>
              <a:t>exp(z</a:t>
            </a:r>
            <a:r>
              <a:rPr baseline="-25000" lang="zh-CN" sz="2500">
                <a:solidFill>
                  <a:srgbClr val="111827"/>
                </a:solidFill>
                <a:latin typeface="Georgia"/>
                <a:ea typeface="Georgia"/>
                <a:cs typeface="Georgia"/>
                <a:sym typeface="Georgia"/>
              </a:rPr>
              <a:t>i</a:t>
            </a:r>
            <a:r>
              <a:rPr lang="zh-CN" sz="2500">
                <a:solidFill>
                  <a:srgbClr val="111827"/>
                </a:solidFill>
                <a:latin typeface="Georgia"/>
                <a:ea typeface="Georgia"/>
                <a:cs typeface="Georgia"/>
                <a:sym typeface="Georgia"/>
              </a:rPr>
              <a:t> / T)</a:t>
            </a:r>
            <a:endParaRPr sz="2500">
              <a:solidFill>
                <a:srgbClr val="111827"/>
              </a:solidFill>
              <a:latin typeface="Georgia"/>
              <a:ea typeface="Georgia"/>
              <a:cs typeface="Georgia"/>
              <a:sym typeface="Georgia"/>
            </a:endParaRPr>
          </a:p>
        </p:txBody>
      </p:sp>
      <p:sp>
        <p:nvSpPr>
          <p:cNvPr id="266" name="Google Shape;266;p17"/>
          <p:cNvSpPr txBox="1"/>
          <p:nvPr/>
        </p:nvSpPr>
        <p:spPr>
          <a:xfrm>
            <a:off x="3058160" y="1915160"/>
            <a:ext cx="729000" cy="7164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3200">
                <a:solidFill>
                  <a:srgbClr val="111827"/>
                </a:solidFill>
                <a:latin typeface="Georgia"/>
                <a:ea typeface="Georgia"/>
                <a:cs typeface="Georgia"/>
                <a:sym typeface="Georgia"/>
              </a:rPr>
              <a:t>Σ</a:t>
            </a:r>
            <a:endParaRPr sz="3200">
              <a:solidFill>
                <a:srgbClr val="111827"/>
              </a:solidFill>
              <a:latin typeface="Georgia"/>
              <a:ea typeface="Georgia"/>
              <a:cs typeface="Georgia"/>
              <a:sym typeface="Georgia"/>
            </a:endParaRPr>
          </a:p>
        </p:txBody>
      </p:sp>
      <p:sp>
        <p:nvSpPr>
          <p:cNvPr id="267" name="Google Shape;267;p17"/>
          <p:cNvSpPr txBox="1"/>
          <p:nvPr/>
        </p:nvSpPr>
        <p:spPr>
          <a:xfrm>
            <a:off x="3108960" y="1864360"/>
            <a:ext cx="627300" cy="436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200">
                <a:solidFill>
                  <a:srgbClr val="111827"/>
                </a:solidFill>
                <a:latin typeface="Georgia"/>
                <a:ea typeface="Georgia"/>
                <a:cs typeface="Georgia"/>
                <a:sym typeface="Georgia"/>
              </a:rPr>
              <a:t>K</a:t>
            </a:r>
            <a:endParaRPr sz="1200">
              <a:solidFill>
                <a:srgbClr val="111827"/>
              </a:solidFill>
              <a:latin typeface="Georgia"/>
              <a:ea typeface="Georgia"/>
              <a:cs typeface="Georgia"/>
              <a:sym typeface="Georgia"/>
            </a:endParaRPr>
          </a:p>
        </p:txBody>
      </p:sp>
      <p:sp>
        <p:nvSpPr>
          <p:cNvPr id="268" name="Google Shape;268;p17"/>
          <p:cNvSpPr txBox="1"/>
          <p:nvPr/>
        </p:nvSpPr>
        <p:spPr>
          <a:xfrm>
            <a:off x="3032760" y="2359660"/>
            <a:ext cx="779700" cy="436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200">
                <a:solidFill>
                  <a:srgbClr val="111827"/>
                </a:solidFill>
                <a:latin typeface="Georgia"/>
                <a:ea typeface="Georgia"/>
                <a:cs typeface="Georgia"/>
                <a:sym typeface="Georgia"/>
              </a:rPr>
              <a:t>j = 1</a:t>
            </a:r>
            <a:endParaRPr sz="1200">
              <a:solidFill>
                <a:srgbClr val="111827"/>
              </a:solidFill>
              <a:latin typeface="Georgia"/>
              <a:ea typeface="Georgia"/>
              <a:cs typeface="Georgia"/>
              <a:sym typeface="Georgia"/>
            </a:endParaRPr>
          </a:p>
        </p:txBody>
      </p:sp>
      <p:sp>
        <p:nvSpPr>
          <p:cNvPr id="269" name="Google Shape;269;p17"/>
          <p:cNvSpPr txBox="1"/>
          <p:nvPr/>
        </p:nvSpPr>
        <p:spPr>
          <a:xfrm>
            <a:off x="3718560" y="2016760"/>
            <a:ext cx="2545200" cy="627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500">
                <a:solidFill>
                  <a:srgbClr val="111827"/>
                </a:solidFill>
                <a:latin typeface="Georgia"/>
                <a:ea typeface="Georgia"/>
                <a:cs typeface="Georgia"/>
                <a:sym typeface="Georgia"/>
              </a:rPr>
              <a:t>exp(z</a:t>
            </a:r>
            <a:r>
              <a:rPr baseline="-25000" lang="zh-CN" sz="2500">
                <a:solidFill>
                  <a:srgbClr val="111827"/>
                </a:solidFill>
                <a:latin typeface="Georgia"/>
                <a:ea typeface="Georgia"/>
                <a:cs typeface="Georgia"/>
                <a:sym typeface="Georgia"/>
              </a:rPr>
              <a:t>j</a:t>
            </a:r>
            <a:r>
              <a:rPr lang="zh-CN" sz="2500">
                <a:solidFill>
                  <a:srgbClr val="111827"/>
                </a:solidFill>
                <a:latin typeface="Georgia"/>
                <a:ea typeface="Georgia"/>
                <a:cs typeface="Georgia"/>
                <a:sym typeface="Georgia"/>
              </a:rPr>
              <a:t> / T)</a:t>
            </a:r>
            <a:endParaRPr sz="2500">
              <a:solidFill>
                <a:srgbClr val="111827"/>
              </a:solidFill>
              <a:latin typeface="Georgia"/>
              <a:ea typeface="Georgia"/>
              <a:cs typeface="Georgia"/>
              <a:sym typeface="Georgia"/>
            </a:endParaRPr>
          </a:p>
        </p:txBody>
      </p:sp>
      <p:sp>
        <p:nvSpPr>
          <p:cNvPr id="270" name="Google Shape;270;p17"/>
          <p:cNvSpPr txBox="1"/>
          <p:nvPr/>
        </p:nvSpPr>
        <p:spPr>
          <a:xfrm>
            <a:off x="6588760" y="1610360"/>
            <a:ext cx="2176800" cy="614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300">
                <a:solidFill>
                  <a:srgbClr val="167985"/>
                </a:solidFill>
                <a:latin typeface="Georgia"/>
                <a:ea typeface="Georgia"/>
                <a:cs typeface="Georgia"/>
                <a:sym typeface="Georgia"/>
              </a:rPr>
              <a:t>T = 1</a:t>
            </a:r>
            <a:endParaRPr sz="2300">
              <a:solidFill>
                <a:srgbClr val="167985"/>
              </a:solidFill>
              <a:latin typeface="Georgia"/>
              <a:ea typeface="Georgia"/>
              <a:cs typeface="Georgia"/>
              <a:sym typeface="Georgia"/>
            </a:endParaRPr>
          </a:p>
        </p:txBody>
      </p:sp>
      <p:sp>
        <p:nvSpPr>
          <p:cNvPr id="271" name="Google Shape;271;p17"/>
          <p:cNvSpPr txBox="1"/>
          <p:nvPr/>
        </p:nvSpPr>
        <p:spPr>
          <a:xfrm>
            <a:off x="6436360" y="2194560"/>
            <a:ext cx="2481600" cy="474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300">
                <a:solidFill>
                  <a:srgbClr val="5E6E80"/>
                </a:solidFill>
              </a:rPr>
              <a:t>Our fresh lab checkpoint</a:t>
            </a:r>
            <a:endParaRPr sz="1300">
              <a:solidFill>
                <a:srgbClr val="5E6E80"/>
              </a:solidFill>
            </a:endParaRPr>
          </a:p>
        </p:txBody>
      </p:sp>
      <p:sp>
        <p:nvSpPr>
          <p:cNvPr id="272" name="Google Shape;272;p17"/>
          <p:cNvSpPr txBox="1"/>
          <p:nvPr/>
        </p:nvSpPr>
        <p:spPr>
          <a:xfrm>
            <a:off x="365760" y="2626360"/>
            <a:ext cx="25452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500">
                <a:solidFill>
                  <a:srgbClr val="5E6E80"/>
                </a:solidFill>
              </a:rPr>
              <a:t>Raw scores</a:t>
            </a:r>
            <a:endParaRPr b="1" sz="1500">
              <a:solidFill>
                <a:srgbClr val="5E6E80"/>
              </a:solidFill>
            </a:endParaRPr>
          </a:p>
        </p:txBody>
      </p:sp>
      <p:sp>
        <p:nvSpPr>
          <p:cNvPr id="273" name="Google Shape;273;p17"/>
          <p:cNvSpPr txBox="1"/>
          <p:nvPr/>
        </p:nvSpPr>
        <p:spPr>
          <a:xfrm>
            <a:off x="3464560" y="2626360"/>
            <a:ext cx="33072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500">
                <a:solidFill>
                  <a:srgbClr val="167985"/>
                </a:solidFill>
              </a:rPr>
              <a:t>Option probabilities</a:t>
            </a:r>
            <a:endParaRPr b="1" sz="1500">
              <a:solidFill>
                <a:srgbClr val="167985"/>
              </a:solidFill>
            </a:endParaRPr>
          </a:p>
        </p:txBody>
      </p:sp>
      <p:sp>
        <p:nvSpPr>
          <p:cNvPr id="274" name="Google Shape;274;p17"/>
          <p:cNvSpPr txBox="1"/>
          <p:nvPr/>
        </p:nvSpPr>
        <p:spPr>
          <a:xfrm>
            <a:off x="7084060" y="2626360"/>
            <a:ext cx="1694100" cy="462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zh-CN" sz="1500">
                <a:solidFill>
                  <a:srgbClr val="B36B17"/>
                </a:solidFill>
              </a:rPr>
              <a:t>Chosen move</a:t>
            </a:r>
            <a:endParaRPr b="1" sz="1500">
              <a:solidFill>
                <a:srgbClr val="B36B17"/>
              </a:solidFill>
            </a:endParaRPr>
          </a:p>
        </p:txBody>
      </p:sp>
      <p:sp>
        <p:nvSpPr>
          <p:cNvPr id="275" name="Google Shape;275;p17"/>
          <p:cNvSpPr txBox="1"/>
          <p:nvPr/>
        </p:nvSpPr>
        <p:spPr>
          <a:xfrm>
            <a:off x="7287260" y="3312160"/>
            <a:ext cx="1491000" cy="627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zh-CN" sz="2300">
                <a:solidFill>
                  <a:srgbClr val="B36B17"/>
                </a:solidFill>
              </a:rPr>
              <a:t>Right</a:t>
            </a:r>
            <a:endParaRPr b="1" sz="2300">
              <a:solidFill>
                <a:srgbClr val="B36B17"/>
              </a:solidFill>
            </a:endParaRPr>
          </a:p>
        </p:txBody>
      </p:sp>
      <p:sp>
        <p:nvSpPr>
          <p:cNvPr id="276" name="Google Shape;276;p17"/>
          <p:cNvSpPr txBox="1"/>
          <p:nvPr/>
        </p:nvSpPr>
        <p:spPr>
          <a:xfrm>
            <a:off x="365760" y="4290060"/>
            <a:ext cx="5301000" cy="602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200">
                <a:solidFill>
                  <a:srgbClr val="111827"/>
                </a:solidFill>
                <a:latin typeface="Georgia"/>
                <a:ea typeface="Georgia"/>
                <a:cs typeface="Georgia"/>
                <a:sym typeface="Georgia"/>
              </a:rPr>
              <a:t>i</a:t>
            </a:r>
            <a:r>
              <a:rPr baseline="30000" lang="zh-CN" sz="2200">
                <a:solidFill>
                  <a:srgbClr val="111827"/>
                </a:solidFill>
                <a:latin typeface="Georgia"/>
                <a:ea typeface="Georgia"/>
                <a:cs typeface="Georgia"/>
                <a:sym typeface="Georgia"/>
              </a:rPr>
              <a:t>*</a:t>
            </a:r>
            <a:r>
              <a:rPr lang="zh-CN" sz="2200">
                <a:solidFill>
                  <a:srgbClr val="111827"/>
                </a:solidFill>
                <a:latin typeface="Georgia"/>
                <a:ea typeface="Georgia"/>
                <a:cs typeface="Georgia"/>
                <a:sym typeface="Georgia"/>
              </a:rPr>
              <a:t> = argmax</a:t>
            </a:r>
            <a:r>
              <a:rPr baseline="-25000" lang="zh-CN" sz="2200">
                <a:solidFill>
                  <a:srgbClr val="111827"/>
                </a:solidFill>
                <a:latin typeface="Georgia"/>
                <a:ea typeface="Georgia"/>
                <a:cs typeface="Georgia"/>
                <a:sym typeface="Georgia"/>
              </a:rPr>
              <a:t>i</a:t>
            </a:r>
            <a:r>
              <a:rPr lang="zh-CN" sz="2200">
                <a:solidFill>
                  <a:srgbClr val="111827"/>
                </a:solidFill>
                <a:latin typeface="Georgia"/>
                <a:ea typeface="Georgia"/>
                <a:cs typeface="Georgia"/>
                <a:sym typeface="Georgia"/>
              </a:rPr>
              <a:t> p(a</a:t>
            </a:r>
            <a:r>
              <a:rPr baseline="-25000" lang="zh-CN" sz="2200">
                <a:solidFill>
                  <a:srgbClr val="111827"/>
                </a:solidFill>
                <a:latin typeface="Georgia"/>
                <a:ea typeface="Georgia"/>
                <a:cs typeface="Georgia"/>
                <a:sym typeface="Georgia"/>
              </a:rPr>
              <a:t>i</a:t>
            </a:r>
            <a:r>
              <a:rPr lang="zh-CN" sz="2200">
                <a:solidFill>
                  <a:srgbClr val="111827"/>
                </a:solidFill>
                <a:latin typeface="Georgia"/>
                <a:ea typeface="Georgia"/>
                <a:cs typeface="Georgia"/>
                <a:sym typeface="Georgia"/>
              </a:rPr>
              <a:t> | s)</a:t>
            </a:r>
            <a:endParaRPr sz="2200">
              <a:solidFill>
                <a:srgbClr val="111827"/>
              </a:solidFill>
              <a:latin typeface="Georgia"/>
              <a:ea typeface="Georgia"/>
              <a:cs typeface="Georgia"/>
              <a:sym typeface="Georgia"/>
            </a:endParaRPr>
          </a:p>
        </p:txBody>
      </p:sp>
      <p:sp>
        <p:nvSpPr>
          <p:cNvPr id="277" name="Google Shape;277;p17"/>
          <p:cNvSpPr txBox="1"/>
          <p:nvPr/>
        </p:nvSpPr>
        <p:spPr>
          <a:xfrm>
            <a:off x="5610860" y="4290060"/>
            <a:ext cx="3167400" cy="602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200">
                <a:solidFill>
                  <a:srgbClr val="111827"/>
                </a:solidFill>
                <a:latin typeface="Georgia"/>
                <a:ea typeface="Georgia"/>
                <a:cs typeface="Georgia"/>
                <a:sym typeface="Georgia"/>
              </a:rPr>
              <a:t>a</a:t>
            </a:r>
            <a:r>
              <a:rPr baseline="30000" lang="zh-CN" sz="2200">
                <a:solidFill>
                  <a:srgbClr val="111827"/>
                </a:solidFill>
                <a:latin typeface="Georgia"/>
                <a:ea typeface="Georgia"/>
                <a:cs typeface="Georgia"/>
                <a:sym typeface="Georgia"/>
              </a:rPr>
              <a:t>*</a:t>
            </a:r>
            <a:r>
              <a:rPr lang="zh-CN" sz="2200">
                <a:solidFill>
                  <a:srgbClr val="111827"/>
                </a:solidFill>
                <a:latin typeface="Georgia"/>
                <a:ea typeface="Georgia"/>
                <a:cs typeface="Georgia"/>
                <a:sym typeface="Georgia"/>
              </a:rPr>
              <a:t> = a</a:t>
            </a:r>
            <a:r>
              <a:rPr baseline="-25000" lang="zh-CN" sz="2200">
                <a:solidFill>
                  <a:srgbClr val="111827"/>
                </a:solidFill>
                <a:latin typeface="Georgia"/>
                <a:ea typeface="Georgia"/>
                <a:cs typeface="Georgia"/>
                <a:sym typeface="Georgia"/>
              </a:rPr>
              <a:t>i*</a:t>
            </a:r>
            <a:endParaRPr baseline="-25000" sz="2200">
              <a:solidFill>
                <a:srgbClr val="111827"/>
              </a:solidFill>
              <a:latin typeface="Georgia"/>
              <a:ea typeface="Georgia"/>
              <a:cs typeface="Georgia"/>
              <a:sym typeface="Georgia"/>
            </a:endParaRPr>
          </a:p>
        </p:txBody>
      </p:sp>
      <p:sp>
        <p:nvSpPr>
          <p:cNvPr id="278" name="Google Shape;278;p17"/>
          <p:cNvSpPr txBox="1"/>
          <p:nvPr/>
        </p:nvSpPr>
        <p:spPr>
          <a:xfrm>
            <a:off x="530860" y="3007360"/>
            <a:ext cx="14784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600">
                <a:solidFill>
                  <a:srgbClr val="111827"/>
                </a:solidFill>
              </a:rPr>
              <a:t>Left</a:t>
            </a:r>
            <a:endParaRPr sz="1600">
              <a:solidFill>
                <a:srgbClr val="111827"/>
              </a:solidFill>
            </a:endParaRPr>
          </a:p>
        </p:txBody>
      </p:sp>
      <p:sp>
        <p:nvSpPr>
          <p:cNvPr id="279" name="Google Shape;279;p17"/>
          <p:cNvSpPr txBox="1"/>
          <p:nvPr/>
        </p:nvSpPr>
        <p:spPr>
          <a:xfrm>
            <a:off x="1889760" y="3007360"/>
            <a:ext cx="830700" cy="5004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600">
                <a:solidFill>
                  <a:srgbClr val="111827"/>
                </a:solidFill>
                <a:latin typeface="Georgia"/>
                <a:ea typeface="Georgia"/>
                <a:cs typeface="Georgia"/>
                <a:sym typeface="Georgia"/>
              </a:rPr>
              <a:t>1.0</a:t>
            </a:r>
            <a:endParaRPr sz="1600">
              <a:solidFill>
                <a:srgbClr val="111827"/>
              </a:solidFill>
              <a:latin typeface="Georgia"/>
              <a:ea typeface="Georgia"/>
              <a:cs typeface="Georgia"/>
              <a:sym typeface="Georgia"/>
            </a:endParaRPr>
          </a:p>
        </p:txBody>
      </p:sp>
      <p:sp>
        <p:nvSpPr>
          <p:cNvPr id="280" name="Google Shape;280;p17"/>
          <p:cNvSpPr txBox="1"/>
          <p:nvPr/>
        </p:nvSpPr>
        <p:spPr>
          <a:xfrm>
            <a:off x="530860" y="3337560"/>
            <a:ext cx="14784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600">
                <a:solidFill>
                  <a:srgbClr val="111827"/>
                </a:solidFill>
              </a:rPr>
              <a:t>Up</a:t>
            </a:r>
            <a:endParaRPr sz="1600">
              <a:solidFill>
                <a:srgbClr val="111827"/>
              </a:solidFill>
            </a:endParaRPr>
          </a:p>
        </p:txBody>
      </p:sp>
      <p:sp>
        <p:nvSpPr>
          <p:cNvPr id="281" name="Google Shape;281;p17"/>
          <p:cNvSpPr txBox="1"/>
          <p:nvPr/>
        </p:nvSpPr>
        <p:spPr>
          <a:xfrm>
            <a:off x="1889760" y="3337560"/>
            <a:ext cx="830700" cy="5004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600">
                <a:solidFill>
                  <a:srgbClr val="111827"/>
                </a:solidFill>
                <a:latin typeface="Georgia"/>
                <a:ea typeface="Georgia"/>
                <a:cs typeface="Georgia"/>
                <a:sym typeface="Georgia"/>
              </a:rPr>
              <a:t>0.0</a:t>
            </a:r>
            <a:endParaRPr sz="1600">
              <a:solidFill>
                <a:srgbClr val="111827"/>
              </a:solidFill>
              <a:latin typeface="Georgia"/>
              <a:ea typeface="Georgia"/>
              <a:cs typeface="Georgia"/>
              <a:sym typeface="Georgia"/>
            </a:endParaRPr>
          </a:p>
        </p:txBody>
      </p:sp>
      <p:sp>
        <p:nvSpPr>
          <p:cNvPr id="282" name="Google Shape;282;p17"/>
          <p:cNvSpPr txBox="1"/>
          <p:nvPr/>
        </p:nvSpPr>
        <p:spPr>
          <a:xfrm>
            <a:off x="530860" y="3667760"/>
            <a:ext cx="14784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600">
                <a:solidFill>
                  <a:srgbClr val="111827"/>
                </a:solidFill>
              </a:rPr>
              <a:t>Right</a:t>
            </a:r>
            <a:endParaRPr sz="1600">
              <a:solidFill>
                <a:srgbClr val="111827"/>
              </a:solidFill>
            </a:endParaRPr>
          </a:p>
        </p:txBody>
      </p:sp>
      <p:sp>
        <p:nvSpPr>
          <p:cNvPr id="283" name="Google Shape;283;p17"/>
          <p:cNvSpPr txBox="1"/>
          <p:nvPr/>
        </p:nvSpPr>
        <p:spPr>
          <a:xfrm>
            <a:off x="1889760" y="3667760"/>
            <a:ext cx="830700" cy="5004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600">
                <a:solidFill>
                  <a:srgbClr val="111827"/>
                </a:solidFill>
                <a:latin typeface="Georgia"/>
                <a:ea typeface="Georgia"/>
                <a:cs typeface="Georgia"/>
                <a:sym typeface="Georgia"/>
              </a:rPr>
              <a:t>2.0</a:t>
            </a:r>
            <a:endParaRPr sz="1600">
              <a:solidFill>
                <a:srgbClr val="111827"/>
              </a:solidFill>
              <a:latin typeface="Georgia"/>
              <a:ea typeface="Georgia"/>
              <a:cs typeface="Georgia"/>
              <a:sym typeface="Georgia"/>
            </a:endParaRPr>
          </a:p>
        </p:txBody>
      </p:sp>
      <p:sp>
        <p:nvSpPr>
          <p:cNvPr id="284" name="Google Shape;284;p17"/>
          <p:cNvSpPr txBox="1"/>
          <p:nvPr/>
        </p:nvSpPr>
        <p:spPr>
          <a:xfrm>
            <a:off x="5712460" y="3007360"/>
            <a:ext cx="919500" cy="5004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500">
                <a:solidFill>
                  <a:srgbClr val="167985"/>
                </a:solidFill>
              </a:rPr>
              <a:t>24.5%</a:t>
            </a:r>
            <a:endParaRPr sz="1500">
              <a:solidFill>
                <a:srgbClr val="167985"/>
              </a:solidFill>
            </a:endParaRPr>
          </a:p>
        </p:txBody>
      </p:sp>
      <p:sp>
        <p:nvSpPr>
          <p:cNvPr id="285" name="Google Shape;285;p17"/>
          <p:cNvSpPr txBox="1"/>
          <p:nvPr/>
        </p:nvSpPr>
        <p:spPr>
          <a:xfrm>
            <a:off x="5712460" y="3337560"/>
            <a:ext cx="919500" cy="5004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500">
                <a:solidFill>
                  <a:srgbClr val="167985"/>
                </a:solidFill>
              </a:rPr>
              <a:t>9.0%</a:t>
            </a:r>
            <a:endParaRPr sz="1500">
              <a:solidFill>
                <a:srgbClr val="167985"/>
              </a:solidFill>
            </a:endParaRPr>
          </a:p>
        </p:txBody>
      </p:sp>
      <p:sp>
        <p:nvSpPr>
          <p:cNvPr id="286" name="Google Shape;286;p17"/>
          <p:cNvSpPr txBox="1"/>
          <p:nvPr/>
        </p:nvSpPr>
        <p:spPr>
          <a:xfrm>
            <a:off x="5712460" y="3667760"/>
            <a:ext cx="919500" cy="5004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500">
                <a:solidFill>
                  <a:srgbClr val="B36B17"/>
                </a:solidFill>
              </a:rPr>
              <a:t>66.5%</a:t>
            </a:r>
            <a:endParaRPr sz="1500">
              <a:solidFill>
                <a:srgbClr val="B36B17"/>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pic>
        <p:nvPicPr>
          <p:cNvPr descr="Highlights the cold state and question-row passes, direct option scores, first answer token from prefill and later sequential decode passes. The footer opens Play, pause and step controls. Static diagram and mathematics remain native editable objects." id="291" name="Google Shape;291;p18" title="Animated Kev direct decision versus autoregressive answer output"/>
          <p:cNvPicPr preferRelativeResize="0"/>
          <p:nvPr/>
        </p:nvPicPr>
        <p:blipFill>
          <a:blip r:embed="rId3">
            <a:alphaModFix/>
          </a:blip>
          <a:stretch>
            <a:fillRect/>
          </a:stretch>
        </p:blipFill>
        <p:spPr>
          <a:xfrm>
            <a:off x="330200" y="1384300"/>
            <a:ext cx="8559800" cy="3454400"/>
          </a:xfrm>
          <a:prstGeom prst="rect">
            <a:avLst/>
          </a:prstGeom>
          <a:noFill/>
          <a:ln>
            <a:noFill/>
          </a:ln>
        </p:spPr>
      </p:pic>
      <p:sp>
        <p:nvSpPr>
          <p:cNvPr id="292" name="Google Shape;292;p18"/>
          <p:cNvSpPr txBox="1"/>
          <p:nvPr>
            <p:ph type="title"/>
          </p:nvPr>
        </p:nvSpPr>
        <p:spPr>
          <a:xfrm>
            <a:off x="365760" y="226060"/>
            <a:ext cx="8412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3000">
                <a:solidFill>
                  <a:srgbClr val="111827"/>
                </a:solidFill>
              </a:rPr>
              <a:t>Why Kev avoids the answer-token loop</a:t>
            </a:r>
            <a:endParaRPr b="1" sz="3000">
              <a:solidFill>
                <a:srgbClr val="111827"/>
              </a:solidFill>
            </a:endParaRPr>
          </a:p>
        </p:txBody>
      </p:sp>
      <p:sp>
        <p:nvSpPr>
          <p:cNvPr id="293" name="Google Shape;293;p18"/>
          <p:cNvSpPr txBox="1"/>
          <p:nvPr/>
        </p:nvSpPr>
        <p:spPr>
          <a:xfrm>
            <a:off x="365760" y="4772660"/>
            <a:ext cx="7993500" cy="3987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zh-CN" sz="900">
                <a:solidFill>
                  <a:srgbClr val="5E6E80"/>
                </a:solidFill>
              </a:rPr>
              <a:t>Illustrative M = 4 answer. Counts exclude backbone work.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294" name="Google Shape;294;p18"/>
          <p:cNvSpPr txBox="1"/>
          <p:nvPr/>
        </p:nvSpPr>
        <p:spPr>
          <a:xfrm>
            <a:off x="8354060" y="4772660"/>
            <a:ext cx="4242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6</a:t>
            </a:r>
            <a:endParaRPr sz="900">
              <a:solidFill>
                <a:srgbClr val="5E6E80"/>
              </a:solidFill>
            </a:endParaRPr>
          </a:p>
        </p:txBody>
      </p:sp>
      <p:sp>
        <p:nvSpPr>
          <p:cNvPr id="295" name="Google Shape;295;p18"/>
          <p:cNvSpPr/>
          <p:nvPr/>
        </p:nvSpPr>
        <p:spPr>
          <a:xfrm>
            <a:off x="1524000" y="1460500"/>
            <a:ext cx="1460400" cy="6351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18"/>
          <p:cNvSpPr/>
          <p:nvPr/>
        </p:nvSpPr>
        <p:spPr>
          <a:xfrm>
            <a:off x="3365500" y="1460500"/>
            <a:ext cx="1676400" cy="6351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p18"/>
          <p:cNvSpPr/>
          <p:nvPr/>
        </p:nvSpPr>
        <p:spPr>
          <a:xfrm>
            <a:off x="5461000" y="1460500"/>
            <a:ext cx="1650900" cy="6351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18"/>
          <p:cNvSpPr/>
          <p:nvPr/>
        </p:nvSpPr>
        <p:spPr>
          <a:xfrm>
            <a:off x="7493000" y="1460500"/>
            <a:ext cx="1193700" cy="6351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18"/>
          <p:cNvSpPr/>
          <p:nvPr/>
        </p:nvSpPr>
        <p:spPr>
          <a:xfrm>
            <a:off x="1524000" y="2679700"/>
            <a:ext cx="1854300" cy="6351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18"/>
          <p:cNvSpPr/>
          <p:nvPr/>
        </p:nvSpPr>
        <p:spPr>
          <a:xfrm>
            <a:off x="3835400" y="2679700"/>
            <a:ext cx="863700" cy="6351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18"/>
          <p:cNvSpPr/>
          <p:nvPr/>
        </p:nvSpPr>
        <p:spPr>
          <a:xfrm>
            <a:off x="5016500" y="2679700"/>
            <a:ext cx="863700" cy="6351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18"/>
          <p:cNvSpPr/>
          <p:nvPr/>
        </p:nvSpPr>
        <p:spPr>
          <a:xfrm>
            <a:off x="6197600" y="2679700"/>
            <a:ext cx="863700" cy="6351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18"/>
          <p:cNvSpPr/>
          <p:nvPr/>
        </p:nvSpPr>
        <p:spPr>
          <a:xfrm>
            <a:off x="7378700" y="2679700"/>
            <a:ext cx="863700" cy="6351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04" name="Google Shape;304;p18"/>
          <p:cNvCxnSpPr/>
          <p:nvPr/>
        </p:nvCxnSpPr>
        <p:spPr>
          <a:xfrm>
            <a:off x="3009900" y="1778000"/>
            <a:ext cx="292200" cy="0"/>
          </a:xfrm>
          <a:prstGeom prst="straightConnector1">
            <a:avLst/>
          </a:prstGeom>
          <a:noFill/>
          <a:ln cap="flat" cmpd="sng" w="15250">
            <a:solidFill>
              <a:srgbClr val="5E6E80"/>
            </a:solidFill>
            <a:prstDash val="solid"/>
            <a:round/>
            <a:headEnd len="med" w="med" type="none"/>
            <a:tailEnd len="med" w="med" type="triangle"/>
          </a:ln>
        </p:spPr>
      </p:cxnSp>
      <p:cxnSp>
        <p:nvCxnSpPr>
          <p:cNvPr id="305" name="Google Shape;305;p18"/>
          <p:cNvCxnSpPr/>
          <p:nvPr/>
        </p:nvCxnSpPr>
        <p:spPr>
          <a:xfrm>
            <a:off x="5080000" y="1778000"/>
            <a:ext cx="317400" cy="0"/>
          </a:xfrm>
          <a:prstGeom prst="straightConnector1">
            <a:avLst/>
          </a:prstGeom>
          <a:noFill/>
          <a:ln cap="flat" cmpd="sng" w="15250">
            <a:solidFill>
              <a:srgbClr val="5E6E80"/>
            </a:solidFill>
            <a:prstDash val="solid"/>
            <a:round/>
            <a:headEnd len="med" w="med" type="none"/>
            <a:tailEnd len="med" w="med" type="triangle"/>
          </a:ln>
        </p:spPr>
      </p:cxnSp>
      <p:cxnSp>
        <p:nvCxnSpPr>
          <p:cNvPr id="306" name="Google Shape;306;p18"/>
          <p:cNvCxnSpPr/>
          <p:nvPr/>
        </p:nvCxnSpPr>
        <p:spPr>
          <a:xfrm>
            <a:off x="7137400" y="1778000"/>
            <a:ext cx="292200" cy="0"/>
          </a:xfrm>
          <a:prstGeom prst="straightConnector1">
            <a:avLst/>
          </a:prstGeom>
          <a:noFill/>
          <a:ln cap="flat" cmpd="sng" w="15250">
            <a:solidFill>
              <a:srgbClr val="5E6E80"/>
            </a:solidFill>
            <a:prstDash val="solid"/>
            <a:round/>
            <a:headEnd len="med" w="med" type="none"/>
            <a:tailEnd len="med" w="med" type="triangle"/>
          </a:ln>
        </p:spPr>
      </p:cxnSp>
      <p:cxnSp>
        <p:nvCxnSpPr>
          <p:cNvPr id="307" name="Google Shape;307;p18"/>
          <p:cNvCxnSpPr/>
          <p:nvPr/>
        </p:nvCxnSpPr>
        <p:spPr>
          <a:xfrm>
            <a:off x="3403600" y="2997200"/>
            <a:ext cx="368400" cy="0"/>
          </a:xfrm>
          <a:prstGeom prst="straightConnector1">
            <a:avLst/>
          </a:prstGeom>
          <a:noFill/>
          <a:ln cap="flat" cmpd="sng" w="15250">
            <a:solidFill>
              <a:srgbClr val="5E6E80"/>
            </a:solidFill>
            <a:prstDash val="solid"/>
            <a:round/>
            <a:headEnd len="med" w="med" type="none"/>
            <a:tailEnd len="med" w="med" type="triangle"/>
          </a:ln>
        </p:spPr>
      </p:cxnSp>
      <p:cxnSp>
        <p:nvCxnSpPr>
          <p:cNvPr id="308" name="Google Shape;308;p18"/>
          <p:cNvCxnSpPr/>
          <p:nvPr/>
        </p:nvCxnSpPr>
        <p:spPr>
          <a:xfrm>
            <a:off x="4724400" y="2997200"/>
            <a:ext cx="228600" cy="0"/>
          </a:xfrm>
          <a:prstGeom prst="straightConnector1">
            <a:avLst/>
          </a:prstGeom>
          <a:noFill/>
          <a:ln cap="flat" cmpd="sng" w="15250">
            <a:solidFill>
              <a:srgbClr val="5E6E80"/>
            </a:solidFill>
            <a:prstDash val="solid"/>
            <a:round/>
            <a:headEnd len="med" w="med" type="none"/>
            <a:tailEnd len="med" w="med" type="triangle"/>
          </a:ln>
        </p:spPr>
      </p:cxnSp>
      <p:cxnSp>
        <p:nvCxnSpPr>
          <p:cNvPr id="309" name="Google Shape;309;p18"/>
          <p:cNvCxnSpPr/>
          <p:nvPr/>
        </p:nvCxnSpPr>
        <p:spPr>
          <a:xfrm>
            <a:off x="5905500" y="2997200"/>
            <a:ext cx="228600" cy="0"/>
          </a:xfrm>
          <a:prstGeom prst="straightConnector1">
            <a:avLst/>
          </a:prstGeom>
          <a:noFill/>
          <a:ln cap="flat" cmpd="sng" w="15250">
            <a:solidFill>
              <a:srgbClr val="5E6E80"/>
            </a:solidFill>
            <a:prstDash val="solid"/>
            <a:round/>
            <a:headEnd len="med" w="med" type="none"/>
            <a:tailEnd len="med" w="med" type="triangle"/>
          </a:ln>
        </p:spPr>
      </p:cxnSp>
      <p:cxnSp>
        <p:nvCxnSpPr>
          <p:cNvPr id="310" name="Google Shape;310;p18"/>
          <p:cNvCxnSpPr/>
          <p:nvPr/>
        </p:nvCxnSpPr>
        <p:spPr>
          <a:xfrm>
            <a:off x="7086600" y="2997200"/>
            <a:ext cx="228600" cy="0"/>
          </a:xfrm>
          <a:prstGeom prst="straightConnector1">
            <a:avLst/>
          </a:prstGeom>
          <a:noFill/>
          <a:ln cap="flat" cmpd="sng" w="15250">
            <a:solidFill>
              <a:srgbClr val="5E6E80"/>
            </a:solidFill>
            <a:prstDash val="solid"/>
            <a:round/>
            <a:headEnd len="med" w="med" type="none"/>
            <a:tailEnd len="med" w="med" type="triangle"/>
          </a:ln>
        </p:spPr>
      </p:cxnSp>
      <p:sp>
        <p:nvSpPr>
          <p:cNvPr id="311" name="Google Shape;311;p18"/>
          <p:cNvSpPr txBox="1"/>
          <p:nvPr/>
        </p:nvSpPr>
        <p:spPr>
          <a:xfrm>
            <a:off x="365760" y="873760"/>
            <a:ext cx="84126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700">
                <a:solidFill>
                  <a:srgbClr val="111827"/>
                </a:solidFill>
              </a:rPr>
              <a:t>The backbone reads the input. The pointer head returns K scores.</a:t>
            </a:r>
            <a:endParaRPr sz="1700">
              <a:solidFill>
                <a:srgbClr val="111827"/>
              </a:solidFill>
            </a:endParaRPr>
          </a:p>
        </p:txBody>
      </p:sp>
      <p:sp>
        <p:nvSpPr>
          <p:cNvPr id="312" name="Google Shape;312;p18"/>
          <p:cNvSpPr txBox="1"/>
          <p:nvPr/>
        </p:nvSpPr>
        <p:spPr>
          <a:xfrm>
            <a:off x="365760" y="1534160"/>
            <a:ext cx="1084500" cy="52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600">
                <a:solidFill>
                  <a:srgbClr val="167985"/>
                </a:solidFill>
              </a:rPr>
              <a:t>Kev</a:t>
            </a:r>
            <a:endParaRPr b="1" sz="1600">
              <a:solidFill>
                <a:srgbClr val="167985"/>
              </a:solidFill>
            </a:endParaRPr>
          </a:p>
        </p:txBody>
      </p:sp>
      <p:sp>
        <p:nvSpPr>
          <p:cNvPr id="313" name="Google Shape;313;p18"/>
          <p:cNvSpPr txBox="1"/>
          <p:nvPr/>
        </p:nvSpPr>
        <p:spPr>
          <a:xfrm>
            <a:off x="1432560" y="1572260"/>
            <a:ext cx="16434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600">
                <a:solidFill>
                  <a:srgbClr val="111827"/>
                </a:solidFill>
              </a:rPr>
              <a:t>Read state</a:t>
            </a:r>
            <a:endParaRPr sz="1600">
              <a:solidFill>
                <a:srgbClr val="111827"/>
              </a:solidFill>
            </a:endParaRPr>
          </a:p>
        </p:txBody>
      </p:sp>
      <p:sp>
        <p:nvSpPr>
          <p:cNvPr id="314" name="Google Shape;314;p18"/>
          <p:cNvSpPr txBox="1"/>
          <p:nvPr/>
        </p:nvSpPr>
        <p:spPr>
          <a:xfrm>
            <a:off x="3274060" y="1432560"/>
            <a:ext cx="1859400" cy="487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500">
                <a:solidFill>
                  <a:srgbClr val="111827"/>
                </a:solidFill>
              </a:rPr>
              <a:t>Question +</a:t>
            </a:r>
            <a:endParaRPr sz="1500">
              <a:solidFill>
                <a:srgbClr val="111827"/>
              </a:solidFill>
            </a:endParaRPr>
          </a:p>
        </p:txBody>
      </p:sp>
      <p:sp>
        <p:nvSpPr>
          <p:cNvPr id="315" name="Google Shape;315;p18"/>
          <p:cNvSpPr txBox="1"/>
          <p:nvPr/>
        </p:nvSpPr>
        <p:spPr>
          <a:xfrm>
            <a:off x="3274060" y="1673860"/>
            <a:ext cx="1859400" cy="487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500">
                <a:solidFill>
                  <a:srgbClr val="111827"/>
                </a:solidFill>
              </a:rPr>
              <a:t>all options</a:t>
            </a:r>
            <a:endParaRPr sz="1500">
              <a:solidFill>
                <a:srgbClr val="111827"/>
              </a:solidFill>
            </a:endParaRPr>
          </a:p>
        </p:txBody>
      </p:sp>
      <p:sp>
        <p:nvSpPr>
          <p:cNvPr id="316" name="Google Shape;316;p18"/>
          <p:cNvSpPr txBox="1"/>
          <p:nvPr/>
        </p:nvSpPr>
        <p:spPr>
          <a:xfrm>
            <a:off x="5369560" y="1432560"/>
            <a:ext cx="1833900" cy="487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500">
                <a:solidFill>
                  <a:srgbClr val="111827"/>
                </a:solidFill>
              </a:rPr>
              <a:t>K option</a:t>
            </a:r>
            <a:endParaRPr sz="1500">
              <a:solidFill>
                <a:srgbClr val="111827"/>
              </a:solidFill>
            </a:endParaRPr>
          </a:p>
        </p:txBody>
      </p:sp>
      <p:sp>
        <p:nvSpPr>
          <p:cNvPr id="317" name="Google Shape;317;p18"/>
          <p:cNvSpPr txBox="1"/>
          <p:nvPr/>
        </p:nvSpPr>
        <p:spPr>
          <a:xfrm>
            <a:off x="5369560" y="1673860"/>
            <a:ext cx="1833900" cy="487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500">
                <a:solidFill>
                  <a:srgbClr val="111827"/>
                </a:solidFill>
              </a:rPr>
              <a:t>scores</a:t>
            </a:r>
            <a:endParaRPr sz="1500">
              <a:solidFill>
                <a:srgbClr val="111827"/>
              </a:solidFill>
            </a:endParaRPr>
          </a:p>
        </p:txBody>
      </p:sp>
      <p:sp>
        <p:nvSpPr>
          <p:cNvPr id="318" name="Google Shape;318;p18"/>
          <p:cNvSpPr txBox="1"/>
          <p:nvPr/>
        </p:nvSpPr>
        <p:spPr>
          <a:xfrm>
            <a:off x="7401560" y="1559560"/>
            <a:ext cx="1376700" cy="564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zh-CN" sz="1900">
                <a:solidFill>
                  <a:srgbClr val="B36B17"/>
                </a:solidFill>
              </a:rPr>
              <a:t>Right</a:t>
            </a:r>
            <a:endParaRPr b="1" sz="1900">
              <a:solidFill>
                <a:srgbClr val="B36B17"/>
              </a:solidFill>
            </a:endParaRPr>
          </a:p>
        </p:txBody>
      </p:sp>
      <p:sp>
        <p:nvSpPr>
          <p:cNvPr id="319" name="Google Shape;319;p18"/>
          <p:cNvSpPr txBox="1"/>
          <p:nvPr/>
        </p:nvSpPr>
        <p:spPr>
          <a:xfrm>
            <a:off x="1432560" y="2105660"/>
            <a:ext cx="3967500" cy="449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300">
                <a:solidFill>
                  <a:srgbClr val="5E6E80"/>
                </a:solidFill>
              </a:rPr>
              <a:t>Cold Qwen3.5: state pass + question row</a:t>
            </a:r>
            <a:endParaRPr sz="1300">
              <a:solidFill>
                <a:srgbClr val="5E6E80"/>
              </a:solidFill>
            </a:endParaRPr>
          </a:p>
        </p:txBody>
      </p:sp>
      <p:sp>
        <p:nvSpPr>
          <p:cNvPr id="320" name="Google Shape;320;p18"/>
          <p:cNvSpPr txBox="1"/>
          <p:nvPr/>
        </p:nvSpPr>
        <p:spPr>
          <a:xfrm>
            <a:off x="5369560" y="2105660"/>
            <a:ext cx="3408600" cy="449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300">
                <a:solidFill>
                  <a:srgbClr val="5E6E80"/>
                </a:solidFill>
              </a:rPr>
              <a:t>No generated answer tokens</a:t>
            </a:r>
            <a:endParaRPr sz="1300">
              <a:solidFill>
                <a:srgbClr val="5E6E80"/>
              </a:solidFill>
            </a:endParaRPr>
          </a:p>
        </p:txBody>
      </p:sp>
      <p:sp>
        <p:nvSpPr>
          <p:cNvPr id="321" name="Google Shape;321;p18"/>
          <p:cNvSpPr txBox="1"/>
          <p:nvPr/>
        </p:nvSpPr>
        <p:spPr>
          <a:xfrm>
            <a:off x="365760" y="2651760"/>
            <a:ext cx="1122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600">
                <a:solidFill>
                  <a:srgbClr val="167985"/>
                </a:solidFill>
              </a:rPr>
              <a:t>Text</a:t>
            </a:r>
            <a:endParaRPr b="1" sz="1600">
              <a:solidFill>
                <a:srgbClr val="167985"/>
              </a:solidFill>
            </a:endParaRPr>
          </a:p>
          <a:p>
            <a:pPr indent="0" lvl="0" marL="0" rtl="0" algn="l">
              <a:lnSpc>
                <a:spcPct val="110000"/>
              </a:lnSpc>
              <a:spcBef>
                <a:spcPts val="0"/>
              </a:spcBef>
              <a:spcAft>
                <a:spcPts val="0"/>
              </a:spcAft>
              <a:buNone/>
            </a:pPr>
            <a:r>
              <a:rPr b="1" lang="zh-CN" sz="1600">
                <a:solidFill>
                  <a:srgbClr val="167985"/>
                </a:solidFill>
              </a:rPr>
              <a:t>output</a:t>
            </a:r>
            <a:endParaRPr b="1" sz="1600">
              <a:solidFill>
                <a:srgbClr val="167985"/>
              </a:solidFill>
            </a:endParaRPr>
          </a:p>
        </p:txBody>
      </p:sp>
      <p:sp>
        <p:nvSpPr>
          <p:cNvPr id="322" name="Google Shape;322;p18"/>
          <p:cNvSpPr txBox="1"/>
          <p:nvPr/>
        </p:nvSpPr>
        <p:spPr>
          <a:xfrm>
            <a:off x="1432560" y="2791460"/>
            <a:ext cx="20370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600">
                <a:solidFill>
                  <a:srgbClr val="111827"/>
                </a:solidFill>
              </a:rPr>
              <a:t>Read prompt</a:t>
            </a:r>
            <a:endParaRPr sz="1600">
              <a:solidFill>
                <a:srgbClr val="111827"/>
              </a:solidFill>
            </a:endParaRPr>
          </a:p>
        </p:txBody>
      </p:sp>
      <p:sp>
        <p:nvSpPr>
          <p:cNvPr id="323" name="Google Shape;323;p18"/>
          <p:cNvSpPr txBox="1"/>
          <p:nvPr/>
        </p:nvSpPr>
        <p:spPr>
          <a:xfrm>
            <a:off x="3604260" y="3324860"/>
            <a:ext cx="1326000" cy="449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300">
                <a:solidFill>
                  <a:srgbClr val="5E6E80"/>
                </a:solidFill>
              </a:rPr>
              <a:t>From prefill</a:t>
            </a:r>
            <a:endParaRPr sz="1300">
              <a:solidFill>
                <a:srgbClr val="5E6E80"/>
              </a:solidFill>
            </a:endParaRPr>
          </a:p>
        </p:txBody>
      </p:sp>
      <p:sp>
        <p:nvSpPr>
          <p:cNvPr id="324" name="Google Shape;324;p18"/>
          <p:cNvSpPr txBox="1"/>
          <p:nvPr/>
        </p:nvSpPr>
        <p:spPr>
          <a:xfrm>
            <a:off x="4759960" y="3324860"/>
            <a:ext cx="4018200" cy="449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300">
                <a:solidFill>
                  <a:srgbClr val="B36B17"/>
                </a:solidFill>
              </a:rPr>
              <a:t>M = 4: 3 extra decode passes</a:t>
            </a:r>
            <a:endParaRPr sz="1300">
              <a:solidFill>
                <a:srgbClr val="B36B17"/>
              </a:solidFill>
            </a:endParaRPr>
          </a:p>
        </p:txBody>
      </p:sp>
      <p:sp>
        <p:nvSpPr>
          <p:cNvPr id="325" name="Google Shape;325;p18"/>
          <p:cNvSpPr txBox="1"/>
          <p:nvPr/>
        </p:nvSpPr>
        <p:spPr>
          <a:xfrm>
            <a:off x="365760" y="3820160"/>
            <a:ext cx="5936100" cy="602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300">
                <a:solidFill>
                  <a:srgbClr val="111827"/>
                </a:solidFill>
                <a:latin typeface="Georgia"/>
                <a:ea typeface="Georgia"/>
                <a:cs typeface="Georgia"/>
                <a:sym typeface="Georgia"/>
              </a:rPr>
              <a:t>R</a:t>
            </a:r>
            <a:r>
              <a:rPr baseline="-25000" lang="zh-CN" sz="2300">
                <a:solidFill>
                  <a:srgbClr val="111827"/>
                </a:solidFill>
                <a:latin typeface="Georgia"/>
                <a:ea typeface="Georgia"/>
                <a:cs typeface="Georgia"/>
                <a:sym typeface="Georgia"/>
              </a:rPr>
              <a:t>Kev</a:t>
            </a:r>
            <a:r>
              <a:rPr lang="zh-CN" sz="2300">
                <a:solidFill>
                  <a:srgbClr val="111827"/>
                </a:solidFill>
                <a:latin typeface="Georgia"/>
                <a:ea typeface="Georgia"/>
                <a:cs typeface="Georgia"/>
                <a:sym typeface="Georgia"/>
              </a:rPr>
              <a:t> ≈ (K + 1) d d</a:t>
            </a:r>
            <a:r>
              <a:rPr baseline="-25000" lang="zh-CN" sz="2300">
                <a:solidFill>
                  <a:srgbClr val="111827"/>
                </a:solidFill>
                <a:latin typeface="Georgia"/>
                <a:ea typeface="Georgia"/>
                <a:cs typeface="Georgia"/>
                <a:sym typeface="Georgia"/>
              </a:rPr>
              <a:t>p</a:t>
            </a:r>
            <a:r>
              <a:rPr lang="zh-CN" sz="2300">
                <a:solidFill>
                  <a:srgbClr val="111827"/>
                </a:solidFill>
                <a:latin typeface="Georgia"/>
                <a:ea typeface="Georgia"/>
                <a:cs typeface="Georgia"/>
                <a:sym typeface="Georgia"/>
              </a:rPr>
              <a:t> + K d</a:t>
            </a:r>
            <a:r>
              <a:rPr baseline="-25000" lang="zh-CN" sz="2300">
                <a:solidFill>
                  <a:srgbClr val="111827"/>
                </a:solidFill>
                <a:latin typeface="Georgia"/>
                <a:ea typeface="Georgia"/>
                <a:cs typeface="Georgia"/>
                <a:sym typeface="Georgia"/>
              </a:rPr>
              <a:t>p</a:t>
            </a:r>
            <a:endParaRPr baseline="-25000" sz="2300">
              <a:solidFill>
                <a:srgbClr val="111827"/>
              </a:solidFill>
              <a:latin typeface="Georgia"/>
              <a:ea typeface="Georgia"/>
              <a:cs typeface="Georgia"/>
              <a:sym typeface="Georgia"/>
            </a:endParaRPr>
          </a:p>
        </p:txBody>
      </p:sp>
      <p:sp>
        <p:nvSpPr>
          <p:cNvPr id="326" name="Google Shape;326;p18"/>
          <p:cNvSpPr txBox="1"/>
          <p:nvPr/>
        </p:nvSpPr>
        <p:spPr>
          <a:xfrm>
            <a:off x="365760" y="4277360"/>
            <a:ext cx="5936100" cy="602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300">
                <a:solidFill>
                  <a:srgbClr val="111827"/>
                </a:solidFill>
                <a:latin typeface="Georgia"/>
                <a:ea typeface="Georgia"/>
                <a:cs typeface="Georgia"/>
                <a:sym typeface="Georgia"/>
              </a:rPr>
              <a:t>R</a:t>
            </a:r>
            <a:r>
              <a:rPr baseline="-25000" lang="zh-CN" sz="2300">
                <a:solidFill>
                  <a:srgbClr val="111827"/>
                </a:solidFill>
                <a:latin typeface="Georgia"/>
                <a:ea typeface="Georgia"/>
                <a:cs typeface="Georgia"/>
                <a:sym typeface="Georgia"/>
              </a:rPr>
              <a:t>text</a:t>
            </a:r>
            <a:r>
              <a:rPr lang="zh-CN" sz="2300">
                <a:solidFill>
                  <a:srgbClr val="111827"/>
                </a:solidFill>
                <a:latin typeface="Georgia"/>
                <a:ea typeface="Georgia"/>
                <a:cs typeface="Georgia"/>
                <a:sym typeface="Georgia"/>
              </a:rPr>
              <a:t> ≈ M d V</a:t>
            </a:r>
            <a:endParaRPr sz="2300">
              <a:solidFill>
                <a:srgbClr val="111827"/>
              </a:solidFill>
              <a:latin typeface="Georgia"/>
              <a:ea typeface="Georgia"/>
              <a:cs typeface="Georgia"/>
              <a:sym typeface="Georgia"/>
            </a:endParaRPr>
          </a:p>
        </p:txBody>
      </p:sp>
      <p:sp>
        <p:nvSpPr>
          <p:cNvPr id="327" name="Google Shape;327;p18"/>
          <p:cNvSpPr txBox="1"/>
          <p:nvPr/>
        </p:nvSpPr>
        <p:spPr>
          <a:xfrm>
            <a:off x="6385560" y="3820160"/>
            <a:ext cx="2392800" cy="474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300">
                <a:solidFill>
                  <a:srgbClr val="5E6E80"/>
                </a:solidFill>
              </a:rPr>
              <a:t>Readout multiplications</a:t>
            </a:r>
            <a:endParaRPr sz="1300">
              <a:solidFill>
                <a:srgbClr val="5E6E80"/>
              </a:solidFill>
            </a:endParaRPr>
          </a:p>
        </p:txBody>
      </p:sp>
      <p:sp>
        <p:nvSpPr>
          <p:cNvPr id="328" name="Google Shape;328;p18"/>
          <p:cNvSpPr txBox="1"/>
          <p:nvPr/>
        </p:nvSpPr>
        <p:spPr>
          <a:xfrm>
            <a:off x="6385560" y="4112260"/>
            <a:ext cx="23928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300">
                <a:solidFill>
                  <a:srgbClr val="5E6E80"/>
                </a:solidFill>
              </a:rPr>
              <a:t>K choices, V vocabulary</a:t>
            </a:r>
            <a:endParaRPr sz="1300">
              <a:solidFill>
                <a:srgbClr val="5E6E80"/>
              </a:solidFill>
            </a:endParaRPr>
          </a:p>
        </p:txBody>
      </p:sp>
      <p:sp>
        <p:nvSpPr>
          <p:cNvPr id="329" name="Google Shape;329;p18"/>
          <p:cNvSpPr txBox="1"/>
          <p:nvPr/>
        </p:nvSpPr>
        <p:spPr>
          <a:xfrm>
            <a:off x="3743960" y="2766060"/>
            <a:ext cx="1046400" cy="576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300">
                <a:solidFill>
                  <a:srgbClr val="167985"/>
                </a:solidFill>
                <a:latin typeface="Georgia"/>
                <a:ea typeface="Georgia"/>
                <a:cs typeface="Georgia"/>
                <a:sym typeface="Georgia"/>
              </a:rPr>
              <a:t>y</a:t>
            </a:r>
            <a:r>
              <a:rPr baseline="-25000" lang="zh-CN" sz="2300">
                <a:solidFill>
                  <a:srgbClr val="167985"/>
                </a:solidFill>
                <a:latin typeface="Georgia"/>
                <a:ea typeface="Georgia"/>
                <a:cs typeface="Georgia"/>
                <a:sym typeface="Georgia"/>
              </a:rPr>
              <a:t>1</a:t>
            </a:r>
            <a:endParaRPr baseline="-25000" sz="2300">
              <a:solidFill>
                <a:srgbClr val="167985"/>
              </a:solidFill>
              <a:latin typeface="Georgia"/>
              <a:ea typeface="Georgia"/>
              <a:cs typeface="Georgia"/>
              <a:sym typeface="Georgia"/>
            </a:endParaRPr>
          </a:p>
        </p:txBody>
      </p:sp>
      <p:sp>
        <p:nvSpPr>
          <p:cNvPr id="330" name="Google Shape;330;p18"/>
          <p:cNvSpPr txBox="1"/>
          <p:nvPr/>
        </p:nvSpPr>
        <p:spPr>
          <a:xfrm>
            <a:off x="4925060" y="2766060"/>
            <a:ext cx="1046400" cy="576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300">
                <a:solidFill>
                  <a:srgbClr val="B36B17"/>
                </a:solidFill>
                <a:latin typeface="Georgia"/>
                <a:ea typeface="Georgia"/>
                <a:cs typeface="Georgia"/>
                <a:sym typeface="Georgia"/>
              </a:rPr>
              <a:t>y</a:t>
            </a:r>
            <a:r>
              <a:rPr baseline="-25000" lang="zh-CN" sz="2300">
                <a:solidFill>
                  <a:srgbClr val="B36B17"/>
                </a:solidFill>
                <a:latin typeface="Georgia"/>
                <a:ea typeface="Georgia"/>
                <a:cs typeface="Georgia"/>
                <a:sym typeface="Georgia"/>
              </a:rPr>
              <a:t>2</a:t>
            </a:r>
            <a:endParaRPr baseline="-25000" sz="2300">
              <a:solidFill>
                <a:srgbClr val="B36B17"/>
              </a:solidFill>
              <a:latin typeface="Georgia"/>
              <a:ea typeface="Georgia"/>
              <a:cs typeface="Georgia"/>
              <a:sym typeface="Georgia"/>
            </a:endParaRPr>
          </a:p>
        </p:txBody>
      </p:sp>
      <p:sp>
        <p:nvSpPr>
          <p:cNvPr id="331" name="Google Shape;331;p18"/>
          <p:cNvSpPr txBox="1"/>
          <p:nvPr/>
        </p:nvSpPr>
        <p:spPr>
          <a:xfrm>
            <a:off x="6106160" y="2766060"/>
            <a:ext cx="1046400" cy="576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300">
                <a:solidFill>
                  <a:srgbClr val="B36B17"/>
                </a:solidFill>
                <a:latin typeface="Georgia"/>
                <a:ea typeface="Georgia"/>
                <a:cs typeface="Georgia"/>
                <a:sym typeface="Georgia"/>
              </a:rPr>
              <a:t>y</a:t>
            </a:r>
            <a:r>
              <a:rPr baseline="-25000" lang="zh-CN" sz="2300">
                <a:solidFill>
                  <a:srgbClr val="B36B17"/>
                </a:solidFill>
                <a:latin typeface="Georgia"/>
                <a:ea typeface="Georgia"/>
                <a:cs typeface="Georgia"/>
                <a:sym typeface="Georgia"/>
              </a:rPr>
              <a:t>3</a:t>
            </a:r>
            <a:endParaRPr baseline="-25000" sz="2300">
              <a:solidFill>
                <a:srgbClr val="B36B17"/>
              </a:solidFill>
              <a:latin typeface="Georgia"/>
              <a:ea typeface="Georgia"/>
              <a:cs typeface="Georgia"/>
              <a:sym typeface="Georgia"/>
            </a:endParaRPr>
          </a:p>
        </p:txBody>
      </p:sp>
      <p:sp>
        <p:nvSpPr>
          <p:cNvPr id="332" name="Google Shape;332;p18"/>
          <p:cNvSpPr txBox="1"/>
          <p:nvPr/>
        </p:nvSpPr>
        <p:spPr>
          <a:xfrm>
            <a:off x="7287260" y="2766060"/>
            <a:ext cx="1046400" cy="576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300">
                <a:solidFill>
                  <a:srgbClr val="B36B17"/>
                </a:solidFill>
                <a:latin typeface="Georgia"/>
                <a:ea typeface="Georgia"/>
                <a:cs typeface="Georgia"/>
                <a:sym typeface="Georgia"/>
              </a:rPr>
              <a:t>y</a:t>
            </a:r>
            <a:r>
              <a:rPr baseline="-25000" lang="zh-CN" sz="2300">
                <a:solidFill>
                  <a:srgbClr val="B36B17"/>
                </a:solidFill>
                <a:latin typeface="Georgia"/>
                <a:ea typeface="Georgia"/>
                <a:cs typeface="Georgia"/>
                <a:sym typeface="Georgia"/>
              </a:rPr>
              <a:t>4</a:t>
            </a:r>
            <a:endParaRPr baseline="-25000" sz="2300">
              <a:solidFill>
                <a:srgbClr val="B36B17"/>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pic>
        <p:nvPicPr>
          <p:cNvPr descr="Highlights the four general stages and Skills to native-v2 to native-v3 handoffs. The equations show copied LoRA/head parameters and the combination of new/replay data. The footer opens Play, pause and step controls. Static diagram and mathematics remain native editable objects." id="337" name="Google Shape;337;p19" title="Animated general curriculum and native task checkpoint lineage"/>
          <p:cNvPicPr preferRelativeResize="0"/>
          <p:nvPr/>
        </p:nvPicPr>
        <p:blipFill>
          <a:blip r:embed="rId3">
            <a:alphaModFix/>
          </a:blip>
          <a:stretch>
            <a:fillRect/>
          </a:stretch>
        </p:blipFill>
        <p:spPr>
          <a:xfrm>
            <a:off x="330200" y="1511300"/>
            <a:ext cx="8559800" cy="3302000"/>
          </a:xfrm>
          <a:prstGeom prst="rect">
            <a:avLst/>
          </a:prstGeom>
          <a:noFill/>
          <a:ln>
            <a:noFill/>
          </a:ln>
        </p:spPr>
      </p:pic>
      <p:sp>
        <p:nvSpPr>
          <p:cNvPr id="338" name="Google Shape;338;p19"/>
          <p:cNvSpPr txBox="1"/>
          <p:nvPr>
            <p:ph type="title"/>
          </p:nvPr>
        </p:nvSpPr>
        <p:spPr>
          <a:xfrm>
            <a:off x="365760" y="226060"/>
            <a:ext cx="8412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3000">
                <a:solidFill>
                  <a:srgbClr val="111827"/>
                </a:solidFill>
              </a:rPr>
              <a:t>A curriculum, then task checkpoints</a:t>
            </a:r>
            <a:endParaRPr b="1" sz="3000">
              <a:solidFill>
                <a:srgbClr val="111827"/>
              </a:solidFill>
            </a:endParaRPr>
          </a:p>
        </p:txBody>
      </p:sp>
      <p:sp>
        <p:nvSpPr>
          <p:cNvPr id="339" name="Google Shape;339;p19"/>
          <p:cNvSpPr txBox="1"/>
          <p:nvPr/>
        </p:nvSpPr>
        <p:spPr>
          <a:xfrm>
            <a:off x="365760" y="4772660"/>
            <a:ext cx="7993500" cy="3987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zh-CN" sz="900">
                <a:solidFill>
                  <a:srgbClr val="5E6E80"/>
                </a:solidFill>
              </a:rPr>
              <a:t>Same fixed Qwen base. Counts name requests; labels are not game wins.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340" name="Google Shape;340;p19"/>
          <p:cNvSpPr txBox="1"/>
          <p:nvPr/>
        </p:nvSpPr>
        <p:spPr>
          <a:xfrm>
            <a:off x="8354060" y="4772660"/>
            <a:ext cx="4242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7</a:t>
            </a:r>
            <a:endParaRPr sz="900">
              <a:solidFill>
                <a:srgbClr val="5E6E80"/>
              </a:solidFill>
            </a:endParaRPr>
          </a:p>
        </p:txBody>
      </p:sp>
      <p:sp>
        <p:nvSpPr>
          <p:cNvPr id="341" name="Google Shape;341;p19"/>
          <p:cNvSpPr/>
          <p:nvPr/>
        </p:nvSpPr>
        <p:spPr>
          <a:xfrm>
            <a:off x="457200" y="1638300"/>
            <a:ext cx="1905000" cy="6096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19"/>
          <p:cNvSpPr/>
          <p:nvPr/>
        </p:nvSpPr>
        <p:spPr>
          <a:xfrm>
            <a:off x="2565400" y="1638300"/>
            <a:ext cx="1905000" cy="6096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3" name="Google Shape;343;p19"/>
          <p:cNvSpPr/>
          <p:nvPr/>
        </p:nvSpPr>
        <p:spPr>
          <a:xfrm>
            <a:off x="4673600" y="1638300"/>
            <a:ext cx="1905000" cy="6096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19"/>
          <p:cNvSpPr/>
          <p:nvPr/>
        </p:nvSpPr>
        <p:spPr>
          <a:xfrm>
            <a:off x="6781800" y="1638300"/>
            <a:ext cx="1905000" cy="6096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19"/>
          <p:cNvSpPr/>
          <p:nvPr/>
        </p:nvSpPr>
        <p:spPr>
          <a:xfrm>
            <a:off x="457200" y="2959100"/>
            <a:ext cx="1905000" cy="6096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19"/>
          <p:cNvSpPr/>
          <p:nvPr/>
        </p:nvSpPr>
        <p:spPr>
          <a:xfrm>
            <a:off x="3632200" y="2959100"/>
            <a:ext cx="1905000" cy="6096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19"/>
          <p:cNvSpPr/>
          <p:nvPr/>
        </p:nvSpPr>
        <p:spPr>
          <a:xfrm>
            <a:off x="6781800" y="2959100"/>
            <a:ext cx="1905000" cy="6096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8" name="Google Shape;348;p19"/>
          <p:cNvCxnSpPr/>
          <p:nvPr/>
        </p:nvCxnSpPr>
        <p:spPr>
          <a:xfrm>
            <a:off x="2400300" y="1943100"/>
            <a:ext cx="126900" cy="0"/>
          </a:xfrm>
          <a:prstGeom prst="straightConnector1">
            <a:avLst/>
          </a:prstGeom>
          <a:noFill/>
          <a:ln cap="flat" cmpd="sng" w="15250">
            <a:solidFill>
              <a:srgbClr val="5E6E80"/>
            </a:solidFill>
            <a:prstDash val="solid"/>
            <a:round/>
            <a:headEnd len="med" w="med" type="none"/>
            <a:tailEnd len="med" w="med" type="triangle"/>
          </a:ln>
        </p:spPr>
      </p:cxnSp>
      <p:cxnSp>
        <p:nvCxnSpPr>
          <p:cNvPr id="349" name="Google Shape;349;p19"/>
          <p:cNvCxnSpPr/>
          <p:nvPr/>
        </p:nvCxnSpPr>
        <p:spPr>
          <a:xfrm>
            <a:off x="4508500" y="1943100"/>
            <a:ext cx="126900" cy="0"/>
          </a:xfrm>
          <a:prstGeom prst="straightConnector1">
            <a:avLst/>
          </a:prstGeom>
          <a:noFill/>
          <a:ln cap="flat" cmpd="sng" w="15250">
            <a:solidFill>
              <a:srgbClr val="5E6E80"/>
            </a:solidFill>
            <a:prstDash val="solid"/>
            <a:round/>
            <a:headEnd len="med" w="med" type="none"/>
            <a:tailEnd len="med" w="med" type="triangle"/>
          </a:ln>
        </p:spPr>
      </p:cxnSp>
      <p:cxnSp>
        <p:nvCxnSpPr>
          <p:cNvPr id="350" name="Google Shape;350;p19"/>
          <p:cNvCxnSpPr/>
          <p:nvPr/>
        </p:nvCxnSpPr>
        <p:spPr>
          <a:xfrm>
            <a:off x="6616700" y="1943100"/>
            <a:ext cx="126900" cy="0"/>
          </a:xfrm>
          <a:prstGeom prst="straightConnector1">
            <a:avLst/>
          </a:prstGeom>
          <a:noFill/>
          <a:ln cap="flat" cmpd="sng" w="15250">
            <a:solidFill>
              <a:srgbClr val="5E6E80"/>
            </a:solidFill>
            <a:prstDash val="solid"/>
            <a:round/>
            <a:headEnd len="med" w="med" type="none"/>
            <a:tailEnd len="med" w="med" type="triangle"/>
          </a:ln>
        </p:spPr>
      </p:cxnSp>
      <p:cxnSp>
        <p:nvCxnSpPr>
          <p:cNvPr id="351" name="Google Shape;351;p19"/>
          <p:cNvCxnSpPr/>
          <p:nvPr/>
        </p:nvCxnSpPr>
        <p:spPr>
          <a:xfrm>
            <a:off x="2413000" y="3263900"/>
            <a:ext cx="1155600" cy="0"/>
          </a:xfrm>
          <a:prstGeom prst="straightConnector1">
            <a:avLst/>
          </a:prstGeom>
          <a:noFill/>
          <a:ln cap="flat" cmpd="sng" w="15250">
            <a:solidFill>
              <a:srgbClr val="5E6E80"/>
            </a:solidFill>
            <a:prstDash val="solid"/>
            <a:round/>
            <a:headEnd len="med" w="med" type="none"/>
            <a:tailEnd len="med" w="med" type="triangle"/>
          </a:ln>
        </p:spPr>
      </p:cxnSp>
      <p:cxnSp>
        <p:nvCxnSpPr>
          <p:cNvPr id="352" name="Google Shape;352;p19"/>
          <p:cNvCxnSpPr/>
          <p:nvPr/>
        </p:nvCxnSpPr>
        <p:spPr>
          <a:xfrm>
            <a:off x="5588000" y="3263900"/>
            <a:ext cx="1130400" cy="0"/>
          </a:xfrm>
          <a:prstGeom prst="straightConnector1">
            <a:avLst/>
          </a:prstGeom>
          <a:noFill/>
          <a:ln cap="flat" cmpd="sng" w="15250">
            <a:solidFill>
              <a:srgbClr val="5E6E80"/>
            </a:solidFill>
            <a:prstDash val="solid"/>
            <a:round/>
            <a:headEnd len="med" w="med" type="none"/>
            <a:tailEnd len="med" w="med" type="triangle"/>
          </a:ln>
        </p:spPr>
      </p:cxnSp>
      <p:sp>
        <p:nvSpPr>
          <p:cNvPr id="353" name="Google Shape;353;p19"/>
          <p:cNvSpPr txBox="1"/>
          <p:nvPr/>
        </p:nvSpPr>
        <p:spPr>
          <a:xfrm>
            <a:off x="365760" y="873760"/>
            <a:ext cx="84126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700">
                <a:solidFill>
                  <a:srgbClr val="111827"/>
                </a:solidFill>
              </a:rPr>
              <a:t>Each new stage loads its parent’s LoRA and pointer head.</a:t>
            </a:r>
            <a:endParaRPr sz="1700">
              <a:solidFill>
                <a:srgbClr val="111827"/>
              </a:solidFill>
            </a:endParaRPr>
          </a:p>
        </p:txBody>
      </p:sp>
      <p:sp>
        <p:nvSpPr>
          <p:cNvPr id="354" name="Google Shape;354;p19"/>
          <p:cNvSpPr txBox="1"/>
          <p:nvPr/>
        </p:nvSpPr>
        <p:spPr>
          <a:xfrm>
            <a:off x="365760" y="1280160"/>
            <a:ext cx="8412600" cy="436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5E6E80"/>
                </a:solidFill>
              </a:rPr>
              <a:t>General decision curriculum — prework</a:t>
            </a:r>
            <a:endParaRPr sz="1200">
              <a:solidFill>
                <a:srgbClr val="5E6E80"/>
              </a:solidFill>
            </a:endParaRPr>
          </a:p>
        </p:txBody>
      </p:sp>
      <p:sp>
        <p:nvSpPr>
          <p:cNvPr id="355" name="Google Shape;355;p19"/>
          <p:cNvSpPr txBox="1"/>
          <p:nvPr/>
        </p:nvSpPr>
        <p:spPr>
          <a:xfrm>
            <a:off x="365760" y="1686560"/>
            <a:ext cx="20880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700">
                <a:solidFill>
                  <a:srgbClr val="111827"/>
                </a:solidFill>
              </a:rPr>
              <a:t>Initial decisions</a:t>
            </a:r>
            <a:endParaRPr sz="1700">
              <a:solidFill>
                <a:srgbClr val="111827"/>
              </a:solidFill>
            </a:endParaRPr>
          </a:p>
        </p:txBody>
      </p:sp>
      <p:sp>
        <p:nvSpPr>
          <p:cNvPr id="356" name="Google Shape;356;p19"/>
          <p:cNvSpPr txBox="1"/>
          <p:nvPr/>
        </p:nvSpPr>
        <p:spPr>
          <a:xfrm>
            <a:off x="2473960" y="1686560"/>
            <a:ext cx="20880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700">
                <a:solidFill>
                  <a:srgbClr val="111827"/>
                </a:solidFill>
              </a:rPr>
              <a:t>Dates + evidence</a:t>
            </a:r>
            <a:endParaRPr sz="1700">
              <a:solidFill>
                <a:srgbClr val="111827"/>
              </a:solidFill>
            </a:endParaRPr>
          </a:p>
        </p:txBody>
      </p:sp>
      <p:sp>
        <p:nvSpPr>
          <p:cNvPr id="357" name="Google Shape;357;p19"/>
          <p:cNvSpPr txBox="1"/>
          <p:nvPr/>
        </p:nvSpPr>
        <p:spPr>
          <a:xfrm>
            <a:off x="4582160" y="1686560"/>
            <a:ext cx="20880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700">
                <a:solidFill>
                  <a:srgbClr val="111827"/>
                </a:solidFill>
              </a:rPr>
              <a:t>Documents</a:t>
            </a:r>
            <a:endParaRPr sz="1700">
              <a:solidFill>
                <a:srgbClr val="111827"/>
              </a:solidFill>
            </a:endParaRPr>
          </a:p>
        </p:txBody>
      </p:sp>
      <p:sp>
        <p:nvSpPr>
          <p:cNvPr id="358" name="Google Shape;358;p19"/>
          <p:cNvSpPr txBox="1"/>
          <p:nvPr/>
        </p:nvSpPr>
        <p:spPr>
          <a:xfrm>
            <a:off x="6690360" y="1686560"/>
            <a:ext cx="20880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700">
                <a:solidFill>
                  <a:srgbClr val="111827"/>
                </a:solidFill>
              </a:rPr>
              <a:t>Skills + tools</a:t>
            </a:r>
            <a:endParaRPr sz="1700">
              <a:solidFill>
                <a:srgbClr val="111827"/>
              </a:solidFill>
            </a:endParaRPr>
          </a:p>
        </p:txBody>
      </p:sp>
      <p:sp>
        <p:nvSpPr>
          <p:cNvPr id="359" name="Google Shape;359;p19"/>
          <p:cNvSpPr txBox="1"/>
          <p:nvPr/>
        </p:nvSpPr>
        <p:spPr>
          <a:xfrm>
            <a:off x="365760" y="2232660"/>
            <a:ext cx="2088000" cy="4242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100">
                <a:solidFill>
                  <a:srgbClr val="5E6E80"/>
                </a:solidFill>
              </a:rPr>
              <a:t>12,576 requests × 2 epochs</a:t>
            </a:r>
            <a:endParaRPr sz="1100">
              <a:solidFill>
                <a:srgbClr val="5E6E80"/>
              </a:solidFill>
            </a:endParaRPr>
          </a:p>
        </p:txBody>
      </p:sp>
      <p:sp>
        <p:nvSpPr>
          <p:cNvPr id="360" name="Google Shape;360;p19"/>
          <p:cNvSpPr txBox="1"/>
          <p:nvPr/>
        </p:nvSpPr>
        <p:spPr>
          <a:xfrm>
            <a:off x="2473960" y="2232660"/>
            <a:ext cx="2088000" cy="4242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100">
                <a:solidFill>
                  <a:srgbClr val="5E6E80"/>
                </a:solidFill>
              </a:rPr>
              <a:t>1,425 + 2,000 replay</a:t>
            </a:r>
            <a:endParaRPr sz="1100">
              <a:solidFill>
                <a:srgbClr val="5E6E80"/>
              </a:solidFill>
            </a:endParaRPr>
          </a:p>
        </p:txBody>
      </p:sp>
      <p:sp>
        <p:nvSpPr>
          <p:cNvPr id="361" name="Google Shape;361;p19"/>
          <p:cNvSpPr txBox="1"/>
          <p:nvPr/>
        </p:nvSpPr>
        <p:spPr>
          <a:xfrm>
            <a:off x="4582160" y="2232660"/>
            <a:ext cx="2088000" cy="4242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100">
                <a:solidFill>
                  <a:srgbClr val="5E6E80"/>
                </a:solidFill>
              </a:rPr>
              <a:t>5,219 + 2,000 replay</a:t>
            </a:r>
            <a:endParaRPr sz="1100">
              <a:solidFill>
                <a:srgbClr val="5E6E80"/>
              </a:solidFill>
            </a:endParaRPr>
          </a:p>
        </p:txBody>
      </p:sp>
      <p:sp>
        <p:nvSpPr>
          <p:cNvPr id="362" name="Google Shape;362;p19"/>
          <p:cNvSpPr txBox="1"/>
          <p:nvPr/>
        </p:nvSpPr>
        <p:spPr>
          <a:xfrm>
            <a:off x="6690360" y="2232660"/>
            <a:ext cx="2088000" cy="4242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100">
                <a:solidFill>
                  <a:srgbClr val="5E6E80"/>
                </a:solidFill>
              </a:rPr>
              <a:t>11,320 + 4,000 replay</a:t>
            </a:r>
            <a:endParaRPr sz="1100">
              <a:solidFill>
                <a:srgbClr val="5E6E80"/>
              </a:solidFill>
            </a:endParaRPr>
          </a:p>
        </p:txBody>
      </p:sp>
      <p:sp>
        <p:nvSpPr>
          <p:cNvPr id="363" name="Google Shape;363;p19"/>
          <p:cNvSpPr txBox="1"/>
          <p:nvPr/>
        </p:nvSpPr>
        <p:spPr>
          <a:xfrm>
            <a:off x="365760" y="2588260"/>
            <a:ext cx="8412600" cy="436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5E6E80"/>
                </a:solidFill>
              </a:rPr>
              <a:t>Skills becomes the baseline for task adaptation</a:t>
            </a:r>
            <a:endParaRPr sz="1200">
              <a:solidFill>
                <a:srgbClr val="5E6E80"/>
              </a:solidFill>
            </a:endParaRPr>
          </a:p>
        </p:txBody>
      </p:sp>
      <p:sp>
        <p:nvSpPr>
          <p:cNvPr id="364" name="Google Shape;364;p19"/>
          <p:cNvSpPr txBox="1"/>
          <p:nvPr/>
        </p:nvSpPr>
        <p:spPr>
          <a:xfrm>
            <a:off x="365760" y="3007360"/>
            <a:ext cx="20880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700">
                <a:solidFill>
                  <a:srgbClr val="111827"/>
                </a:solidFill>
              </a:rPr>
              <a:t>Skills baseline</a:t>
            </a:r>
            <a:endParaRPr sz="1700">
              <a:solidFill>
                <a:srgbClr val="111827"/>
              </a:solidFill>
            </a:endParaRPr>
          </a:p>
        </p:txBody>
      </p:sp>
      <p:sp>
        <p:nvSpPr>
          <p:cNvPr id="365" name="Google Shape;365;p19"/>
          <p:cNvSpPr txBox="1"/>
          <p:nvPr/>
        </p:nvSpPr>
        <p:spPr>
          <a:xfrm>
            <a:off x="3540760" y="3007360"/>
            <a:ext cx="20880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700">
                <a:solidFill>
                  <a:srgbClr val="111827"/>
                </a:solidFill>
              </a:rPr>
              <a:t>Pac-Man v2</a:t>
            </a:r>
            <a:endParaRPr sz="1700">
              <a:solidFill>
                <a:srgbClr val="111827"/>
              </a:solidFill>
            </a:endParaRPr>
          </a:p>
        </p:txBody>
      </p:sp>
      <p:sp>
        <p:nvSpPr>
          <p:cNvPr id="366" name="Google Shape;366;p19"/>
          <p:cNvSpPr txBox="1"/>
          <p:nvPr/>
        </p:nvSpPr>
        <p:spPr>
          <a:xfrm>
            <a:off x="6690360" y="3007360"/>
            <a:ext cx="2088000" cy="525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700">
                <a:solidFill>
                  <a:srgbClr val="111827"/>
                </a:solidFill>
              </a:rPr>
              <a:t>Pac-Man v3</a:t>
            </a:r>
            <a:endParaRPr sz="1700">
              <a:solidFill>
                <a:srgbClr val="111827"/>
              </a:solidFill>
            </a:endParaRPr>
          </a:p>
        </p:txBody>
      </p:sp>
      <p:sp>
        <p:nvSpPr>
          <p:cNvPr id="367" name="Google Shape;367;p19"/>
          <p:cNvSpPr txBox="1"/>
          <p:nvPr/>
        </p:nvSpPr>
        <p:spPr>
          <a:xfrm>
            <a:off x="365760" y="3553460"/>
            <a:ext cx="2240400" cy="436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100">
                <a:solidFill>
                  <a:srgbClr val="5E6E80"/>
                </a:solidFill>
              </a:rPr>
              <a:t>No Pac-Man labels yet</a:t>
            </a:r>
            <a:endParaRPr sz="1100">
              <a:solidFill>
                <a:srgbClr val="5E6E80"/>
              </a:solidFill>
            </a:endParaRPr>
          </a:p>
        </p:txBody>
      </p:sp>
      <p:sp>
        <p:nvSpPr>
          <p:cNvPr id="368" name="Google Shape;368;p19"/>
          <p:cNvSpPr txBox="1"/>
          <p:nvPr/>
        </p:nvSpPr>
        <p:spPr>
          <a:xfrm>
            <a:off x="3540760" y="3553460"/>
            <a:ext cx="2570400" cy="436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100">
                <a:solidFill>
                  <a:srgbClr val="5E6E80"/>
                </a:solidFill>
              </a:rPr>
              <a:t>Qualified teacher labels</a:t>
            </a:r>
            <a:endParaRPr sz="1100">
              <a:solidFill>
                <a:srgbClr val="5E6E80"/>
              </a:solidFill>
            </a:endParaRPr>
          </a:p>
        </p:txBody>
      </p:sp>
      <p:sp>
        <p:nvSpPr>
          <p:cNvPr id="369" name="Google Shape;369;p19"/>
          <p:cNvSpPr txBox="1"/>
          <p:nvPr/>
        </p:nvSpPr>
        <p:spPr>
          <a:xfrm>
            <a:off x="6512560" y="3553460"/>
            <a:ext cx="2443500" cy="436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1100">
                <a:solidFill>
                  <a:srgbClr val="5E6E80"/>
                </a:solidFill>
              </a:rPr>
              <a:t>Corrections on v2 states</a:t>
            </a:r>
            <a:endParaRPr sz="1100">
              <a:solidFill>
                <a:srgbClr val="5E6E80"/>
              </a:solidFill>
            </a:endParaRPr>
          </a:p>
        </p:txBody>
      </p:sp>
      <p:sp>
        <p:nvSpPr>
          <p:cNvPr id="370" name="Google Shape;370;p19"/>
          <p:cNvSpPr txBox="1"/>
          <p:nvPr/>
        </p:nvSpPr>
        <p:spPr>
          <a:xfrm>
            <a:off x="365760" y="3985260"/>
            <a:ext cx="3688200" cy="576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200">
                <a:solidFill>
                  <a:srgbClr val="111827"/>
                </a:solidFill>
                <a:latin typeface="Georgia"/>
                <a:ea typeface="Georgia"/>
                <a:cs typeface="Georgia"/>
                <a:sym typeface="Georgia"/>
              </a:rPr>
              <a:t>φ</a:t>
            </a:r>
            <a:r>
              <a:rPr baseline="-25000" lang="zh-CN" sz="2200">
                <a:solidFill>
                  <a:srgbClr val="111827"/>
                </a:solidFill>
                <a:latin typeface="Georgia"/>
                <a:ea typeface="Georgia"/>
                <a:cs typeface="Georgia"/>
                <a:sym typeface="Georgia"/>
              </a:rPr>
              <a:t>child</a:t>
            </a:r>
            <a:r>
              <a:rPr baseline="30000" lang="zh-CN" sz="2200">
                <a:solidFill>
                  <a:srgbClr val="111827"/>
                </a:solidFill>
                <a:latin typeface="Georgia"/>
                <a:ea typeface="Georgia"/>
                <a:cs typeface="Georgia"/>
                <a:sym typeface="Georgia"/>
              </a:rPr>
              <a:t>0</a:t>
            </a:r>
            <a:r>
              <a:rPr lang="zh-CN" sz="2200">
                <a:solidFill>
                  <a:srgbClr val="111827"/>
                </a:solidFill>
                <a:latin typeface="Georgia"/>
                <a:ea typeface="Georgia"/>
                <a:cs typeface="Georgia"/>
                <a:sym typeface="Georgia"/>
              </a:rPr>
              <a:t> = φ</a:t>
            </a:r>
            <a:r>
              <a:rPr baseline="-25000" lang="zh-CN" sz="2200">
                <a:solidFill>
                  <a:srgbClr val="111827"/>
                </a:solidFill>
                <a:latin typeface="Georgia"/>
                <a:ea typeface="Georgia"/>
                <a:cs typeface="Georgia"/>
                <a:sym typeface="Georgia"/>
              </a:rPr>
              <a:t>parent</a:t>
            </a:r>
            <a:endParaRPr baseline="-25000" sz="2200">
              <a:solidFill>
                <a:srgbClr val="111827"/>
              </a:solidFill>
              <a:latin typeface="Georgia"/>
              <a:ea typeface="Georgia"/>
              <a:cs typeface="Georgia"/>
              <a:sym typeface="Georgia"/>
            </a:endParaRPr>
          </a:p>
        </p:txBody>
      </p:sp>
      <p:sp>
        <p:nvSpPr>
          <p:cNvPr id="371" name="Google Shape;371;p19"/>
          <p:cNvSpPr txBox="1"/>
          <p:nvPr/>
        </p:nvSpPr>
        <p:spPr>
          <a:xfrm>
            <a:off x="4226560" y="3985260"/>
            <a:ext cx="4551600" cy="576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200">
                <a:solidFill>
                  <a:srgbClr val="111827"/>
                </a:solidFill>
                <a:latin typeface="Georgia"/>
                <a:ea typeface="Georgia"/>
                <a:cs typeface="Georgia"/>
                <a:sym typeface="Georgia"/>
              </a:rPr>
              <a:t>D</a:t>
            </a:r>
            <a:r>
              <a:rPr baseline="-25000" lang="zh-CN" sz="2200">
                <a:solidFill>
                  <a:srgbClr val="111827"/>
                </a:solidFill>
                <a:latin typeface="Georgia"/>
                <a:ea typeface="Georgia"/>
                <a:cs typeface="Georgia"/>
                <a:sym typeface="Georgia"/>
              </a:rPr>
              <a:t>train</a:t>
            </a:r>
            <a:r>
              <a:rPr lang="zh-CN" sz="2200">
                <a:solidFill>
                  <a:srgbClr val="111827"/>
                </a:solidFill>
                <a:latin typeface="Georgia"/>
                <a:ea typeface="Georgia"/>
                <a:cs typeface="Georgia"/>
                <a:sym typeface="Georgia"/>
              </a:rPr>
              <a:t> = D</a:t>
            </a:r>
            <a:r>
              <a:rPr baseline="-25000" lang="zh-CN" sz="2200">
                <a:solidFill>
                  <a:srgbClr val="111827"/>
                </a:solidFill>
                <a:latin typeface="Georgia"/>
                <a:ea typeface="Georgia"/>
                <a:cs typeface="Georgia"/>
                <a:sym typeface="Georgia"/>
              </a:rPr>
              <a:t>new</a:t>
            </a:r>
            <a:r>
              <a:rPr lang="zh-CN" sz="2200">
                <a:solidFill>
                  <a:srgbClr val="111827"/>
                </a:solidFill>
                <a:latin typeface="Georgia"/>
                <a:ea typeface="Georgia"/>
                <a:cs typeface="Georgia"/>
                <a:sym typeface="Georgia"/>
              </a:rPr>
              <a:t> ⊎ D</a:t>
            </a:r>
            <a:r>
              <a:rPr baseline="-25000" lang="zh-CN" sz="2200">
                <a:solidFill>
                  <a:srgbClr val="111827"/>
                </a:solidFill>
                <a:latin typeface="Georgia"/>
                <a:ea typeface="Georgia"/>
                <a:cs typeface="Georgia"/>
                <a:sym typeface="Georgia"/>
              </a:rPr>
              <a:t>replay</a:t>
            </a:r>
            <a:endParaRPr baseline="-25000" sz="2200">
              <a:solidFill>
                <a:srgbClr val="111827"/>
              </a:solidFill>
              <a:latin typeface="Georgia"/>
              <a:ea typeface="Georgia"/>
              <a:cs typeface="Georgia"/>
              <a:sym typeface="Georgia"/>
            </a:endParaRPr>
          </a:p>
        </p:txBody>
      </p:sp>
      <p:sp>
        <p:nvSpPr>
          <p:cNvPr id="372" name="Google Shape;372;p19"/>
          <p:cNvSpPr txBox="1"/>
          <p:nvPr/>
        </p:nvSpPr>
        <p:spPr>
          <a:xfrm>
            <a:off x="365760" y="4442460"/>
            <a:ext cx="8412600" cy="424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5E6E80"/>
                </a:solidFill>
              </a:rPr>
              <a:t>New stage: fresh optimizer. Parent checkpoint stays saved.</a:t>
            </a:r>
            <a:endParaRPr sz="1200">
              <a:solidFill>
                <a:srgbClr val="5E6E8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pic>
        <p:nvPicPr>
          <p:cNvPr descr="Highlights actual maze tiles, individual actor fields, native power clocks, recent history and supplied actions. Native math and diagrams remain editable. The footer opens Play, pause and step controls. Static diagram and mathematics remain native editable objects." id="377" name="Google Shape;377;p20" title="Animated native-v2 game observation"/>
          <p:cNvPicPr preferRelativeResize="0"/>
          <p:nvPr/>
        </p:nvPicPr>
        <p:blipFill>
          <a:blip r:embed="rId3">
            <a:alphaModFix/>
          </a:blip>
          <a:stretch>
            <a:fillRect/>
          </a:stretch>
        </p:blipFill>
        <p:spPr>
          <a:xfrm>
            <a:off x="330200" y="1384300"/>
            <a:ext cx="8559800" cy="3454400"/>
          </a:xfrm>
          <a:prstGeom prst="rect">
            <a:avLst/>
          </a:prstGeom>
          <a:noFill/>
          <a:ln>
            <a:noFill/>
          </a:ln>
        </p:spPr>
      </p:pic>
      <p:sp>
        <p:nvSpPr>
          <p:cNvPr id="378" name="Google Shape;378;p20"/>
          <p:cNvSpPr txBox="1"/>
          <p:nvPr>
            <p:ph type="title"/>
          </p:nvPr>
        </p:nvSpPr>
        <p:spPr>
          <a:xfrm>
            <a:off x="365760" y="226060"/>
            <a:ext cx="8412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3000">
                <a:solidFill>
                  <a:srgbClr val="111827"/>
                </a:solidFill>
              </a:rPr>
              <a:t>The game state Kev actually receives</a:t>
            </a:r>
            <a:endParaRPr b="1" sz="3000">
              <a:solidFill>
                <a:srgbClr val="111827"/>
              </a:solidFill>
            </a:endParaRPr>
          </a:p>
        </p:txBody>
      </p:sp>
      <p:sp>
        <p:nvSpPr>
          <p:cNvPr id="379" name="Google Shape;379;p20"/>
          <p:cNvSpPr txBox="1"/>
          <p:nvPr/>
        </p:nvSpPr>
        <p:spPr>
          <a:xfrm>
            <a:off x="365760" y="4772660"/>
            <a:ext cx="7993500" cy="3987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zh-CN" sz="900">
                <a:solidFill>
                  <a:srgbClr val="5E6E80"/>
                </a:solidFill>
              </a:rPr>
              <a:t>Teacher forecasts and labels stay outside this input.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380" name="Google Shape;380;p20"/>
          <p:cNvSpPr txBox="1"/>
          <p:nvPr/>
        </p:nvSpPr>
        <p:spPr>
          <a:xfrm>
            <a:off x="8354060" y="4772660"/>
            <a:ext cx="4242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8</a:t>
            </a:r>
            <a:endParaRPr sz="900">
              <a:solidFill>
                <a:srgbClr val="5E6E80"/>
              </a:solidFill>
            </a:endParaRPr>
          </a:p>
        </p:txBody>
      </p:sp>
      <p:sp>
        <p:nvSpPr>
          <p:cNvPr id="381" name="Google Shape;381;p20"/>
          <p:cNvSpPr/>
          <p:nvPr/>
        </p:nvSpPr>
        <p:spPr>
          <a:xfrm>
            <a:off x="457200" y="1574800"/>
            <a:ext cx="2438400" cy="2438400"/>
          </a:xfrm>
          <a:prstGeom prst="rect">
            <a:avLst/>
          </a:prstGeom>
          <a:solidFill>
            <a:srgbClr val="0B1020"/>
          </a:solidFill>
          <a:ln cap="flat" cmpd="sng" w="12700">
            <a:solidFill>
              <a:srgbClr val="0B102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20"/>
          <p:cNvSpPr/>
          <p:nvPr/>
        </p:nvSpPr>
        <p:spPr>
          <a:xfrm>
            <a:off x="3403600" y="1473200"/>
            <a:ext cx="5283300" cy="11811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 name="Google Shape;383;p20"/>
          <p:cNvSpPr/>
          <p:nvPr/>
        </p:nvSpPr>
        <p:spPr>
          <a:xfrm>
            <a:off x="3403600" y="2755900"/>
            <a:ext cx="5283300" cy="7875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4" name="Google Shape;384;p20"/>
          <p:cNvSpPr/>
          <p:nvPr/>
        </p:nvSpPr>
        <p:spPr>
          <a:xfrm>
            <a:off x="3403600" y="3644900"/>
            <a:ext cx="5283300" cy="7746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5" name="Google Shape;385;p20"/>
          <p:cNvSpPr/>
          <p:nvPr/>
        </p:nvSpPr>
        <p:spPr>
          <a:xfrm>
            <a:off x="4699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20"/>
          <p:cNvSpPr/>
          <p:nvPr/>
        </p:nvSpPr>
        <p:spPr>
          <a:xfrm>
            <a:off x="6731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20"/>
          <p:cNvSpPr/>
          <p:nvPr/>
        </p:nvSpPr>
        <p:spPr>
          <a:xfrm>
            <a:off x="8763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20"/>
          <p:cNvSpPr/>
          <p:nvPr/>
        </p:nvSpPr>
        <p:spPr>
          <a:xfrm>
            <a:off x="10795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20"/>
          <p:cNvSpPr/>
          <p:nvPr/>
        </p:nvSpPr>
        <p:spPr>
          <a:xfrm>
            <a:off x="12827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20"/>
          <p:cNvSpPr/>
          <p:nvPr/>
        </p:nvSpPr>
        <p:spPr>
          <a:xfrm>
            <a:off x="14859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20"/>
          <p:cNvSpPr/>
          <p:nvPr/>
        </p:nvSpPr>
        <p:spPr>
          <a:xfrm>
            <a:off x="16891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20"/>
          <p:cNvSpPr/>
          <p:nvPr/>
        </p:nvSpPr>
        <p:spPr>
          <a:xfrm>
            <a:off x="18923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20"/>
          <p:cNvSpPr/>
          <p:nvPr/>
        </p:nvSpPr>
        <p:spPr>
          <a:xfrm>
            <a:off x="20955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p20"/>
          <p:cNvSpPr/>
          <p:nvPr/>
        </p:nvSpPr>
        <p:spPr>
          <a:xfrm>
            <a:off x="22987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20"/>
          <p:cNvSpPr/>
          <p:nvPr/>
        </p:nvSpPr>
        <p:spPr>
          <a:xfrm>
            <a:off x="25019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20"/>
          <p:cNvSpPr/>
          <p:nvPr/>
        </p:nvSpPr>
        <p:spPr>
          <a:xfrm>
            <a:off x="2705100" y="1587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7" name="Google Shape;397;p20"/>
          <p:cNvSpPr/>
          <p:nvPr/>
        </p:nvSpPr>
        <p:spPr>
          <a:xfrm>
            <a:off x="469900" y="1790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8" name="Google Shape;398;p20"/>
          <p:cNvSpPr/>
          <p:nvPr/>
        </p:nvSpPr>
        <p:spPr>
          <a:xfrm>
            <a:off x="742950" y="1860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9" name="Google Shape;399;p20"/>
          <p:cNvSpPr/>
          <p:nvPr/>
        </p:nvSpPr>
        <p:spPr>
          <a:xfrm>
            <a:off x="946150" y="1860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0" name="Google Shape;400;p20"/>
          <p:cNvSpPr/>
          <p:nvPr/>
        </p:nvSpPr>
        <p:spPr>
          <a:xfrm>
            <a:off x="1149350" y="1860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 name="Google Shape;401;p20"/>
          <p:cNvSpPr/>
          <p:nvPr/>
        </p:nvSpPr>
        <p:spPr>
          <a:xfrm>
            <a:off x="1352550" y="1860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20"/>
          <p:cNvSpPr/>
          <p:nvPr/>
        </p:nvSpPr>
        <p:spPr>
          <a:xfrm>
            <a:off x="1555750" y="1860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20"/>
          <p:cNvSpPr/>
          <p:nvPr/>
        </p:nvSpPr>
        <p:spPr>
          <a:xfrm>
            <a:off x="1758950" y="1860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 name="Google Shape;404;p20"/>
          <p:cNvSpPr/>
          <p:nvPr/>
        </p:nvSpPr>
        <p:spPr>
          <a:xfrm>
            <a:off x="1962150" y="1860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5" name="Google Shape;405;p20"/>
          <p:cNvSpPr/>
          <p:nvPr/>
        </p:nvSpPr>
        <p:spPr>
          <a:xfrm>
            <a:off x="2165350" y="1860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20"/>
          <p:cNvSpPr/>
          <p:nvPr/>
        </p:nvSpPr>
        <p:spPr>
          <a:xfrm>
            <a:off x="2368550" y="1860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20"/>
          <p:cNvSpPr/>
          <p:nvPr/>
        </p:nvSpPr>
        <p:spPr>
          <a:xfrm>
            <a:off x="2571750" y="1860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20"/>
          <p:cNvSpPr/>
          <p:nvPr/>
        </p:nvSpPr>
        <p:spPr>
          <a:xfrm>
            <a:off x="2774950" y="1860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20"/>
          <p:cNvSpPr/>
          <p:nvPr/>
        </p:nvSpPr>
        <p:spPr>
          <a:xfrm>
            <a:off x="469900" y="1993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20"/>
          <p:cNvSpPr/>
          <p:nvPr/>
        </p:nvSpPr>
        <p:spPr>
          <a:xfrm>
            <a:off x="742950" y="20637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20"/>
          <p:cNvSpPr/>
          <p:nvPr/>
        </p:nvSpPr>
        <p:spPr>
          <a:xfrm>
            <a:off x="876300" y="1993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20"/>
          <p:cNvSpPr/>
          <p:nvPr/>
        </p:nvSpPr>
        <p:spPr>
          <a:xfrm>
            <a:off x="1079500" y="1993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20"/>
          <p:cNvSpPr/>
          <p:nvPr/>
        </p:nvSpPr>
        <p:spPr>
          <a:xfrm>
            <a:off x="1282700" y="1993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 name="Google Shape;414;p20"/>
          <p:cNvSpPr/>
          <p:nvPr/>
        </p:nvSpPr>
        <p:spPr>
          <a:xfrm>
            <a:off x="1485900" y="1993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20"/>
          <p:cNvSpPr/>
          <p:nvPr/>
        </p:nvSpPr>
        <p:spPr>
          <a:xfrm>
            <a:off x="1758950" y="20637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6" name="Google Shape;416;p20"/>
          <p:cNvSpPr/>
          <p:nvPr/>
        </p:nvSpPr>
        <p:spPr>
          <a:xfrm>
            <a:off x="1892300" y="1993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20"/>
          <p:cNvSpPr/>
          <p:nvPr/>
        </p:nvSpPr>
        <p:spPr>
          <a:xfrm>
            <a:off x="2095500" y="1993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8" name="Google Shape;418;p20"/>
          <p:cNvSpPr/>
          <p:nvPr/>
        </p:nvSpPr>
        <p:spPr>
          <a:xfrm>
            <a:off x="2298700" y="1993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 name="Google Shape;419;p20"/>
          <p:cNvSpPr/>
          <p:nvPr/>
        </p:nvSpPr>
        <p:spPr>
          <a:xfrm>
            <a:off x="2501900" y="1993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20"/>
          <p:cNvSpPr/>
          <p:nvPr/>
        </p:nvSpPr>
        <p:spPr>
          <a:xfrm>
            <a:off x="2705100" y="1993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1" name="Google Shape;421;p20"/>
          <p:cNvSpPr/>
          <p:nvPr/>
        </p:nvSpPr>
        <p:spPr>
          <a:xfrm>
            <a:off x="469900" y="2197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20"/>
          <p:cNvSpPr/>
          <p:nvPr/>
        </p:nvSpPr>
        <p:spPr>
          <a:xfrm>
            <a:off x="704850" y="2228850"/>
            <a:ext cx="114300" cy="1143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20"/>
          <p:cNvSpPr/>
          <p:nvPr/>
        </p:nvSpPr>
        <p:spPr>
          <a:xfrm>
            <a:off x="876300" y="2197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4" name="Google Shape;424;p20"/>
          <p:cNvSpPr/>
          <p:nvPr/>
        </p:nvSpPr>
        <p:spPr>
          <a:xfrm>
            <a:off x="1079500" y="2197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5" name="Google Shape;425;p20"/>
          <p:cNvSpPr/>
          <p:nvPr/>
        </p:nvSpPr>
        <p:spPr>
          <a:xfrm>
            <a:off x="1282700" y="2197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6" name="Google Shape;426;p20"/>
          <p:cNvSpPr/>
          <p:nvPr/>
        </p:nvSpPr>
        <p:spPr>
          <a:xfrm>
            <a:off x="1485900" y="2197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7" name="Google Shape;427;p20"/>
          <p:cNvSpPr/>
          <p:nvPr/>
        </p:nvSpPr>
        <p:spPr>
          <a:xfrm>
            <a:off x="1758950" y="22669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8" name="Google Shape;428;p20"/>
          <p:cNvSpPr/>
          <p:nvPr/>
        </p:nvSpPr>
        <p:spPr>
          <a:xfrm>
            <a:off x="1892300" y="2197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9" name="Google Shape;429;p20"/>
          <p:cNvSpPr/>
          <p:nvPr/>
        </p:nvSpPr>
        <p:spPr>
          <a:xfrm>
            <a:off x="2095500" y="2197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0" name="Google Shape;430;p20"/>
          <p:cNvSpPr/>
          <p:nvPr/>
        </p:nvSpPr>
        <p:spPr>
          <a:xfrm>
            <a:off x="2298700" y="2197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1" name="Google Shape;431;p20"/>
          <p:cNvSpPr/>
          <p:nvPr/>
        </p:nvSpPr>
        <p:spPr>
          <a:xfrm>
            <a:off x="2501900" y="2197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p20"/>
          <p:cNvSpPr/>
          <p:nvPr/>
        </p:nvSpPr>
        <p:spPr>
          <a:xfrm>
            <a:off x="2705100" y="2197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20"/>
          <p:cNvSpPr/>
          <p:nvPr/>
        </p:nvSpPr>
        <p:spPr>
          <a:xfrm>
            <a:off x="469900" y="2400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20"/>
          <p:cNvSpPr/>
          <p:nvPr/>
        </p:nvSpPr>
        <p:spPr>
          <a:xfrm>
            <a:off x="742950" y="24701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20"/>
          <p:cNvSpPr/>
          <p:nvPr/>
        </p:nvSpPr>
        <p:spPr>
          <a:xfrm>
            <a:off x="876300" y="2400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6" name="Google Shape;436;p20"/>
          <p:cNvSpPr/>
          <p:nvPr/>
        </p:nvSpPr>
        <p:spPr>
          <a:xfrm>
            <a:off x="1079500" y="2400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 name="Google Shape;437;p20"/>
          <p:cNvSpPr/>
          <p:nvPr/>
        </p:nvSpPr>
        <p:spPr>
          <a:xfrm>
            <a:off x="1282700" y="2400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20"/>
          <p:cNvSpPr/>
          <p:nvPr/>
        </p:nvSpPr>
        <p:spPr>
          <a:xfrm>
            <a:off x="1485900" y="2400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20"/>
          <p:cNvSpPr/>
          <p:nvPr/>
        </p:nvSpPr>
        <p:spPr>
          <a:xfrm>
            <a:off x="1758950" y="24701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20"/>
          <p:cNvSpPr/>
          <p:nvPr/>
        </p:nvSpPr>
        <p:spPr>
          <a:xfrm>
            <a:off x="1892300" y="2400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20"/>
          <p:cNvSpPr/>
          <p:nvPr/>
        </p:nvSpPr>
        <p:spPr>
          <a:xfrm>
            <a:off x="2095500" y="2400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20"/>
          <p:cNvSpPr/>
          <p:nvPr/>
        </p:nvSpPr>
        <p:spPr>
          <a:xfrm>
            <a:off x="2298700" y="2400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20"/>
          <p:cNvSpPr/>
          <p:nvPr/>
        </p:nvSpPr>
        <p:spPr>
          <a:xfrm>
            <a:off x="2501900" y="2400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20"/>
          <p:cNvSpPr/>
          <p:nvPr/>
        </p:nvSpPr>
        <p:spPr>
          <a:xfrm>
            <a:off x="2705100" y="2400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20"/>
          <p:cNvSpPr/>
          <p:nvPr/>
        </p:nvSpPr>
        <p:spPr>
          <a:xfrm>
            <a:off x="469900" y="2603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20"/>
          <p:cNvSpPr/>
          <p:nvPr/>
        </p:nvSpPr>
        <p:spPr>
          <a:xfrm>
            <a:off x="742950" y="2673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20"/>
          <p:cNvSpPr/>
          <p:nvPr/>
        </p:nvSpPr>
        <p:spPr>
          <a:xfrm>
            <a:off x="946150" y="2673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20"/>
          <p:cNvSpPr/>
          <p:nvPr/>
        </p:nvSpPr>
        <p:spPr>
          <a:xfrm>
            <a:off x="1149350" y="2673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9" name="Google Shape;449;p20"/>
          <p:cNvSpPr/>
          <p:nvPr/>
        </p:nvSpPr>
        <p:spPr>
          <a:xfrm>
            <a:off x="1352550" y="2673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20"/>
          <p:cNvSpPr/>
          <p:nvPr/>
        </p:nvSpPr>
        <p:spPr>
          <a:xfrm>
            <a:off x="1555750" y="2673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20"/>
          <p:cNvSpPr/>
          <p:nvPr/>
        </p:nvSpPr>
        <p:spPr>
          <a:xfrm>
            <a:off x="1758950" y="2673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2" name="Google Shape;452;p20"/>
          <p:cNvSpPr/>
          <p:nvPr/>
        </p:nvSpPr>
        <p:spPr>
          <a:xfrm>
            <a:off x="1962150" y="2673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20"/>
          <p:cNvSpPr/>
          <p:nvPr/>
        </p:nvSpPr>
        <p:spPr>
          <a:xfrm>
            <a:off x="2165350" y="2673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4" name="Google Shape;454;p20"/>
          <p:cNvSpPr/>
          <p:nvPr/>
        </p:nvSpPr>
        <p:spPr>
          <a:xfrm>
            <a:off x="2368550" y="2673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5" name="Google Shape;455;p20"/>
          <p:cNvSpPr/>
          <p:nvPr/>
        </p:nvSpPr>
        <p:spPr>
          <a:xfrm>
            <a:off x="2571750" y="2673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20"/>
          <p:cNvSpPr/>
          <p:nvPr/>
        </p:nvSpPr>
        <p:spPr>
          <a:xfrm>
            <a:off x="2774950" y="2673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20"/>
          <p:cNvSpPr/>
          <p:nvPr/>
        </p:nvSpPr>
        <p:spPr>
          <a:xfrm>
            <a:off x="469900" y="2806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8" name="Google Shape;458;p20"/>
          <p:cNvSpPr/>
          <p:nvPr/>
        </p:nvSpPr>
        <p:spPr>
          <a:xfrm>
            <a:off x="742950" y="2876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9" name="Google Shape;459;p20"/>
          <p:cNvSpPr/>
          <p:nvPr/>
        </p:nvSpPr>
        <p:spPr>
          <a:xfrm>
            <a:off x="876300" y="2806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0" name="Google Shape;460;p20"/>
          <p:cNvSpPr/>
          <p:nvPr/>
        </p:nvSpPr>
        <p:spPr>
          <a:xfrm>
            <a:off x="1079500" y="2806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1" name="Google Shape;461;p20"/>
          <p:cNvSpPr/>
          <p:nvPr/>
        </p:nvSpPr>
        <p:spPr>
          <a:xfrm>
            <a:off x="1282700" y="2806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20"/>
          <p:cNvSpPr/>
          <p:nvPr/>
        </p:nvSpPr>
        <p:spPr>
          <a:xfrm>
            <a:off x="1485900" y="2806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20"/>
          <p:cNvSpPr/>
          <p:nvPr/>
        </p:nvSpPr>
        <p:spPr>
          <a:xfrm>
            <a:off x="1758950" y="2876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4" name="Google Shape;464;p20"/>
          <p:cNvSpPr/>
          <p:nvPr/>
        </p:nvSpPr>
        <p:spPr>
          <a:xfrm>
            <a:off x="1892300" y="2806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5" name="Google Shape;465;p20"/>
          <p:cNvSpPr/>
          <p:nvPr/>
        </p:nvSpPr>
        <p:spPr>
          <a:xfrm>
            <a:off x="2095500" y="2806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6" name="Google Shape;466;p20"/>
          <p:cNvSpPr/>
          <p:nvPr/>
        </p:nvSpPr>
        <p:spPr>
          <a:xfrm>
            <a:off x="2368550" y="2876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7" name="Google Shape;467;p20"/>
          <p:cNvSpPr/>
          <p:nvPr/>
        </p:nvSpPr>
        <p:spPr>
          <a:xfrm>
            <a:off x="2501900" y="2806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8" name="Google Shape;468;p20"/>
          <p:cNvSpPr/>
          <p:nvPr/>
        </p:nvSpPr>
        <p:spPr>
          <a:xfrm>
            <a:off x="2705100" y="2806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 name="Google Shape;469;p20"/>
          <p:cNvSpPr/>
          <p:nvPr/>
        </p:nvSpPr>
        <p:spPr>
          <a:xfrm>
            <a:off x="469900" y="3009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 name="Google Shape;470;p20"/>
          <p:cNvSpPr/>
          <p:nvPr/>
        </p:nvSpPr>
        <p:spPr>
          <a:xfrm>
            <a:off x="742950" y="30797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 name="Google Shape;471;p20"/>
          <p:cNvSpPr/>
          <p:nvPr/>
        </p:nvSpPr>
        <p:spPr>
          <a:xfrm>
            <a:off x="876300" y="3009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 name="Google Shape;472;p20"/>
          <p:cNvSpPr/>
          <p:nvPr/>
        </p:nvSpPr>
        <p:spPr>
          <a:xfrm>
            <a:off x="1079500" y="3009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p20"/>
          <p:cNvSpPr/>
          <p:nvPr/>
        </p:nvSpPr>
        <p:spPr>
          <a:xfrm>
            <a:off x="1282700" y="3009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20"/>
          <p:cNvSpPr/>
          <p:nvPr/>
        </p:nvSpPr>
        <p:spPr>
          <a:xfrm>
            <a:off x="1485900" y="3009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20"/>
          <p:cNvSpPr/>
          <p:nvPr/>
        </p:nvSpPr>
        <p:spPr>
          <a:xfrm>
            <a:off x="1758950" y="30797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20"/>
          <p:cNvSpPr/>
          <p:nvPr/>
        </p:nvSpPr>
        <p:spPr>
          <a:xfrm>
            <a:off x="1892300" y="3009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7" name="Google Shape;477;p20"/>
          <p:cNvSpPr/>
          <p:nvPr/>
        </p:nvSpPr>
        <p:spPr>
          <a:xfrm>
            <a:off x="2095500" y="3009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20"/>
          <p:cNvSpPr/>
          <p:nvPr/>
        </p:nvSpPr>
        <p:spPr>
          <a:xfrm>
            <a:off x="2368550" y="30797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20"/>
          <p:cNvSpPr/>
          <p:nvPr/>
        </p:nvSpPr>
        <p:spPr>
          <a:xfrm>
            <a:off x="2501900" y="3009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20"/>
          <p:cNvSpPr/>
          <p:nvPr/>
        </p:nvSpPr>
        <p:spPr>
          <a:xfrm>
            <a:off x="2705100" y="30099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20"/>
          <p:cNvSpPr/>
          <p:nvPr/>
        </p:nvSpPr>
        <p:spPr>
          <a:xfrm>
            <a:off x="469900" y="3213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20"/>
          <p:cNvSpPr/>
          <p:nvPr/>
        </p:nvSpPr>
        <p:spPr>
          <a:xfrm>
            <a:off x="742950" y="32829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20"/>
          <p:cNvSpPr/>
          <p:nvPr/>
        </p:nvSpPr>
        <p:spPr>
          <a:xfrm>
            <a:off x="946150" y="32829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 name="Google Shape;484;p20"/>
          <p:cNvSpPr/>
          <p:nvPr/>
        </p:nvSpPr>
        <p:spPr>
          <a:xfrm>
            <a:off x="1149350" y="32829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20"/>
          <p:cNvSpPr/>
          <p:nvPr/>
        </p:nvSpPr>
        <p:spPr>
          <a:xfrm>
            <a:off x="1352550" y="32829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20"/>
          <p:cNvSpPr/>
          <p:nvPr/>
        </p:nvSpPr>
        <p:spPr>
          <a:xfrm>
            <a:off x="1555750" y="32829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 name="Google Shape;487;p20"/>
          <p:cNvSpPr/>
          <p:nvPr/>
        </p:nvSpPr>
        <p:spPr>
          <a:xfrm>
            <a:off x="1758950" y="32829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 name="Google Shape;488;p20"/>
          <p:cNvSpPr/>
          <p:nvPr/>
        </p:nvSpPr>
        <p:spPr>
          <a:xfrm>
            <a:off x="1892300" y="3213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9" name="Google Shape;489;p20"/>
          <p:cNvSpPr/>
          <p:nvPr/>
        </p:nvSpPr>
        <p:spPr>
          <a:xfrm>
            <a:off x="2095500" y="32131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0" name="Google Shape;490;p20"/>
          <p:cNvSpPr/>
          <p:nvPr/>
        </p:nvSpPr>
        <p:spPr>
          <a:xfrm>
            <a:off x="2368550" y="32829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1" name="Google Shape;491;p20"/>
          <p:cNvSpPr/>
          <p:nvPr/>
        </p:nvSpPr>
        <p:spPr>
          <a:xfrm>
            <a:off x="2571750" y="32829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2" name="Google Shape;492;p20"/>
          <p:cNvSpPr/>
          <p:nvPr/>
        </p:nvSpPr>
        <p:spPr>
          <a:xfrm>
            <a:off x="2774950" y="32829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20"/>
          <p:cNvSpPr/>
          <p:nvPr/>
        </p:nvSpPr>
        <p:spPr>
          <a:xfrm>
            <a:off x="469900" y="3416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4" name="Google Shape;494;p20"/>
          <p:cNvSpPr/>
          <p:nvPr/>
        </p:nvSpPr>
        <p:spPr>
          <a:xfrm>
            <a:off x="673100" y="3416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20"/>
          <p:cNvSpPr/>
          <p:nvPr/>
        </p:nvSpPr>
        <p:spPr>
          <a:xfrm>
            <a:off x="876300" y="3416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20"/>
          <p:cNvSpPr/>
          <p:nvPr/>
        </p:nvSpPr>
        <p:spPr>
          <a:xfrm>
            <a:off x="1079500" y="3416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7" name="Google Shape;497;p20"/>
          <p:cNvSpPr/>
          <p:nvPr/>
        </p:nvSpPr>
        <p:spPr>
          <a:xfrm>
            <a:off x="1282700" y="3416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 name="Google Shape;498;p20"/>
          <p:cNvSpPr/>
          <p:nvPr/>
        </p:nvSpPr>
        <p:spPr>
          <a:xfrm>
            <a:off x="1485900" y="3416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9" name="Google Shape;499;p20"/>
          <p:cNvSpPr/>
          <p:nvPr/>
        </p:nvSpPr>
        <p:spPr>
          <a:xfrm>
            <a:off x="1758950" y="34861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 name="Google Shape;500;p20"/>
          <p:cNvSpPr/>
          <p:nvPr/>
        </p:nvSpPr>
        <p:spPr>
          <a:xfrm>
            <a:off x="1892300" y="3416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1" name="Google Shape;501;p20"/>
          <p:cNvSpPr/>
          <p:nvPr/>
        </p:nvSpPr>
        <p:spPr>
          <a:xfrm>
            <a:off x="2095500" y="3416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2" name="Google Shape;502;p20"/>
          <p:cNvSpPr/>
          <p:nvPr/>
        </p:nvSpPr>
        <p:spPr>
          <a:xfrm>
            <a:off x="2298700" y="3416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3" name="Google Shape;503;p20"/>
          <p:cNvSpPr/>
          <p:nvPr/>
        </p:nvSpPr>
        <p:spPr>
          <a:xfrm>
            <a:off x="2501900" y="3416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4" name="Google Shape;504;p20"/>
          <p:cNvSpPr/>
          <p:nvPr/>
        </p:nvSpPr>
        <p:spPr>
          <a:xfrm>
            <a:off x="2705100" y="34163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5" name="Google Shape;505;p20"/>
          <p:cNvSpPr/>
          <p:nvPr/>
        </p:nvSpPr>
        <p:spPr>
          <a:xfrm>
            <a:off x="469900" y="3619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20"/>
          <p:cNvSpPr/>
          <p:nvPr/>
        </p:nvSpPr>
        <p:spPr>
          <a:xfrm>
            <a:off x="673100" y="3619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20"/>
          <p:cNvSpPr/>
          <p:nvPr/>
        </p:nvSpPr>
        <p:spPr>
          <a:xfrm>
            <a:off x="876300" y="3619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8" name="Google Shape;508;p20"/>
          <p:cNvSpPr/>
          <p:nvPr/>
        </p:nvSpPr>
        <p:spPr>
          <a:xfrm>
            <a:off x="1079500" y="3619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20"/>
          <p:cNvSpPr/>
          <p:nvPr/>
        </p:nvSpPr>
        <p:spPr>
          <a:xfrm>
            <a:off x="1282700" y="3619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20"/>
          <p:cNvSpPr/>
          <p:nvPr/>
        </p:nvSpPr>
        <p:spPr>
          <a:xfrm>
            <a:off x="1485900" y="3619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1" name="Google Shape;511;p20"/>
          <p:cNvSpPr/>
          <p:nvPr/>
        </p:nvSpPr>
        <p:spPr>
          <a:xfrm>
            <a:off x="1758950" y="36893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 name="Google Shape;512;p20"/>
          <p:cNvSpPr/>
          <p:nvPr/>
        </p:nvSpPr>
        <p:spPr>
          <a:xfrm>
            <a:off x="1892300" y="3619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3" name="Google Shape;513;p20"/>
          <p:cNvSpPr/>
          <p:nvPr/>
        </p:nvSpPr>
        <p:spPr>
          <a:xfrm>
            <a:off x="2095500" y="3619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4" name="Google Shape;514;p20"/>
          <p:cNvSpPr/>
          <p:nvPr/>
        </p:nvSpPr>
        <p:spPr>
          <a:xfrm>
            <a:off x="2298700" y="3619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5" name="Google Shape;515;p20"/>
          <p:cNvSpPr/>
          <p:nvPr/>
        </p:nvSpPr>
        <p:spPr>
          <a:xfrm>
            <a:off x="2501900" y="3619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20"/>
          <p:cNvSpPr/>
          <p:nvPr/>
        </p:nvSpPr>
        <p:spPr>
          <a:xfrm>
            <a:off x="2705100" y="36195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7" name="Google Shape;517;p20"/>
          <p:cNvSpPr/>
          <p:nvPr/>
        </p:nvSpPr>
        <p:spPr>
          <a:xfrm>
            <a:off x="469900" y="3822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8" name="Google Shape;518;p20"/>
          <p:cNvSpPr/>
          <p:nvPr/>
        </p:nvSpPr>
        <p:spPr>
          <a:xfrm>
            <a:off x="673100" y="3822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9" name="Google Shape;519;p20"/>
          <p:cNvSpPr/>
          <p:nvPr/>
        </p:nvSpPr>
        <p:spPr>
          <a:xfrm>
            <a:off x="876300" y="3822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20"/>
          <p:cNvSpPr/>
          <p:nvPr/>
        </p:nvSpPr>
        <p:spPr>
          <a:xfrm>
            <a:off x="1079500" y="3822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20"/>
          <p:cNvSpPr/>
          <p:nvPr/>
        </p:nvSpPr>
        <p:spPr>
          <a:xfrm>
            <a:off x="1282700" y="3822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20"/>
          <p:cNvSpPr/>
          <p:nvPr/>
        </p:nvSpPr>
        <p:spPr>
          <a:xfrm>
            <a:off x="1485900" y="3822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20"/>
          <p:cNvSpPr/>
          <p:nvPr/>
        </p:nvSpPr>
        <p:spPr>
          <a:xfrm>
            <a:off x="1758950" y="3892550"/>
            <a:ext cx="38100" cy="38100"/>
          </a:xfrm>
          <a:prstGeom prst="ellipse">
            <a:avLst/>
          </a:prstGeom>
          <a:solidFill>
            <a:srgbClr val="F4C4AD"/>
          </a:solidFill>
          <a:ln cap="flat" cmpd="sng" w="12700">
            <a:solidFill>
              <a:srgbClr val="F4C4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4" name="Google Shape;524;p20"/>
          <p:cNvSpPr/>
          <p:nvPr/>
        </p:nvSpPr>
        <p:spPr>
          <a:xfrm>
            <a:off x="1892300" y="3822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5" name="Google Shape;525;p20"/>
          <p:cNvSpPr/>
          <p:nvPr/>
        </p:nvSpPr>
        <p:spPr>
          <a:xfrm>
            <a:off x="2095500" y="3822700"/>
            <a:ext cx="177900" cy="177900"/>
          </a:xfrm>
          <a:prstGeom prst="rect">
            <a:avLst/>
          </a:prstGeom>
          <a:solidFill>
            <a:srgbClr val="334BE8"/>
          </a:solidFill>
          <a:ln cap="flat" cmpd="sng" w="12700">
            <a:solidFill>
              <a:srgbClr val="334B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6" name="Google Shape;526;p20"/>
          <p:cNvSpPr txBox="1"/>
          <p:nvPr/>
        </p:nvSpPr>
        <p:spPr>
          <a:xfrm>
            <a:off x="365760" y="873760"/>
            <a:ext cx="84126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700">
                <a:solidFill>
                  <a:srgbClr val="111827"/>
                </a:solidFill>
              </a:rPr>
              <a:t>A structured board, moving actors, native timers and memory.</a:t>
            </a:r>
            <a:endParaRPr sz="1700">
              <a:solidFill>
                <a:srgbClr val="111827"/>
              </a:solidFill>
            </a:endParaRPr>
          </a:p>
        </p:txBody>
      </p:sp>
      <p:sp>
        <p:nvSpPr>
          <p:cNvPr id="527" name="Google Shape;527;p20"/>
          <p:cNvSpPr txBox="1"/>
          <p:nvPr/>
        </p:nvSpPr>
        <p:spPr>
          <a:xfrm>
            <a:off x="365760" y="1140460"/>
            <a:ext cx="3129300" cy="487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000">
                <a:solidFill>
                  <a:srgbClr val="5E6E80"/>
                </a:solidFill>
              </a:rPr>
              <a:t>Display crop only</a:t>
            </a:r>
            <a:endParaRPr sz="1000">
              <a:solidFill>
                <a:srgbClr val="5E6E80"/>
              </a:solidFill>
            </a:endParaRPr>
          </a:p>
          <a:p>
            <a:pPr indent="0" lvl="0" marL="0" rtl="0" algn="l">
              <a:lnSpc>
                <a:spcPct val="110000"/>
              </a:lnSpc>
              <a:spcBef>
                <a:spcPts val="0"/>
              </a:spcBef>
              <a:spcAft>
                <a:spcPts val="0"/>
              </a:spcAft>
              <a:buNone/>
            </a:pPr>
            <a:r>
              <a:rPr lang="zh-CN" sz="1000">
                <a:solidFill>
                  <a:srgbClr val="5E6E80"/>
                </a:solidFill>
              </a:rPr>
              <a:t>Kev receives the full maze</a:t>
            </a:r>
            <a:endParaRPr sz="1000">
              <a:solidFill>
                <a:srgbClr val="5E6E80"/>
              </a:solidFill>
            </a:endParaRPr>
          </a:p>
        </p:txBody>
      </p:sp>
      <p:sp>
        <p:nvSpPr>
          <p:cNvPr id="528" name="Google Shape;528;p20"/>
          <p:cNvSpPr txBox="1"/>
          <p:nvPr/>
        </p:nvSpPr>
        <p:spPr>
          <a:xfrm>
            <a:off x="365760" y="3997960"/>
            <a:ext cx="2875200" cy="487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5E6E80"/>
                </a:solidFill>
              </a:rPr>
              <a:t>. pellet · o power pellet</a:t>
            </a:r>
            <a:endParaRPr sz="1200">
              <a:solidFill>
                <a:srgbClr val="5E6E80"/>
              </a:solidFill>
            </a:endParaRPr>
          </a:p>
        </p:txBody>
      </p:sp>
      <p:sp>
        <p:nvSpPr>
          <p:cNvPr id="529" name="Google Shape;529;p20"/>
          <p:cNvSpPr txBox="1"/>
          <p:nvPr/>
        </p:nvSpPr>
        <p:spPr>
          <a:xfrm>
            <a:off x="3464560" y="1470660"/>
            <a:ext cx="51612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600">
                <a:solidFill>
                  <a:srgbClr val="167985"/>
                </a:solidFill>
              </a:rPr>
              <a:t>Player + four distinct ghosts</a:t>
            </a:r>
            <a:endParaRPr b="1" sz="1600">
              <a:solidFill>
                <a:srgbClr val="167985"/>
              </a:solidFill>
            </a:endParaRPr>
          </a:p>
        </p:txBody>
      </p:sp>
      <p:sp>
        <p:nvSpPr>
          <p:cNvPr id="530" name="Google Shape;530;p20"/>
          <p:cNvSpPr txBox="1"/>
          <p:nvPr/>
        </p:nvSpPr>
        <p:spPr>
          <a:xfrm>
            <a:off x="3464560" y="1750060"/>
            <a:ext cx="12243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200">
                <a:solidFill>
                  <a:srgbClr val="C02929"/>
                </a:solidFill>
              </a:rPr>
              <a:t>Blinky</a:t>
            </a:r>
            <a:endParaRPr b="1" sz="1200">
              <a:solidFill>
                <a:srgbClr val="C02929"/>
              </a:solidFill>
            </a:endParaRPr>
          </a:p>
        </p:txBody>
      </p:sp>
      <p:sp>
        <p:nvSpPr>
          <p:cNvPr id="531" name="Google Shape;531;p20"/>
          <p:cNvSpPr txBox="1"/>
          <p:nvPr/>
        </p:nvSpPr>
        <p:spPr>
          <a:xfrm>
            <a:off x="4709160" y="1750060"/>
            <a:ext cx="12243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200">
                <a:solidFill>
                  <a:srgbClr val="A63568"/>
                </a:solidFill>
              </a:rPr>
              <a:t>Pinky</a:t>
            </a:r>
            <a:endParaRPr b="1" sz="1200">
              <a:solidFill>
                <a:srgbClr val="A63568"/>
              </a:solidFill>
            </a:endParaRPr>
          </a:p>
        </p:txBody>
      </p:sp>
      <p:sp>
        <p:nvSpPr>
          <p:cNvPr id="532" name="Google Shape;532;p20"/>
          <p:cNvSpPr txBox="1"/>
          <p:nvPr/>
        </p:nvSpPr>
        <p:spPr>
          <a:xfrm>
            <a:off x="5953760" y="1750060"/>
            <a:ext cx="12243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200">
                <a:solidFill>
                  <a:srgbClr val="087D92"/>
                </a:solidFill>
              </a:rPr>
              <a:t>Inky</a:t>
            </a:r>
            <a:endParaRPr b="1" sz="1200">
              <a:solidFill>
                <a:srgbClr val="087D92"/>
              </a:solidFill>
            </a:endParaRPr>
          </a:p>
        </p:txBody>
      </p:sp>
      <p:sp>
        <p:nvSpPr>
          <p:cNvPr id="533" name="Google Shape;533;p20"/>
          <p:cNvSpPr txBox="1"/>
          <p:nvPr/>
        </p:nvSpPr>
        <p:spPr>
          <a:xfrm>
            <a:off x="7198360" y="1750060"/>
            <a:ext cx="12243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200">
                <a:solidFill>
                  <a:srgbClr val="AA6313"/>
                </a:solidFill>
              </a:rPr>
              <a:t>Clyde</a:t>
            </a:r>
            <a:endParaRPr b="1" sz="1200">
              <a:solidFill>
                <a:srgbClr val="AA6313"/>
              </a:solidFill>
            </a:endParaRPr>
          </a:p>
        </p:txBody>
      </p:sp>
      <p:sp>
        <p:nvSpPr>
          <p:cNvPr id="534" name="Google Shape;534;p20"/>
          <p:cNvSpPr txBox="1"/>
          <p:nvPr/>
        </p:nvSpPr>
        <p:spPr>
          <a:xfrm>
            <a:off x="3464560" y="1978660"/>
            <a:ext cx="51612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row/column · heading · pixel_offset · speed_phase</a:t>
            </a:r>
            <a:endParaRPr sz="1200">
              <a:solidFill>
                <a:srgbClr val="111827"/>
              </a:solidFill>
            </a:endParaRPr>
          </a:p>
        </p:txBody>
      </p:sp>
      <p:sp>
        <p:nvSpPr>
          <p:cNvPr id="535" name="Google Shape;535;p20"/>
          <p:cNvSpPr txBox="1"/>
          <p:nvPr/>
        </p:nvSpPr>
        <p:spPr>
          <a:xfrm>
            <a:off x="3464560" y="2207260"/>
            <a:ext cx="51612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Ghosts: mode · frightened · next/pending turns</a:t>
            </a:r>
            <a:endParaRPr sz="1200">
              <a:solidFill>
                <a:srgbClr val="111827"/>
              </a:solidFill>
            </a:endParaRPr>
          </a:p>
        </p:txBody>
      </p:sp>
      <p:sp>
        <p:nvSpPr>
          <p:cNvPr id="536" name="Google Shape;536;p20"/>
          <p:cNvSpPr txBox="1"/>
          <p:nvPr/>
        </p:nvSpPr>
        <p:spPr>
          <a:xfrm>
            <a:off x="3464560" y="2753360"/>
            <a:ext cx="51612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600">
                <a:solidFill>
                  <a:srgbClr val="B36B17"/>
                </a:solidFill>
              </a:rPr>
              <a:t>Native clocks</a:t>
            </a:r>
            <a:endParaRPr b="1" sz="1600">
              <a:solidFill>
                <a:srgbClr val="B36B17"/>
              </a:solidFill>
            </a:endParaRPr>
          </a:p>
        </p:txBody>
      </p:sp>
      <p:sp>
        <p:nvSpPr>
          <p:cNvPr id="537" name="Google Shape;537;p20"/>
          <p:cNvSpPr txBox="1"/>
          <p:nvPr/>
        </p:nvSpPr>
        <p:spPr>
          <a:xfrm>
            <a:off x="3464560" y="3032760"/>
            <a:ext cx="51612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timing.power.remaining_frames</a:t>
            </a:r>
            <a:endParaRPr sz="1200">
              <a:solidFill>
                <a:srgbClr val="111827"/>
              </a:solidFill>
            </a:endParaRPr>
          </a:p>
        </p:txBody>
      </p:sp>
      <p:sp>
        <p:nvSpPr>
          <p:cNvPr id="538" name="Google Shape;538;p20"/>
          <p:cNvSpPr txBox="1"/>
          <p:nvPr/>
        </p:nvSpPr>
        <p:spPr>
          <a:xfrm>
            <a:off x="3464560" y="3235960"/>
            <a:ext cx="51612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100">
                <a:solidFill>
                  <a:srgbClr val="5E6E80"/>
                </a:solidFill>
              </a:rPr>
              <a:t>chase/scatter · release · Elroy · fruit · eating pauses</a:t>
            </a:r>
            <a:endParaRPr sz="1100">
              <a:solidFill>
                <a:srgbClr val="5E6E80"/>
              </a:solidFill>
            </a:endParaRPr>
          </a:p>
        </p:txBody>
      </p:sp>
      <p:sp>
        <p:nvSpPr>
          <p:cNvPr id="539" name="Google Shape;539;p20"/>
          <p:cNvSpPr txBox="1"/>
          <p:nvPr/>
        </p:nvSpPr>
        <p:spPr>
          <a:xfrm>
            <a:off x="3464560" y="3629660"/>
            <a:ext cx="51612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600">
                <a:solidFill>
                  <a:srgbClr val="167985"/>
                </a:solidFill>
              </a:rPr>
              <a:t>Movement and pellet history</a:t>
            </a:r>
            <a:endParaRPr b="1" sz="1600">
              <a:solidFill>
                <a:srgbClr val="167985"/>
              </a:solidFill>
            </a:endParaRPr>
          </a:p>
        </p:txBody>
      </p:sp>
      <p:sp>
        <p:nvSpPr>
          <p:cNvPr id="540" name="Google Shape;540;p20"/>
          <p:cNvSpPr txBox="1"/>
          <p:nvPr/>
        </p:nvSpPr>
        <p:spPr>
          <a:xfrm>
            <a:off x="3464560" y="3909060"/>
            <a:ext cx="51612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recent_positions (up to 64) · destination_visits</a:t>
            </a:r>
            <a:endParaRPr sz="1200">
              <a:solidFill>
                <a:srgbClr val="111827"/>
              </a:solidFill>
            </a:endParaRPr>
          </a:p>
        </p:txBody>
      </p:sp>
      <p:sp>
        <p:nvSpPr>
          <p:cNvPr id="541" name="Google Shape;541;p20"/>
          <p:cNvSpPr txBox="1"/>
          <p:nvPr/>
        </p:nvSpPr>
        <p:spPr>
          <a:xfrm>
            <a:off x="3464560" y="4112260"/>
            <a:ext cx="51612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100">
                <a:solidFill>
                  <a:srgbClr val="5E6E80"/>
                </a:solidFill>
              </a:rPr>
              <a:t>decisions_since_last_pellet · visits_to_current_tile</a:t>
            </a:r>
            <a:endParaRPr sz="1100">
              <a:solidFill>
                <a:srgbClr val="5E6E80"/>
              </a:solidFill>
            </a:endParaRPr>
          </a:p>
        </p:txBody>
      </p:sp>
      <p:sp>
        <p:nvSpPr>
          <p:cNvPr id="542" name="Google Shape;542;p20"/>
          <p:cNvSpPr txBox="1"/>
          <p:nvPr/>
        </p:nvSpPr>
        <p:spPr>
          <a:xfrm>
            <a:off x="365760" y="4391660"/>
            <a:ext cx="3231000" cy="538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200">
                <a:solidFill>
                  <a:srgbClr val="111827"/>
                </a:solidFill>
                <a:latin typeface="Georgia"/>
                <a:ea typeface="Georgia"/>
                <a:cs typeface="Georgia"/>
                <a:sym typeface="Georgia"/>
              </a:rPr>
              <a:t>s</a:t>
            </a:r>
            <a:r>
              <a:rPr baseline="-25000" lang="zh-CN" sz="2200">
                <a:solidFill>
                  <a:srgbClr val="111827"/>
                </a:solidFill>
                <a:latin typeface="Georgia"/>
                <a:ea typeface="Georgia"/>
                <a:cs typeface="Georgia"/>
                <a:sym typeface="Georgia"/>
              </a:rPr>
              <a:t>t</a:t>
            </a:r>
            <a:r>
              <a:rPr lang="zh-CN" sz="2200">
                <a:solidFill>
                  <a:srgbClr val="111827"/>
                </a:solidFill>
                <a:latin typeface="Georgia"/>
                <a:ea typeface="Georgia"/>
                <a:cs typeface="Georgia"/>
                <a:sym typeface="Georgia"/>
              </a:rPr>
              <a:t> = O(g</a:t>
            </a:r>
            <a:r>
              <a:rPr baseline="-25000" lang="zh-CN" sz="2200">
                <a:solidFill>
                  <a:srgbClr val="111827"/>
                </a:solidFill>
                <a:latin typeface="Georgia"/>
                <a:ea typeface="Georgia"/>
                <a:cs typeface="Georgia"/>
                <a:sym typeface="Georgia"/>
              </a:rPr>
              <a:t>t</a:t>
            </a:r>
            <a:r>
              <a:rPr lang="zh-CN" sz="2200">
                <a:solidFill>
                  <a:srgbClr val="111827"/>
                </a:solidFill>
                <a:latin typeface="Georgia"/>
                <a:ea typeface="Georgia"/>
                <a:cs typeface="Georgia"/>
                <a:sym typeface="Georgia"/>
              </a:rPr>
              <a:t>)</a:t>
            </a:r>
            <a:endParaRPr sz="2200">
              <a:solidFill>
                <a:srgbClr val="111827"/>
              </a:solidFill>
              <a:latin typeface="Georgia"/>
              <a:ea typeface="Georgia"/>
              <a:cs typeface="Georgia"/>
              <a:sym typeface="Georgia"/>
            </a:endParaRPr>
          </a:p>
        </p:txBody>
      </p:sp>
      <p:sp>
        <p:nvSpPr>
          <p:cNvPr id="543" name="Google Shape;543;p20"/>
          <p:cNvSpPr txBox="1"/>
          <p:nvPr/>
        </p:nvSpPr>
        <p:spPr>
          <a:xfrm>
            <a:off x="4226560" y="4391660"/>
            <a:ext cx="3103800" cy="538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200">
                <a:solidFill>
                  <a:srgbClr val="111827"/>
                </a:solidFill>
                <a:latin typeface="Georgia"/>
                <a:ea typeface="Georgia"/>
                <a:cs typeface="Georgia"/>
                <a:sym typeface="Georgia"/>
              </a:rPr>
              <a:t>a</a:t>
            </a:r>
            <a:r>
              <a:rPr baseline="-25000" lang="zh-CN" sz="2200">
                <a:solidFill>
                  <a:srgbClr val="111827"/>
                </a:solidFill>
                <a:latin typeface="Georgia"/>
                <a:ea typeface="Georgia"/>
                <a:cs typeface="Georgia"/>
                <a:sym typeface="Georgia"/>
              </a:rPr>
              <a:t>t</a:t>
            </a:r>
            <a:r>
              <a:rPr lang="zh-CN" sz="2200">
                <a:solidFill>
                  <a:srgbClr val="111827"/>
                </a:solidFill>
                <a:latin typeface="Georgia"/>
                <a:ea typeface="Georgia"/>
                <a:cs typeface="Georgia"/>
                <a:sym typeface="Georgia"/>
              </a:rPr>
              <a:t> ∈ A</a:t>
            </a:r>
            <a:r>
              <a:rPr baseline="-25000" lang="zh-CN" sz="2200">
                <a:solidFill>
                  <a:srgbClr val="111827"/>
                </a:solidFill>
                <a:latin typeface="Georgia"/>
                <a:ea typeface="Georgia"/>
                <a:cs typeface="Georgia"/>
                <a:sym typeface="Georgia"/>
              </a:rPr>
              <a:t>t</a:t>
            </a:r>
            <a:endParaRPr baseline="-25000" sz="2200">
              <a:solidFill>
                <a:srgbClr val="111827"/>
              </a:solidFill>
              <a:latin typeface="Georgia"/>
              <a:ea typeface="Georgia"/>
              <a:cs typeface="Georgia"/>
              <a:sym typeface="Georgia"/>
            </a:endParaRPr>
          </a:p>
        </p:txBody>
      </p:sp>
      <p:sp>
        <p:nvSpPr>
          <p:cNvPr id="544" name="Google Shape;544;p20"/>
          <p:cNvSpPr txBox="1"/>
          <p:nvPr/>
        </p:nvSpPr>
        <p:spPr>
          <a:xfrm>
            <a:off x="6258560" y="4442460"/>
            <a:ext cx="25197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5E6E80"/>
                </a:solidFill>
              </a:rPr>
              <a:t>Wall-legal directions</a:t>
            </a:r>
            <a:endParaRPr sz="1200">
              <a:solidFill>
                <a:srgbClr val="5E6E8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pic>
        <p:nvPicPr>
          <p:cNvPr descr="Highlights the native snapshot, legal first moves, routing policy portfolio, native dynamics, ordered rank and replanning. Native math and diagrams remain editable. The footer opens Play, pause and step controls. Static diagram and mathematics remain native editable objects." id="549" name="Google Shape;549;p21" title="Animated native rollout MPC teacher"/>
          <p:cNvPicPr preferRelativeResize="0"/>
          <p:nvPr/>
        </p:nvPicPr>
        <p:blipFill>
          <a:blip r:embed="rId3">
            <a:alphaModFix/>
          </a:blip>
          <a:stretch>
            <a:fillRect/>
          </a:stretch>
        </p:blipFill>
        <p:spPr>
          <a:xfrm>
            <a:off x="330200" y="1257300"/>
            <a:ext cx="8559800" cy="3530600"/>
          </a:xfrm>
          <a:prstGeom prst="rect">
            <a:avLst/>
          </a:prstGeom>
          <a:noFill/>
          <a:ln>
            <a:noFill/>
          </a:ln>
        </p:spPr>
      </p:pic>
      <p:sp>
        <p:nvSpPr>
          <p:cNvPr id="550" name="Google Shape;550;p21"/>
          <p:cNvSpPr txBox="1"/>
          <p:nvPr>
            <p:ph type="title"/>
          </p:nvPr>
        </p:nvSpPr>
        <p:spPr>
          <a:xfrm>
            <a:off x="365760" y="226060"/>
            <a:ext cx="8412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3000">
                <a:solidFill>
                  <a:srgbClr val="111827"/>
                </a:solidFill>
              </a:rPr>
              <a:t>Native rollout MPC teacher</a:t>
            </a:r>
            <a:endParaRPr b="1" sz="3000">
              <a:solidFill>
                <a:srgbClr val="111827"/>
              </a:solidFill>
            </a:endParaRPr>
          </a:p>
        </p:txBody>
      </p:sp>
      <p:sp>
        <p:nvSpPr>
          <p:cNvPr id="551" name="Google Shape;551;p21"/>
          <p:cNvSpPr txBox="1"/>
          <p:nvPr/>
        </p:nvSpPr>
        <p:spPr>
          <a:xfrm>
            <a:off x="365760" y="4772660"/>
            <a:ext cx="7993500" cy="3987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zh-CN" sz="900">
                <a:solidFill>
                  <a:srgbClr val="5E6E80"/>
                </a:solidFill>
              </a:rPr>
              <a:t>Fresh native example. Finite policy portfolio.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552" name="Google Shape;552;p21"/>
          <p:cNvSpPr txBox="1"/>
          <p:nvPr/>
        </p:nvSpPr>
        <p:spPr>
          <a:xfrm>
            <a:off x="8354060" y="4772660"/>
            <a:ext cx="4242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9</a:t>
            </a:r>
            <a:endParaRPr sz="900">
              <a:solidFill>
                <a:srgbClr val="5E6E80"/>
              </a:solidFill>
            </a:endParaRPr>
          </a:p>
        </p:txBody>
      </p:sp>
      <p:sp>
        <p:nvSpPr>
          <p:cNvPr id="553" name="Google Shape;553;p21"/>
          <p:cNvSpPr/>
          <p:nvPr/>
        </p:nvSpPr>
        <p:spPr>
          <a:xfrm>
            <a:off x="457200" y="1905000"/>
            <a:ext cx="1371600" cy="8127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21"/>
          <p:cNvSpPr/>
          <p:nvPr/>
        </p:nvSpPr>
        <p:spPr>
          <a:xfrm>
            <a:off x="2387600" y="1549400"/>
            <a:ext cx="1016100" cy="3555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5" name="Google Shape;555;p21"/>
          <p:cNvSpPr/>
          <p:nvPr/>
        </p:nvSpPr>
        <p:spPr>
          <a:xfrm>
            <a:off x="2387600" y="2095500"/>
            <a:ext cx="1016100" cy="355500"/>
          </a:xfrm>
          <a:prstGeom prst="rect">
            <a:avLst/>
          </a:prstGeom>
          <a:solidFill>
            <a:srgbClr val="FFFFFF"/>
          </a:solidFill>
          <a:ln cap="flat" cmpd="sng" w="12700">
            <a:solidFill>
              <a:srgbClr val="5E6E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6" name="Google Shape;556;p21"/>
          <p:cNvSpPr/>
          <p:nvPr/>
        </p:nvSpPr>
        <p:spPr>
          <a:xfrm>
            <a:off x="2387600" y="2641600"/>
            <a:ext cx="1016100" cy="355500"/>
          </a:xfrm>
          <a:prstGeom prst="rect">
            <a:avLst/>
          </a:prstGeom>
          <a:solidFill>
            <a:srgbClr val="FFFFFF"/>
          </a:solidFill>
          <a:ln cap="flat" cmpd="sng" w="12700">
            <a:solidFill>
              <a:srgbClr val="5E6E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21"/>
          <p:cNvSpPr/>
          <p:nvPr/>
        </p:nvSpPr>
        <p:spPr>
          <a:xfrm>
            <a:off x="3937000" y="1435100"/>
            <a:ext cx="2667000" cy="16638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21"/>
          <p:cNvSpPr/>
          <p:nvPr/>
        </p:nvSpPr>
        <p:spPr>
          <a:xfrm>
            <a:off x="6959600" y="1612900"/>
            <a:ext cx="1727100" cy="1269900"/>
          </a:xfrm>
          <a:prstGeom prst="rect">
            <a:avLst/>
          </a:prstGeom>
          <a:solidFill>
            <a:srgbClr val="FFFFFF"/>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21"/>
          <p:cNvSpPr/>
          <p:nvPr/>
        </p:nvSpPr>
        <p:spPr>
          <a:xfrm>
            <a:off x="6959600" y="3352800"/>
            <a:ext cx="1727100" cy="4698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60" name="Google Shape;560;p21"/>
          <p:cNvCxnSpPr/>
          <p:nvPr/>
        </p:nvCxnSpPr>
        <p:spPr>
          <a:xfrm>
            <a:off x="1828800" y="2311400"/>
            <a:ext cx="254100" cy="0"/>
          </a:xfrm>
          <a:prstGeom prst="straightConnector1">
            <a:avLst/>
          </a:prstGeom>
          <a:noFill/>
          <a:ln cap="flat" cmpd="sng" w="15250">
            <a:solidFill>
              <a:srgbClr val="5E6E80"/>
            </a:solidFill>
            <a:prstDash val="solid"/>
            <a:round/>
            <a:headEnd len="med" w="med" type="none"/>
            <a:tailEnd len="med" w="med" type="none"/>
          </a:ln>
        </p:spPr>
      </p:cxnSp>
      <p:cxnSp>
        <p:nvCxnSpPr>
          <p:cNvPr id="561" name="Google Shape;561;p21"/>
          <p:cNvCxnSpPr/>
          <p:nvPr/>
        </p:nvCxnSpPr>
        <p:spPr>
          <a:xfrm>
            <a:off x="2082800" y="1727200"/>
            <a:ext cx="0" cy="1092300"/>
          </a:xfrm>
          <a:prstGeom prst="straightConnector1">
            <a:avLst/>
          </a:prstGeom>
          <a:noFill/>
          <a:ln cap="flat" cmpd="sng" w="15250">
            <a:solidFill>
              <a:srgbClr val="5E6E80"/>
            </a:solidFill>
            <a:prstDash val="solid"/>
            <a:round/>
            <a:headEnd len="med" w="med" type="none"/>
            <a:tailEnd len="med" w="med" type="none"/>
          </a:ln>
        </p:spPr>
      </p:cxnSp>
      <p:cxnSp>
        <p:nvCxnSpPr>
          <p:cNvPr id="562" name="Google Shape;562;p21"/>
          <p:cNvCxnSpPr/>
          <p:nvPr/>
        </p:nvCxnSpPr>
        <p:spPr>
          <a:xfrm>
            <a:off x="2082800" y="1727200"/>
            <a:ext cx="279300" cy="0"/>
          </a:xfrm>
          <a:prstGeom prst="straightConnector1">
            <a:avLst/>
          </a:prstGeom>
          <a:noFill/>
          <a:ln cap="flat" cmpd="sng" w="15250">
            <a:solidFill>
              <a:srgbClr val="5E6E80"/>
            </a:solidFill>
            <a:prstDash val="solid"/>
            <a:round/>
            <a:headEnd len="med" w="med" type="none"/>
            <a:tailEnd len="med" w="med" type="triangle"/>
          </a:ln>
        </p:spPr>
      </p:cxnSp>
      <p:cxnSp>
        <p:nvCxnSpPr>
          <p:cNvPr id="563" name="Google Shape;563;p21"/>
          <p:cNvCxnSpPr/>
          <p:nvPr/>
        </p:nvCxnSpPr>
        <p:spPr>
          <a:xfrm>
            <a:off x="2082800" y="2273300"/>
            <a:ext cx="279300" cy="0"/>
          </a:xfrm>
          <a:prstGeom prst="straightConnector1">
            <a:avLst/>
          </a:prstGeom>
          <a:noFill/>
          <a:ln cap="flat" cmpd="sng" w="15250">
            <a:solidFill>
              <a:srgbClr val="5E6E80"/>
            </a:solidFill>
            <a:prstDash val="solid"/>
            <a:round/>
            <a:headEnd len="med" w="med" type="none"/>
            <a:tailEnd len="med" w="med" type="triangle"/>
          </a:ln>
        </p:spPr>
      </p:cxnSp>
      <p:cxnSp>
        <p:nvCxnSpPr>
          <p:cNvPr id="564" name="Google Shape;564;p21"/>
          <p:cNvCxnSpPr/>
          <p:nvPr/>
        </p:nvCxnSpPr>
        <p:spPr>
          <a:xfrm>
            <a:off x="2082800" y="2819400"/>
            <a:ext cx="279300" cy="0"/>
          </a:xfrm>
          <a:prstGeom prst="straightConnector1">
            <a:avLst/>
          </a:prstGeom>
          <a:noFill/>
          <a:ln cap="flat" cmpd="sng" w="15250">
            <a:solidFill>
              <a:srgbClr val="5E6E80"/>
            </a:solidFill>
            <a:prstDash val="solid"/>
            <a:round/>
            <a:headEnd len="med" w="med" type="none"/>
            <a:tailEnd len="med" w="med" type="triangle"/>
          </a:ln>
        </p:spPr>
      </p:cxnSp>
      <p:cxnSp>
        <p:nvCxnSpPr>
          <p:cNvPr id="565" name="Google Shape;565;p21"/>
          <p:cNvCxnSpPr/>
          <p:nvPr/>
        </p:nvCxnSpPr>
        <p:spPr>
          <a:xfrm>
            <a:off x="3403600" y="1727200"/>
            <a:ext cx="241200" cy="0"/>
          </a:xfrm>
          <a:prstGeom prst="straightConnector1">
            <a:avLst/>
          </a:prstGeom>
          <a:noFill/>
          <a:ln cap="flat" cmpd="sng" w="15250">
            <a:solidFill>
              <a:srgbClr val="5E6E80"/>
            </a:solidFill>
            <a:prstDash val="solid"/>
            <a:round/>
            <a:headEnd len="med" w="med" type="none"/>
            <a:tailEnd len="med" w="med" type="none"/>
          </a:ln>
        </p:spPr>
      </p:cxnSp>
      <p:cxnSp>
        <p:nvCxnSpPr>
          <p:cNvPr id="566" name="Google Shape;566;p21"/>
          <p:cNvCxnSpPr/>
          <p:nvPr/>
        </p:nvCxnSpPr>
        <p:spPr>
          <a:xfrm>
            <a:off x="3403600" y="2273300"/>
            <a:ext cx="241200" cy="0"/>
          </a:xfrm>
          <a:prstGeom prst="straightConnector1">
            <a:avLst/>
          </a:prstGeom>
          <a:noFill/>
          <a:ln cap="flat" cmpd="sng" w="15250">
            <a:solidFill>
              <a:srgbClr val="5E6E80"/>
            </a:solidFill>
            <a:prstDash val="solid"/>
            <a:round/>
            <a:headEnd len="med" w="med" type="none"/>
            <a:tailEnd len="med" w="med" type="none"/>
          </a:ln>
        </p:spPr>
      </p:cxnSp>
      <p:cxnSp>
        <p:nvCxnSpPr>
          <p:cNvPr id="567" name="Google Shape;567;p21"/>
          <p:cNvCxnSpPr/>
          <p:nvPr/>
        </p:nvCxnSpPr>
        <p:spPr>
          <a:xfrm>
            <a:off x="3403600" y="2819400"/>
            <a:ext cx="241200" cy="0"/>
          </a:xfrm>
          <a:prstGeom prst="straightConnector1">
            <a:avLst/>
          </a:prstGeom>
          <a:noFill/>
          <a:ln cap="flat" cmpd="sng" w="15250">
            <a:solidFill>
              <a:srgbClr val="5E6E80"/>
            </a:solidFill>
            <a:prstDash val="solid"/>
            <a:round/>
            <a:headEnd len="med" w="med" type="none"/>
            <a:tailEnd len="med" w="med" type="none"/>
          </a:ln>
        </p:spPr>
      </p:cxnSp>
      <p:cxnSp>
        <p:nvCxnSpPr>
          <p:cNvPr id="568" name="Google Shape;568;p21"/>
          <p:cNvCxnSpPr/>
          <p:nvPr/>
        </p:nvCxnSpPr>
        <p:spPr>
          <a:xfrm>
            <a:off x="3644900" y="1727200"/>
            <a:ext cx="0" cy="1092300"/>
          </a:xfrm>
          <a:prstGeom prst="straightConnector1">
            <a:avLst/>
          </a:prstGeom>
          <a:noFill/>
          <a:ln cap="flat" cmpd="sng" w="15250">
            <a:solidFill>
              <a:srgbClr val="5E6E80"/>
            </a:solidFill>
            <a:prstDash val="solid"/>
            <a:round/>
            <a:headEnd len="med" w="med" type="none"/>
            <a:tailEnd len="med" w="med" type="none"/>
          </a:ln>
        </p:spPr>
      </p:cxnSp>
      <p:cxnSp>
        <p:nvCxnSpPr>
          <p:cNvPr id="569" name="Google Shape;569;p21"/>
          <p:cNvCxnSpPr/>
          <p:nvPr/>
        </p:nvCxnSpPr>
        <p:spPr>
          <a:xfrm>
            <a:off x="3644900" y="2273300"/>
            <a:ext cx="266700" cy="0"/>
          </a:xfrm>
          <a:prstGeom prst="straightConnector1">
            <a:avLst/>
          </a:prstGeom>
          <a:noFill/>
          <a:ln cap="flat" cmpd="sng" w="15250">
            <a:solidFill>
              <a:srgbClr val="B36B17"/>
            </a:solidFill>
            <a:prstDash val="solid"/>
            <a:round/>
            <a:headEnd len="med" w="med" type="none"/>
            <a:tailEnd len="med" w="med" type="triangle"/>
          </a:ln>
        </p:spPr>
      </p:cxnSp>
      <p:cxnSp>
        <p:nvCxnSpPr>
          <p:cNvPr id="570" name="Google Shape;570;p21"/>
          <p:cNvCxnSpPr/>
          <p:nvPr/>
        </p:nvCxnSpPr>
        <p:spPr>
          <a:xfrm>
            <a:off x="6604000" y="2273300"/>
            <a:ext cx="330300" cy="0"/>
          </a:xfrm>
          <a:prstGeom prst="straightConnector1">
            <a:avLst/>
          </a:prstGeom>
          <a:noFill/>
          <a:ln cap="flat" cmpd="sng" w="15250">
            <a:solidFill>
              <a:srgbClr val="167985"/>
            </a:solidFill>
            <a:prstDash val="solid"/>
            <a:round/>
            <a:headEnd len="med" w="med" type="none"/>
            <a:tailEnd len="med" w="med" type="triangle"/>
          </a:ln>
        </p:spPr>
      </p:cxnSp>
      <p:cxnSp>
        <p:nvCxnSpPr>
          <p:cNvPr id="571" name="Google Shape;571;p21"/>
          <p:cNvCxnSpPr/>
          <p:nvPr/>
        </p:nvCxnSpPr>
        <p:spPr>
          <a:xfrm>
            <a:off x="7823200" y="2882900"/>
            <a:ext cx="0" cy="444600"/>
          </a:xfrm>
          <a:prstGeom prst="straightConnector1">
            <a:avLst/>
          </a:prstGeom>
          <a:noFill/>
          <a:ln cap="flat" cmpd="sng" w="15250">
            <a:solidFill>
              <a:srgbClr val="167985"/>
            </a:solidFill>
            <a:prstDash val="solid"/>
            <a:round/>
            <a:headEnd len="med" w="med" type="none"/>
            <a:tailEnd len="med" w="med" type="triangle"/>
          </a:ln>
        </p:spPr>
      </p:cxnSp>
      <p:cxnSp>
        <p:nvCxnSpPr>
          <p:cNvPr id="572" name="Google Shape;572;p21"/>
          <p:cNvCxnSpPr/>
          <p:nvPr/>
        </p:nvCxnSpPr>
        <p:spPr>
          <a:xfrm>
            <a:off x="7823200" y="3822700"/>
            <a:ext cx="0" cy="190500"/>
          </a:xfrm>
          <a:prstGeom prst="straightConnector1">
            <a:avLst/>
          </a:prstGeom>
          <a:noFill/>
          <a:ln cap="flat" cmpd="sng" w="15250">
            <a:solidFill>
              <a:srgbClr val="167985"/>
            </a:solidFill>
            <a:prstDash val="solid"/>
            <a:round/>
            <a:headEnd len="med" w="med" type="none"/>
            <a:tailEnd len="med" w="med" type="none"/>
          </a:ln>
        </p:spPr>
      </p:cxnSp>
      <p:cxnSp>
        <p:nvCxnSpPr>
          <p:cNvPr id="573" name="Google Shape;573;p21"/>
          <p:cNvCxnSpPr/>
          <p:nvPr/>
        </p:nvCxnSpPr>
        <p:spPr>
          <a:xfrm rot="10800000">
            <a:off x="1143100" y="4013200"/>
            <a:ext cx="6680100" cy="0"/>
          </a:xfrm>
          <a:prstGeom prst="straightConnector1">
            <a:avLst/>
          </a:prstGeom>
          <a:noFill/>
          <a:ln cap="flat" cmpd="sng" w="15250">
            <a:solidFill>
              <a:srgbClr val="167985"/>
            </a:solidFill>
            <a:prstDash val="solid"/>
            <a:round/>
            <a:headEnd len="med" w="med" type="none"/>
            <a:tailEnd len="med" w="med" type="none"/>
          </a:ln>
        </p:spPr>
      </p:cxnSp>
      <p:cxnSp>
        <p:nvCxnSpPr>
          <p:cNvPr id="574" name="Google Shape;574;p21"/>
          <p:cNvCxnSpPr/>
          <p:nvPr/>
        </p:nvCxnSpPr>
        <p:spPr>
          <a:xfrm rot="10800000">
            <a:off x="1143000" y="2743300"/>
            <a:ext cx="0" cy="1269900"/>
          </a:xfrm>
          <a:prstGeom prst="straightConnector1">
            <a:avLst/>
          </a:prstGeom>
          <a:noFill/>
          <a:ln cap="flat" cmpd="sng" w="15250">
            <a:solidFill>
              <a:srgbClr val="167985"/>
            </a:solidFill>
            <a:prstDash val="solid"/>
            <a:round/>
            <a:headEnd len="med" w="med" type="none"/>
            <a:tailEnd len="med" w="med" type="triangle"/>
          </a:ln>
        </p:spPr>
      </p:cxnSp>
      <p:sp>
        <p:nvSpPr>
          <p:cNvPr id="575" name="Google Shape;575;p21"/>
          <p:cNvSpPr txBox="1"/>
          <p:nvPr/>
        </p:nvSpPr>
        <p:spPr>
          <a:xfrm>
            <a:off x="365760" y="873760"/>
            <a:ext cx="84126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700">
                <a:solidFill>
                  <a:srgbClr val="111827"/>
                </a:solidFill>
              </a:rPr>
              <a:t>Compare forecasts, execute one direction, then replan.</a:t>
            </a:r>
            <a:endParaRPr sz="1700">
              <a:solidFill>
                <a:srgbClr val="111827"/>
              </a:solidFill>
            </a:endParaRPr>
          </a:p>
        </p:txBody>
      </p:sp>
      <p:sp>
        <p:nvSpPr>
          <p:cNvPr id="576" name="Google Shape;576;p21"/>
          <p:cNvSpPr txBox="1"/>
          <p:nvPr/>
        </p:nvSpPr>
        <p:spPr>
          <a:xfrm>
            <a:off x="480060" y="1915160"/>
            <a:ext cx="13260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100">
                <a:solidFill>
                  <a:srgbClr val="167985"/>
                </a:solidFill>
              </a:rPr>
              <a:t>Native snapshot</a:t>
            </a:r>
            <a:endParaRPr b="1" sz="1100">
              <a:solidFill>
                <a:srgbClr val="167985"/>
              </a:solidFill>
            </a:endParaRPr>
          </a:p>
        </p:txBody>
      </p:sp>
      <p:sp>
        <p:nvSpPr>
          <p:cNvPr id="577" name="Google Shape;577;p21"/>
          <p:cNvSpPr txBox="1"/>
          <p:nvPr/>
        </p:nvSpPr>
        <p:spPr>
          <a:xfrm>
            <a:off x="822960" y="2181860"/>
            <a:ext cx="754500" cy="513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200">
                <a:solidFill>
                  <a:srgbClr val="111827"/>
                </a:solidFill>
                <a:latin typeface="Georgia"/>
                <a:ea typeface="Georgia"/>
                <a:cs typeface="Georgia"/>
                <a:sym typeface="Georgia"/>
              </a:rPr>
              <a:t>g</a:t>
            </a:r>
            <a:r>
              <a:rPr baseline="-25000" lang="zh-CN" sz="2200">
                <a:solidFill>
                  <a:srgbClr val="111827"/>
                </a:solidFill>
                <a:latin typeface="Georgia"/>
                <a:ea typeface="Georgia"/>
                <a:cs typeface="Georgia"/>
                <a:sym typeface="Georgia"/>
              </a:rPr>
              <a:t>t</a:t>
            </a:r>
            <a:endParaRPr baseline="-25000" sz="2200">
              <a:solidFill>
                <a:srgbClr val="111827"/>
              </a:solidFill>
              <a:latin typeface="Georgia"/>
              <a:ea typeface="Georgia"/>
              <a:cs typeface="Georgia"/>
              <a:sym typeface="Georgia"/>
            </a:endParaRPr>
          </a:p>
        </p:txBody>
      </p:sp>
      <p:sp>
        <p:nvSpPr>
          <p:cNvPr id="578" name="Google Shape;578;p21"/>
          <p:cNvSpPr txBox="1"/>
          <p:nvPr/>
        </p:nvSpPr>
        <p:spPr>
          <a:xfrm>
            <a:off x="2169160" y="1203960"/>
            <a:ext cx="16308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100">
                <a:solidFill>
                  <a:srgbClr val="5E6E80"/>
                </a:solidFill>
              </a:rPr>
              <a:t>Legal first directions</a:t>
            </a:r>
            <a:endParaRPr sz="1100">
              <a:solidFill>
                <a:srgbClr val="5E6E80"/>
              </a:solidFill>
            </a:endParaRPr>
          </a:p>
        </p:txBody>
      </p:sp>
      <p:sp>
        <p:nvSpPr>
          <p:cNvPr id="579" name="Google Shape;579;p21"/>
          <p:cNvSpPr txBox="1"/>
          <p:nvPr/>
        </p:nvSpPr>
        <p:spPr>
          <a:xfrm>
            <a:off x="2575560" y="1521460"/>
            <a:ext cx="8433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300">
                <a:solidFill>
                  <a:srgbClr val="167985"/>
                </a:solidFill>
              </a:rPr>
              <a:t>Up</a:t>
            </a:r>
            <a:endParaRPr b="1" sz="1300">
              <a:solidFill>
                <a:srgbClr val="167985"/>
              </a:solidFill>
            </a:endParaRPr>
          </a:p>
        </p:txBody>
      </p:sp>
      <p:sp>
        <p:nvSpPr>
          <p:cNvPr id="580" name="Google Shape;580;p21"/>
          <p:cNvSpPr txBox="1"/>
          <p:nvPr/>
        </p:nvSpPr>
        <p:spPr>
          <a:xfrm>
            <a:off x="2512060" y="2067560"/>
            <a:ext cx="8814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300">
                <a:solidFill>
                  <a:srgbClr val="111827"/>
                </a:solidFill>
              </a:rPr>
              <a:t>Left</a:t>
            </a:r>
            <a:endParaRPr sz="1300">
              <a:solidFill>
                <a:srgbClr val="111827"/>
              </a:solidFill>
            </a:endParaRPr>
          </a:p>
        </p:txBody>
      </p:sp>
      <p:sp>
        <p:nvSpPr>
          <p:cNvPr id="581" name="Google Shape;581;p21"/>
          <p:cNvSpPr txBox="1"/>
          <p:nvPr/>
        </p:nvSpPr>
        <p:spPr>
          <a:xfrm>
            <a:off x="2461260" y="2613660"/>
            <a:ext cx="9576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300">
                <a:solidFill>
                  <a:srgbClr val="111827"/>
                </a:solidFill>
              </a:rPr>
              <a:t>Right</a:t>
            </a:r>
            <a:endParaRPr sz="1300">
              <a:solidFill>
                <a:srgbClr val="111827"/>
              </a:solidFill>
            </a:endParaRPr>
          </a:p>
        </p:txBody>
      </p:sp>
      <p:sp>
        <p:nvSpPr>
          <p:cNvPr id="582" name="Google Shape;582;p21"/>
          <p:cNvSpPr txBox="1"/>
          <p:nvPr/>
        </p:nvSpPr>
        <p:spPr>
          <a:xfrm>
            <a:off x="3997960" y="1432560"/>
            <a:ext cx="25452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600">
                <a:solidFill>
                  <a:srgbClr val="B36B17"/>
                </a:solidFill>
              </a:rPr>
              <a:t>Native game rollouts</a:t>
            </a:r>
            <a:endParaRPr b="1" sz="1600">
              <a:solidFill>
                <a:srgbClr val="B36B17"/>
              </a:solidFill>
            </a:endParaRPr>
          </a:p>
        </p:txBody>
      </p:sp>
      <p:sp>
        <p:nvSpPr>
          <p:cNvPr id="583" name="Google Shape;583;p21"/>
          <p:cNvSpPr txBox="1"/>
          <p:nvPr/>
        </p:nvSpPr>
        <p:spPr>
          <a:xfrm>
            <a:off x="3997960" y="1750060"/>
            <a:ext cx="25452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4 route buffers × 2 futures</a:t>
            </a:r>
            <a:endParaRPr sz="1200">
              <a:solidFill>
                <a:srgbClr val="111827"/>
              </a:solidFill>
            </a:endParaRPr>
          </a:p>
        </p:txBody>
      </p:sp>
      <p:sp>
        <p:nvSpPr>
          <p:cNvPr id="584" name="Google Shape;584;p21"/>
          <p:cNvSpPr txBox="1"/>
          <p:nvPr/>
        </p:nvSpPr>
        <p:spPr>
          <a:xfrm>
            <a:off x="3997960" y="2029460"/>
            <a:ext cx="8307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100">
                <a:solidFill>
                  <a:srgbClr val="C02929"/>
                </a:solidFill>
              </a:rPr>
              <a:t>Blinky</a:t>
            </a:r>
            <a:endParaRPr b="1" sz="1100">
              <a:solidFill>
                <a:srgbClr val="C02929"/>
              </a:solidFill>
            </a:endParaRPr>
          </a:p>
        </p:txBody>
      </p:sp>
      <p:sp>
        <p:nvSpPr>
          <p:cNvPr id="585" name="Google Shape;585;p21"/>
          <p:cNvSpPr txBox="1"/>
          <p:nvPr/>
        </p:nvSpPr>
        <p:spPr>
          <a:xfrm>
            <a:off x="4658360" y="2029460"/>
            <a:ext cx="7290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100">
                <a:solidFill>
                  <a:srgbClr val="A63568"/>
                </a:solidFill>
              </a:rPr>
              <a:t>Pinky</a:t>
            </a:r>
            <a:endParaRPr b="1" sz="1100">
              <a:solidFill>
                <a:srgbClr val="A63568"/>
              </a:solidFill>
            </a:endParaRPr>
          </a:p>
        </p:txBody>
      </p:sp>
      <p:sp>
        <p:nvSpPr>
          <p:cNvPr id="586" name="Google Shape;586;p21"/>
          <p:cNvSpPr txBox="1"/>
          <p:nvPr/>
        </p:nvSpPr>
        <p:spPr>
          <a:xfrm>
            <a:off x="5217160" y="2029460"/>
            <a:ext cx="6783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100">
                <a:solidFill>
                  <a:srgbClr val="087D92"/>
                </a:solidFill>
              </a:rPr>
              <a:t>Inky</a:t>
            </a:r>
            <a:endParaRPr b="1" sz="1100">
              <a:solidFill>
                <a:srgbClr val="087D92"/>
              </a:solidFill>
            </a:endParaRPr>
          </a:p>
        </p:txBody>
      </p:sp>
      <p:sp>
        <p:nvSpPr>
          <p:cNvPr id="587" name="Google Shape;587;p21"/>
          <p:cNvSpPr txBox="1"/>
          <p:nvPr/>
        </p:nvSpPr>
        <p:spPr>
          <a:xfrm>
            <a:off x="5725160" y="2029460"/>
            <a:ext cx="8178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100">
                <a:solidFill>
                  <a:srgbClr val="AA6313"/>
                </a:solidFill>
              </a:rPr>
              <a:t>Clyde</a:t>
            </a:r>
            <a:endParaRPr b="1" sz="1100">
              <a:solidFill>
                <a:srgbClr val="AA6313"/>
              </a:solidFill>
            </a:endParaRPr>
          </a:p>
        </p:txBody>
      </p:sp>
      <p:sp>
        <p:nvSpPr>
          <p:cNvPr id="588" name="Google Shape;588;p21"/>
          <p:cNvSpPr txBox="1"/>
          <p:nvPr/>
        </p:nvSpPr>
        <p:spPr>
          <a:xfrm>
            <a:off x="3997960" y="2296160"/>
            <a:ext cx="25452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Pixel motion, clocks, collisions</a:t>
            </a:r>
            <a:endParaRPr sz="1200">
              <a:solidFill>
                <a:srgbClr val="111827"/>
              </a:solidFill>
            </a:endParaRPr>
          </a:p>
        </p:txBody>
      </p:sp>
      <p:sp>
        <p:nvSpPr>
          <p:cNvPr id="589" name="Google Shape;589;p21"/>
          <p:cNvSpPr txBox="1"/>
          <p:nvPr/>
        </p:nvSpPr>
        <p:spPr>
          <a:xfrm>
            <a:off x="3997960" y="2588260"/>
            <a:ext cx="2545200" cy="474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100">
                <a:solidFill>
                  <a:srgbClr val="5E6E80"/>
                </a:solidFill>
              </a:rPr>
              <a:t>240 frames, 480 near danger</a:t>
            </a:r>
            <a:endParaRPr sz="1100">
              <a:solidFill>
                <a:srgbClr val="5E6E80"/>
              </a:solidFill>
            </a:endParaRPr>
          </a:p>
          <a:p>
            <a:pPr indent="0" lvl="0" marL="0" rtl="0" algn="l">
              <a:lnSpc>
                <a:spcPct val="110000"/>
              </a:lnSpc>
              <a:spcBef>
                <a:spcPts val="0"/>
              </a:spcBef>
              <a:spcAft>
                <a:spcPts val="0"/>
              </a:spcAft>
              <a:buNone/>
            </a:pPr>
            <a:r>
              <a:rPr lang="zh-CN" sz="1100">
                <a:solidFill>
                  <a:srgbClr val="5E6E80"/>
                </a:solidFill>
              </a:rPr>
              <a:t>or with 30 or fewer pellets</a:t>
            </a:r>
            <a:endParaRPr sz="1100">
              <a:solidFill>
                <a:srgbClr val="5E6E80"/>
              </a:solidFill>
            </a:endParaRPr>
          </a:p>
        </p:txBody>
      </p:sp>
      <p:sp>
        <p:nvSpPr>
          <p:cNvPr id="590" name="Google Shape;590;p21"/>
          <p:cNvSpPr txBox="1"/>
          <p:nvPr/>
        </p:nvSpPr>
        <p:spPr>
          <a:xfrm>
            <a:off x="7007860" y="1623060"/>
            <a:ext cx="1630800" cy="436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a:solidFill>
                  <a:srgbClr val="167985"/>
                </a:solidFill>
              </a:rPr>
              <a:t>Compare rank ρ</a:t>
            </a:r>
            <a:endParaRPr b="1">
              <a:solidFill>
                <a:srgbClr val="167985"/>
              </a:solidFill>
            </a:endParaRPr>
          </a:p>
        </p:txBody>
      </p:sp>
      <p:sp>
        <p:nvSpPr>
          <p:cNvPr id="591" name="Google Shape;591;p21"/>
          <p:cNvSpPr txBox="1"/>
          <p:nvPr/>
        </p:nvSpPr>
        <p:spPr>
          <a:xfrm>
            <a:off x="7007860" y="1953260"/>
            <a:ext cx="16053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200">
                <a:solidFill>
                  <a:srgbClr val="167985"/>
                </a:solidFill>
              </a:rPr>
              <a:t>Up        7 frames</a:t>
            </a:r>
            <a:endParaRPr b="1" sz="1200">
              <a:solidFill>
                <a:srgbClr val="167985"/>
              </a:solidFill>
            </a:endParaRPr>
          </a:p>
        </p:txBody>
      </p:sp>
      <p:sp>
        <p:nvSpPr>
          <p:cNvPr id="592" name="Google Shape;592;p21"/>
          <p:cNvSpPr txBox="1"/>
          <p:nvPr/>
        </p:nvSpPr>
        <p:spPr>
          <a:xfrm>
            <a:off x="7007860" y="2207260"/>
            <a:ext cx="16053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Left      9 frames</a:t>
            </a:r>
            <a:endParaRPr sz="1200">
              <a:solidFill>
                <a:srgbClr val="111827"/>
              </a:solidFill>
            </a:endParaRPr>
          </a:p>
        </p:txBody>
      </p:sp>
      <p:sp>
        <p:nvSpPr>
          <p:cNvPr id="593" name="Google Shape;593;p21"/>
          <p:cNvSpPr txBox="1"/>
          <p:nvPr/>
        </p:nvSpPr>
        <p:spPr>
          <a:xfrm>
            <a:off x="7007860" y="2461260"/>
            <a:ext cx="16053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Right   31 frames</a:t>
            </a:r>
            <a:endParaRPr sz="1200">
              <a:solidFill>
                <a:srgbClr val="111827"/>
              </a:solidFill>
            </a:endParaRPr>
          </a:p>
        </p:txBody>
      </p:sp>
      <p:sp>
        <p:nvSpPr>
          <p:cNvPr id="594" name="Google Shape;594;p21"/>
          <p:cNvSpPr txBox="1"/>
          <p:nvPr/>
        </p:nvSpPr>
        <p:spPr>
          <a:xfrm>
            <a:off x="6868160" y="1191260"/>
            <a:ext cx="19101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000">
                <a:solidFill>
                  <a:srgbClr val="5E6E80"/>
                </a:solidFill>
              </a:rPr>
              <a:t>Earlier rank terms tie.</a:t>
            </a:r>
            <a:endParaRPr sz="1000">
              <a:solidFill>
                <a:srgbClr val="5E6E80"/>
              </a:solidFill>
            </a:endParaRPr>
          </a:p>
          <a:p>
            <a:pPr indent="0" lvl="0" marL="0" rtl="0" algn="l">
              <a:lnSpc>
                <a:spcPct val="110000"/>
              </a:lnSpc>
              <a:spcBef>
                <a:spcPts val="0"/>
              </a:spcBef>
              <a:spcAft>
                <a:spcPts val="0"/>
              </a:spcAft>
              <a:buNone/>
            </a:pPr>
            <a:r>
              <a:rPr lang="zh-CN" sz="1000">
                <a:solidFill>
                  <a:srgbClr val="5E6E80"/>
                </a:solidFill>
              </a:rPr>
              <a:t>Next-pellet time decides.</a:t>
            </a:r>
            <a:endParaRPr sz="1000">
              <a:solidFill>
                <a:srgbClr val="5E6E80"/>
              </a:solidFill>
            </a:endParaRPr>
          </a:p>
        </p:txBody>
      </p:sp>
      <p:sp>
        <p:nvSpPr>
          <p:cNvPr id="595" name="Google Shape;595;p21"/>
          <p:cNvSpPr txBox="1"/>
          <p:nvPr/>
        </p:nvSpPr>
        <p:spPr>
          <a:xfrm>
            <a:off x="7007860" y="3388360"/>
            <a:ext cx="1630800" cy="424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300">
                <a:solidFill>
                  <a:srgbClr val="167985"/>
                </a:solidFill>
              </a:rPr>
              <a:t>Execute Up only</a:t>
            </a:r>
            <a:endParaRPr b="1" sz="1300">
              <a:solidFill>
                <a:srgbClr val="167985"/>
              </a:solidFill>
            </a:endParaRPr>
          </a:p>
        </p:txBody>
      </p:sp>
      <p:sp>
        <p:nvSpPr>
          <p:cNvPr id="596" name="Google Shape;596;p21"/>
          <p:cNvSpPr txBox="1"/>
          <p:nvPr/>
        </p:nvSpPr>
        <p:spPr>
          <a:xfrm>
            <a:off x="2702560" y="3642360"/>
            <a:ext cx="38025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67985"/>
                </a:solidFill>
              </a:rPr>
              <a:t>Observe the real next state and replan</a:t>
            </a:r>
            <a:endParaRPr sz="1200">
              <a:solidFill>
                <a:srgbClr val="167985"/>
              </a:solidFill>
            </a:endParaRPr>
          </a:p>
        </p:txBody>
      </p:sp>
      <p:sp>
        <p:nvSpPr>
          <p:cNvPr id="597" name="Google Shape;597;p21"/>
          <p:cNvSpPr txBox="1"/>
          <p:nvPr/>
        </p:nvSpPr>
        <p:spPr>
          <a:xfrm>
            <a:off x="365760" y="4213860"/>
            <a:ext cx="6215400" cy="58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200">
                <a:solidFill>
                  <a:srgbClr val="111827"/>
                </a:solidFill>
                <a:latin typeface="Georgia"/>
                <a:ea typeface="Georgia"/>
                <a:cs typeface="Georgia"/>
                <a:sym typeface="Georgia"/>
              </a:rPr>
              <a:t>(a</a:t>
            </a:r>
            <a:r>
              <a:rPr baseline="-25000" lang="zh-CN" sz="2200">
                <a:solidFill>
                  <a:srgbClr val="111827"/>
                </a:solidFill>
                <a:latin typeface="Georgia"/>
                <a:ea typeface="Georgia"/>
                <a:cs typeface="Georgia"/>
                <a:sym typeface="Georgia"/>
              </a:rPr>
              <a:t>t</a:t>
            </a:r>
            <a:r>
              <a:rPr baseline="30000" lang="zh-CN" sz="2200">
                <a:solidFill>
                  <a:srgbClr val="111827"/>
                </a:solidFill>
                <a:latin typeface="Georgia"/>
                <a:ea typeface="Georgia"/>
                <a:cs typeface="Georgia"/>
                <a:sym typeface="Georgia"/>
              </a:rPr>
              <a:t>T</a:t>
            </a:r>
            <a:r>
              <a:rPr lang="zh-CN" sz="2200">
                <a:solidFill>
                  <a:srgbClr val="111827"/>
                </a:solidFill>
                <a:latin typeface="Georgia"/>
                <a:ea typeface="Georgia"/>
                <a:cs typeface="Georgia"/>
                <a:sym typeface="Georgia"/>
              </a:rPr>
              <a:t>, b</a:t>
            </a:r>
            <a:r>
              <a:rPr baseline="-25000" lang="zh-CN" sz="2200">
                <a:solidFill>
                  <a:srgbClr val="111827"/>
                </a:solidFill>
                <a:latin typeface="Georgia"/>
                <a:ea typeface="Georgia"/>
                <a:cs typeface="Georgia"/>
                <a:sym typeface="Georgia"/>
              </a:rPr>
              <a:t>t</a:t>
            </a:r>
            <a:r>
              <a:rPr baseline="30000" lang="zh-CN" sz="2200">
                <a:solidFill>
                  <a:srgbClr val="111827"/>
                </a:solidFill>
                <a:latin typeface="Georgia"/>
                <a:ea typeface="Georgia"/>
                <a:cs typeface="Georgia"/>
                <a:sym typeface="Georgia"/>
              </a:rPr>
              <a:t>*</a:t>
            </a:r>
            <a:r>
              <a:rPr lang="zh-CN" sz="2200">
                <a:solidFill>
                  <a:srgbClr val="111827"/>
                </a:solidFill>
                <a:latin typeface="Georgia"/>
                <a:ea typeface="Georgia"/>
                <a:cs typeface="Georgia"/>
                <a:sym typeface="Georgia"/>
              </a:rPr>
              <a:t>) = argmin</a:t>
            </a:r>
            <a:r>
              <a:rPr baseline="30000" lang="zh-CN" sz="2200">
                <a:solidFill>
                  <a:srgbClr val="111827"/>
                </a:solidFill>
                <a:latin typeface="Georgia"/>
                <a:ea typeface="Georgia"/>
                <a:cs typeface="Georgia"/>
                <a:sym typeface="Georgia"/>
              </a:rPr>
              <a:t>lex</a:t>
            </a:r>
            <a:r>
              <a:rPr lang="zh-CN" sz="2200">
                <a:solidFill>
                  <a:srgbClr val="111827"/>
                </a:solidFill>
                <a:latin typeface="Georgia"/>
                <a:ea typeface="Georgia"/>
                <a:cs typeface="Georgia"/>
                <a:sym typeface="Georgia"/>
              </a:rPr>
              <a:t> ρ(g</a:t>
            </a:r>
            <a:r>
              <a:rPr baseline="-25000" lang="zh-CN" sz="2200">
                <a:solidFill>
                  <a:srgbClr val="111827"/>
                </a:solidFill>
                <a:latin typeface="Georgia"/>
                <a:ea typeface="Georgia"/>
                <a:cs typeface="Georgia"/>
                <a:sym typeface="Georgia"/>
              </a:rPr>
              <a:t>t</a:t>
            </a:r>
            <a:r>
              <a:rPr lang="zh-CN" sz="2200">
                <a:solidFill>
                  <a:srgbClr val="111827"/>
                </a:solidFill>
                <a:latin typeface="Georgia"/>
                <a:ea typeface="Georgia"/>
                <a:cs typeface="Georgia"/>
                <a:sym typeface="Georgia"/>
              </a:rPr>
              <a:t>, a, b)</a:t>
            </a:r>
            <a:endParaRPr sz="2200">
              <a:solidFill>
                <a:srgbClr val="111827"/>
              </a:solidFill>
              <a:latin typeface="Georgia"/>
              <a:ea typeface="Georgia"/>
              <a:cs typeface="Georgia"/>
              <a:sym typeface="Georgia"/>
            </a:endParaRPr>
          </a:p>
        </p:txBody>
      </p:sp>
      <p:sp>
        <p:nvSpPr>
          <p:cNvPr id="598" name="Google Shape;598;p21"/>
          <p:cNvSpPr txBox="1"/>
          <p:nvPr/>
        </p:nvSpPr>
        <p:spPr>
          <a:xfrm>
            <a:off x="6410960" y="4290060"/>
            <a:ext cx="2367300" cy="58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latin typeface="Georgia"/>
                <a:ea typeface="Georgia"/>
                <a:cs typeface="Georgia"/>
                <a:sym typeface="Georgia"/>
              </a:rPr>
              <a:t>a ∈ A</a:t>
            </a:r>
            <a:r>
              <a:rPr baseline="-25000" lang="zh-CN" sz="1200">
                <a:solidFill>
                  <a:srgbClr val="111827"/>
                </a:solidFill>
                <a:latin typeface="Georgia"/>
                <a:ea typeface="Georgia"/>
                <a:cs typeface="Georgia"/>
                <a:sym typeface="Georgia"/>
              </a:rPr>
              <a:t>t</a:t>
            </a:r>
            <a:endParaRPr baseline="-25000" sz="1200">
              <a:solidFill>
                <a:srgbClr val="111827"/>
              </a:solidFill>
              <a:latin typeface="Georgia"/>
              <a:ea typeface="Georgia"/>
              <a:cs typeface="Georgia"/>
              <a:sym typeface="Georgia"/>
            </a:endParaRPr>
          </a:p>
          <a:p>
            <a:pPr indent="0" lvl="0" marL="0" rtl="0" algn="l">
              <a:lnSpc>
                <a:spcPct val="110000"/>
              </a:lnSpc>
              <a:spcBef>
                <a:spcPts val="0"/>
              </a:spcBef>
              <a:spcAft>
                <a:spcPts val="0"/>
              </a:spcAft>
              <a:buNone/>
            </a:pPr>
            <a:r>
              <a:rPr lang="zh-CN" sz="1200">
                <a:solidFill>
                  <a:srgbClr val="111827"/>
                </a:solidFill>
                <a:latin typeface="Georgia"/>
                <a:ea typeface="Georgia"/>
                <a:cs typeface="Georgia"/>
                <a:sym typeface="Georgia"/>
              </a:rPr>
              <a:t>b ∈ {1, 2, 4, 6}</a:t>
            </a:r>
            <a:endParaRPr sz="1200">
              <a:solidFill>
                <a:srgbClr val="111827"/>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2" name="Shape 602"/>
        <p:cNvGrpSpPr/>
        <p:nvPr/>
      </p:nvGrpSpPr>
      <p:grpSpPr>
        <a:xfrm>
          <a:off x="0" y="0"/>
          <a:ext cx="0" cy="0"/>
          <a:chOff x="0" y="0"/>
          <a:chExt cx="0" cy="0"/>
        </a:xfrm>
      </p:grpSpPr>
      <p:pic>
        <p:nvPicPr>
          <p:cNvPr descr="Highlights an actual native danger/cycle/pellet choice, the exact ordered future rank, the scalar food-route cost component and replanning. Native math and diagrams remain editable. The footer opens Play, pause and step controls. Static diagram and mathematics remain native editable objects." id="603" name="Google Shape;603;p22" title="Animated teacher route search"/>
          <p:cNvPicPr preferRelativeResize="0"/>
          <p:nvPr/>
        </p:nvPicPr>
        <p:blipFill>
          <a:blip r:embed="rId3">
            <a:alphaModFix/>
          </a:blip>
          <a:stretch>
            <a:fillRect/>
          </a:stretch>
        </p:blipFill>
        <p:spPr>
          <a:xfrm>
            <a:off x="330200" y="1320800"/>
            <a:ext cx="8559800" cy="3441700"/>
          </a:xfrm>
          <a:prstGeom prst="rect">
            <a:avLst/>
          </a:prstGeom>
          <a:noFill/>
          <a:ln>
            <a:noFill/>
          </a:ln>
        </p:spPr>
      </p:pic>
      <p:sp>
        <p:nvSpPr>
          <p:cNvPr id="604" name="Google Shape;604;p22"/>
          <p:cNvSpPr txBox="1"/>
          <p:nvPr>
            <p:ph type="title"/>
          </p:nvPr>
        </p:nvSpPr>
        <p:spPr>
          <a:xfrm>
            <a:off x="365760" y="226060"/>
            <a:ext cx="8412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a:solidFill>
                  <a:srgbClr val="111827"/>
                </a:solidFill>
              </a:rPr>
              <a:t>Teacher route planning and future ranking</a:t>
            </a:r>
            <a:endParaRPr b="1">
              <a:solidFill>
                <a:srgbClr val="111827"/>
              </a:solidFill>
            </a:endParaRPr>
          </a:p>
        </p:txBody>
      </p:sp>
      <p:sp>
        <p:nvSpPr>
          <p:cNvPr id="605" name="Google Shape;605;p22"/>
          <p:cNvSpPr txBox="1"/>
          <p:nvPr/>
        </p:nvSpPr>
        <p:spPr>
          <a:xfrm>
            <a:off x="365760" y="4772660"/>
            <a:ext cx="79935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Recorded CPU teacher forecasts. Finite policy portfolio.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606" name="Google Shape;606;p22"/>
          <p:cNvSpPr txBox="1"/>
          <p:nvPr/>
        </p:nvSpPr>
        <p:spPr>
          <a:xfrm>
            <a:off x="8354060" y="4772660"/>
            <a:ext cx="4242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10</a:t>
            </a:r>
            <a:endParaRPr sz="900">
              <a:solidFill>
                <a:srgbClr val="5E6E80"/>
              </a:solidFill>
            </a:endParaRPr>
          </a:p>
        </p:txBody>
      </p:sp>
      <p:sp>
        <p:nvSpPr>
          <p:cNvPr id="607" name="Google Shape;607;p22"/>
          <p:cNvSpPr/>
          <p:nvPr/>
        </p:nvSpPr>
        <p:spPr>
          <a:xfrm>
            <a:off x="457200" y="18161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8" name="Google Shape;608;p22"/>
          <p:cNvSpPr/>
          <p:nvPr/>
        </p:nvSpPr>
        <p:spPr>
          <a:xfrm>
            <a:off x="736600" y="18161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9" name="Google Shape;609;p22"/>
          <p:cNvSpPr/>
          <p:nvPr/>
        </p:nvSpPr>
        <p:spPr>
          <a:xfrm>
            <a:off x="1016000" y="18161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0" name="Google Shape;610;p22"/>
          <p:cNvSpPr/>
          <p:nvPr/>
        </p:nvSpPr>
        <p:spPr>
          <a:xfrm>
            <a:off x="1295400" y="18161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1" name="Google Shape;611;p22"/>
          <p:cNvSpPr/>
          <p:nvPr/>
        </p:nvSpPr>
        <p:spPr>
          <a:xfrm>
            <a:off x="1574800" y="18161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2" name="Google Shape;612;p22"/>
          <p:cNvSpPr/>
          <p:nvPr/>
        </p:nvSpPr>
        <p:spPr>
          <a:xfrm>
            <a:off x="1854200" y="18161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22"/>
          <p:cNvSpPr/>
          <p:nvPr/>
        </p:nvSpPr>
        <p:spPr>
          <a:xfrm>
            <a:off x="2133600" y="18161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4" name="Google Shape;614;p22"/>
          <p:cNvSpPr/>
          <p:nvPr/>
        </p:nvSpPr>
        <p:spPr>
          <a:xfrm>
            <a:off x="457200" y="20955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5" name="Google Shape;615;p22"/>
          <p:cNvSpPr/>
          <p:nvPr/>
        </p:nvSpPr>
        <p:spPr>
          <a:xfrm>
            <a:off x="736600" y="20955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6" name="Google Shape;616;p22"/>
          <p:cNvSpPr/>
          <p:nvPr/>
        </p:nvSpPr>
        <p:spPr>
          <a:xfrm>
            <a:off x="1016000" y="20955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7" name="Google Shape;617;p22"/>
          <p:cNvSpPr/>
          <p:nvPr/>
        </p:nvSpPr>
        <p:spPr>
          <a:xfrm>
            <a:off x="1295400" y="20955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8" name="Google Shape;618;p22"/>
          <p:cNvSpPr/>
          <p:nvPr/>
        </p:nvSpPr>
        <p:spPr>
          <a:xfrm>
            <a:off x="1574800" y="20955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9" name="Google Shape;619;p22"/>
          <p:cNvSpPr/>
          <p:nvPr/>
        </p:nvSpPr>
        <p:spPr>
          <a:xfrm>
            <a:off x="1854200" y="20955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0" name="Google Shape;620;p22"/>
          <p:cNvSpPr/>
          <p:nvPr/>
        </p:nvSpPr>
        <p:spPr>
          <a:xfrm>
            <a:off x="2133600" y="20955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1" name="Google Shape;621;p22"/>
          <p:cNvSpPr/>
          <p:nvPr/>
        </p:nvSpPr>
        <p:spPr>
          <a:xfrm>
            <a:off x="457200" y="23749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2" name="Google Shape;622;p22"/>
          <p:cNvSpPr/>
          <p:nvPr/>
        </p:nvSpPr>
        <p:spPr>
          <a:xfrm>
            <a:off x="736600" y="23749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3" name="Google Shape;623;p22"/>
          <p:cNvSpPr/>
          <p:nvPr/>
        </p:nvSpPr>
        <p:spPr>
          <a:xfrm>
            <a:off x="1016000" y="23749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4" name="Google Shape;624;p22"/>
          <p:cNvSpPr/>
          <p:nvPr/>
        </p:nvSpPr>
        <p:spPr>
          <a:xfrm>
            <a:off x="1295400" y="23749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5" name="Google Shape;625;p22"/>
          <p:cNvSpPr/>
          <p:nvPr/>
        </p:nvSpPr>
        <p:spPr>
          <a:xfrm>
            <a:off x="1574800" y="23749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6" name="Google Shape;626;p22"/>
          <p:cNvSpPr/>
          <p:nvPr/>
        </p:nvSpPr>
        <p:spPr>
          <a:xfrm>
            <a:off x="1854200" y="23749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7" name="Google Shape;627;p22"/>
          <p:cNvSpPr/>
          <p:nvPr/>
        </p:nvSpPr>
        <p:spPr>
          <a:xfrm>
            <a:off x="2133600" y="23749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8" name="Google Shape;628;p22"/>
          <p:cNvSpPr/>
          <p:nvPr/>
        </p:nvSpPr>
        <p:spPr>
          <a:xfrm>
            <a:off x="457200" y="26543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22"/>
          <p:cNvSpPr/>
          <p:nvPr/>
        </p:nvSpPr>
        <p:spPr>
          <a:xfrm>
            <a:off x="736600" y="26543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22"/>
          <p:cNvSpPr/>
          <p:nvPr/>
        </p:nvSpPr>
        <p:spPr>
          <a:xfrm>
            <a:off x="1016000" y="26543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1" name="Google Shape;631;p22"/>
          <p:cNvSpPr/>
          <p:nvPr/>
        </p:nvSpPr>
        <p:spPr>
          <a:xfrm>
            <a:off x="1295400" y="26543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2" name="Google Shape;632;p22"/>
          <p:cNvSpPr/>
          <p:nvPr/>
        </p:nvSpPr>
        <p:spPr>
          <a:xfrm>
            <a:off x="1574800" y="26543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3" name="Google Shape;633;p22"/>
          <p:cNvSpPr/>
          <p:nvPr/>
        </p:nvSpPr>
        <p:spPr>
          <a:xfrm>
            <a:off x="1695450" y="2774950"/>
            <a:ext cx="38100" cy="38100"/>
          </a:xfrm>
          <a:prstGeom prst="ellipse">
            <a:avLst/>
          </a:prstGeom>
          <a:solidFill>
            <a:srgbClr val="111827"/>
          </a:solidFill>
          <a:ln cap="flat" cmpd="sng" w="12700">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4" name="Google Shape;634;p22"/>
          <p:cNvSpPr/>
          <p:nvPr/>
        </p:nvSpPr>
        <p:spPr>
          <a:xfrm>
            <a:off x="1854200" y="26543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5" name="Google Shape;635;p22"/>
          <p:cNvSpPr/>
          <p:nvPr/>
        </p:nvSpPr>
        <p:spPr>
          <a:xfrm>
            <a:off x="1974850" y="2774950"/>
            <a:ext cx="38100" cy="38100"/>
          </a:xfrm>
          <a:prstGeom prst="ellipse">
            <a:avLst/>
          </a:prstGeom>
          <a:solidFill>
            <a:srgbClr val="111827"/>
          </a:solidFill>
          <a:ln cap="flat" cmpd="sng" w="12700">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22"/>
          <p:cNvSpPr/>
          <p:nvPr/>
        </p:nvSpPr>
        <p:spPr>
          <a:xfrm>
            <a:off x="2133600" y="26543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p22"/>
          <p:cNvSpPr/>
          <p:nvPr/>
        </p:nvSpPr>
        <p:spPr>
          <a:xfrm>
            <a:off x="2254250" y="2774950"/>
            <a:ext cx="38100" cy="38100"/>
          </a:xfrm>
          <a:prstGeom prst="ellipse">
            <a:avLst/>
          </a:prstGeom>
          <a:solidFill>
            <a:srgbClr val="111827"/>
          </a:solidFill>
          <a:ln cap="flat" cmpd="sng" w="12700">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8" name="Google Shape;638;p22"/>
          <p:cNvSpPr/>
          <p:nvPr/>
        </p:nvSpPr>
        <p:spPr>
          <a:xfrm>
            <a:off x="457200" y="29337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9" name="Google Shape;639;p22"/>
          <p:cNvSpPr/>
          <p:nvPr/>
        </p:nvSpPr>
        <p:spPr>
          <a:xfrm>
            <a:off x="736600" y="29337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0" name="Google Shape;640;p22"/>
          <p:cNvSpPr/>
          <p:nvPr/>
        </p:nvSpPr>
        <p:spPr>
          <a:xfrm>
            <a:off x="1016000" y="29337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22"/>
          <p:cNvSpPr/>
          <p:nvPr/>
        </p:nvSpPr>
        <p:spPr>
          <a:xfrm>
            <a:off x="1295400" y="29337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2" name="Google Shape;642;p22"/>
          <p:cNvSpPr/>
          <p:nvPr/>
        </p:nvSpPr>
        <p:spPr>
          <a:xfrm>
            <a:off x="1574800" y="29337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3" name="Google Shape;643;p22"/>
          <p:cNvSpPr/>
          <p:nvPr/>
        </p:nvSpPr>
        <p:spPr>
          <a:xfrm>
            <a:off x="1854200" y="2933700"/>
            <a:ext cx="279300" cy="279300"/>
          </a:xfrm>
          <a:prstGeom prst="rect">
            <a:avLst/>
          </a:prstGeom>
          <a:solidFill>
            <a:srgbClr val="D7E2E5"/>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4" name="Google Shape;644;p22"/>
          <p:cNvSpPr/>
          <p:nvPr/>
        </p:nvSpPr>
        <p:spPr>
          <a:xfrm>
            <a:off x="2133600" y="2933700"/>
            <a:ext cx="279300" cy="279300"/>
          </a:xfrm>
          <a:prstGeom prst="rect">
            <a:avLst/>
          </a:prstGeom>
          <a:solidFill>
            <a:srgbClr val="FFFFFF"/>
          </a:solidFill>
          <a:ln cap="flat" cmpd="sng" w="12700">
            <a:solidFill>
              <a:srgbClr val="E6EC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5" name="Google Shape;645;p22"/>
          <p:cNvSpPr/>
          <p:nvPr/>
        </p:nvSpPr>
        <p:spPr>
          <a:xfrm>
            <a:off x="2254250" y="3054350"/>
            <a:ext cx="38100" cy="38100"/>
          </a:xfrm>
          <a:prstGeom prst="ellipse">
            <a:avLst/>
          </a:prstGeom>
          <a:solidFill>
            <a:srgbClr val="111827"/>
          </a:solidFill>
          <a:ln cap="flat" cmpd="sng" w="12700">
            <a:solidFill>
              <a:srgbClr val="1118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6" name="Google Shape;646;p22"/>
          <p:cNvSpPr/>
          <p:nvPr/>
        </p:nvSpPr>
        <p:spPr>
          <a:xfrm>
            <a:off x="1333500" y="2133600"/>
            <a:ext cx="203100" cy="203100"/>
          </a:xfrm>
          <a:prstGeom prst="ellipse">
            <a:avLst/>
          </a:prstGeom>
          <a:solidFill>
            <a:srgbClr val="F6A6C6"/>
          </a:solidFill>
          <a:ln cap="flat" cmpd="sng" w="12700">
            <a:solidFill>
              <a:srgbClr val="C0292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7" name="Google Shape;647;p22"/>
          <p:cNvSpPr/>
          <p:nvPr/>
        </p:nvSpPr>
        <p:spPr>
          <a:xfrm>
            <a:off x="1892300" y="2692400"/>
            <a:ext cx="203100" cy="203100"/>
          </a:xfrm>
          <a:prstGeom prst="ellipse">
            <a:avLst/>
          </a:prstGeom>
          <a:solidFill>
            <a:srgbClr val="77D4DF"/>
          </a:solidFill>
          <a:ln cap="flat" cmpd="sng" w="12700">
            <a:solidFill>
              <a:srgbClr val="087D9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22"/>
          <p:cNvSpPr/>
          <p:nvPr/>
        </p:nvSpPr>
        <p:spPr>
          <a:xfrm>
            <a:off x="1333500" y="2692400"/>
            <a:ext cx="203100" cy="203100"/>
          </a:xfrm>
          <a:prstGeom prst="ellipse">
            <a:avLst/>
          </a:prstGeom>
          <a:solidFill>
            <a:srgbClr val="FFE566"/>
          </a:solidFill>
          <a:ln cap="flat" cmpd="sng" w="12700">
            <a:solidFill>
              <a:srgbClr val="A98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49" name="Google Shape;649;p22"/>
          <p:cNvCxnSpPr/>
          <p:nvPr/>
        </p:nvCxnSpPr>
        <p:spPr>
          <a:xfrm rot="10800000">
            <a:off x="1130400" y="2794000"/>
            <a:ext cx="203100" cy="0"/>
          </a:xfrm>
          <a:prstGeom prst="straightConnector1">
            <a:avLst/>
          </a:prstGeom>
          <a:noFill/>
          <a:ln cap="flat" cmpd="sng" w="15250">
            <a:solidFill>
              <a:srgbClr val="167985"/>
            </a:solidFill>
            <a:prstDash val="solid"/>
            <a:round/>
            <a:headEnd len="med" w="med" type="none"/>
            <a:tailEnd len="med" w="med" type="triangle"/>
          </a:ln>
        </p:spPr>
      </p:cxnSp>
      <p:cxnSp>
        <p:nvCxnSpPr>
          <p:cNvPr id="650" name="Google Shape;650;p22"/>
          <p:cNvCxnSpPr/>
          <p:nvPr/>
        </p:nvCxnSpPr>
        <p:spPr>
          <a:xfrm>
            <a:off x="1536700" y="2794000"/>
            <a:ext cx="165000" cy="0"/>
          </a:xfrm>
          <a:prstGeom prst="straightConnector1">
            <a:avLst/>
          </a:prstGeom>
          <a:noFill/>
          <a:ln cap="flat" cmpd="sng" w="15250">
            <a:solidFill>
              <a:srgbClr val="C02929"/>
            </a:solidFill>
            <a:prstDash val="solid"/>
            <a:round/>
            <a:headEnd len="med" w="med" type="none"/>
            <a:tailEnd len="med" w="med" type="triangle"/>
          </a:ln>
        </p:spPr>
      </p:cxnSp>
      <p:cxnSp>
        <p:nvCxnSpPr>
          <p:cNvPr id="651" name="Google Shape;651;p22"/>
          <p:cNvCxnSpPr/>
          <p:nvPr/>
        </p:nvCxnSpPr>
        <p:spPr>
          <a:xfrm rot="10800000">
            <a:off x="1435100" y="2476400"/>
            <a:ext cx="0" cy="216000"/>
          </a:xfrm>
          <a:prstGeom prst="straightConnector1">
            <a:avLst/>
          </a:prstGeom>
          <a:noFill/>
          <a:ln cap="flat" cmpd="sng" w="15250">
            <a:solidFill>
              <a:srgbClr val="B36B17"/>
            </a:solidFill>
            <a:prstDash val="solid"/>
            <a:round/>
            <a:headEnd len="med" w="med" type="none"/>
            <a:tailEnd len="med" w="med" type="triangle"/>
          </a:ln>
        </p:spPr>
      </p:cxnSp>
      <p:graphicFrame>
        <p:nvGraphicFramePr>
          <p:cNvPr id="652" name="Google Shape;652;p22"/>
          <p:cNvGraphicFramePr/>
          <p:nvPr/>
        </p:nvGraphicFramePr>
        <p:xfrm>
          <a:off x="3276600" y="1587500"/>
          <a:ext cx="3000000" cy="3000000"/>
        </p:xfrm>
        <a:graphic>
          <a:graphicData uri="http://schemas.openxmlformats.org/drawingml/2006/table">
            <a:tbl>
              <a:tblPr>
                <a:noFill/>
                <a:tableStyleId>{60C60C50-C23C-4C79-B157-96EC5A1963B3}</a:tableStyleId>
              </a:tblPr>
              <a:tblGrid>
                <a:gridCol w="914400"/>
                <a:gridCol w="990600"/>
                <a:gridCol w="927100"/>
                <a:gridCol w="1104900"/>
                <a:gridCol w="1473200"/>
              </a:tblGrid>
              <a:tr h="355600">
                <a:tc>
                  <a:txBody>
                    <a:bodyPr/>
                    <a:lstStyle/>
                    <a:p>
                      <a:pPr indent="0" lvl="0" marL="0" rtl="0" algn="l">
                        <a:lnSpc>
                          <a:spcPct val="100000"/>
                        </a:lnSpc>
                        <a:spcBef>
                          <a:spcPts val="0"/>
                        </a:spcBef>
                        <a:spcAft>
                          <a:spcPts val="0"/>
                        </a:spcAft>
                        <a:buNone/>
                      </a:pPr>
                      <a:r>
                        <a:rPr b="1" lang="zh-CN" sz="1000">
                          <a:solidFill>
                            <a:srgbClr val="111827"/>
                          </a:solidFill>
                        </a:rPr>
                        <a:t>First move</a:t>
                      </a:r>
                      <a:endParaRPr b="1" sz="100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b="1" lang="zh-CN" sz="1000">
                          <a:solidFill>
                            <a:srgbClr val="111827"/>
                          </a:solidFill>
                        </a:rPr>
                        <a:t>Death now</a:t>
                      </a:r>
                      <a:endParaRPr b="1" sz="100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b="1" lang="zh-CN" sz="1000">
                          <a:solidFill>
                            <a:srgbClr val="111827"/>
                          </a:solidFill>
                        </a:rPr>
                        <a:t>Dry cycle</a:t>
                      </a:r>
                      <a:endParaRPr b="1" sz="100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b="1" lang="zh-CN" sz="1000">
                          <a:solidFill>
                            <a:srgbClr val="111827"/>
                          </a:solidFill>
                        </a:rPr>
                        <a:t>Next pellet</a:t>
                      </a:r>
                      <a:endParaRPr b="1" sz="100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b="1" lang="zh-CN" sz="1000">
                          <a:solidFill>
                            <a:srgbClr val="111827"/>
                          </a:solidFill>
                        </a:rPr>
                        <a:t>Alive futures</a:t>
                      </a:r>
                      <a:endParaRPr b="1" sz="100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r>
              <a:tr h="355600">
                <a:tc>
                  <a:txBody>
                    <a:bodyPr/>
                    <a:lstStyle/>
                    <a:p>
                      <a:pPr indent="0" lvl="0" marL="0" rtl="0" algn="l">
                        <a:lnSpc>
                          <a:spcPct val="100000"/>
                        </a:lnSpc>
                        <a:spcBef>
                          <a:spcPts val="0"/>
                        </a:spcBef>
                        <a:spcAft>
                          <a:spcPts val="0"/>
                        </a:spcAft>
                        <a:buNone/>
                      </a:pPr>
                      <a:r>
                        <a:rPr b="1" lang="zh-CN" sz="1050">
                          <a:solidFill>
                            <a:srgbClr val="167985"/>
                          </a:solidFill>
                        </a:rPr>
                        <a:t>Left, b=6</a:t>
                      </a:r>
                      <a:endParaRPr b="1" sz="1050">
                        <a:solidFill>
                          <a:srgbClr val="167985"/>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EFF8F8"/>
                    </a:solidFill>
                  </a:tcPr>
                </a:tc>
                <a:tc>
                  <a:txBody>
                    <a:bodyPr/>
                    <a:lstStyle/>
                    <a:p>
                      <a:pPr indent="0" lvl="0" marL="0" rtl="0" algn="l">
                        <a:lnSpc>
                          <a:spcPct val="100000"/>
                        </a:lnSpc>
                        <a:spcBef>
                          <a:spcPts val="0"/>
                        </a:spcBef>
                        <a:spcAft>
                          <a:spcPts val="0"/>
                        </a:spcAft>
                        <a:buNone/>
                      </a:pPr>
                      <a:r>
                        <a:rPr b="1" lang="zh-CN" sz="1050">
                          <a:solidFill>
                            <a:srgbClr val="167985"/>
                          </a:solidFill>
                        </a:rPr>
                        <a:t>0</a:t>
                      </a:r>
                      <a:endParaRPr b="1" sz="1050">
                        <a:solidFill>
                          <a:srgbClr val="167985"/>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EFF8F8"/>
                    </a:solidFill>
                  </a:tcPr>
                </a:tc>
                <a:tc>
                  <a:txBody>
                    <a:bodyPr/>
                    <a:lstStyle/>
                    <a:p>
                      <a:pPr indent="0" lvl="0" marL="0" rtl="0" algn="l">
                        <a:lnSpc>
                          <a:spcPct val="100000"/>
                        </a:lnSpc>
                        <a:spcBef>
                          <a:spcPts val="0"/>
                        </a:spcBef>
                        <a:spcAft>
                          <a:spcPts val="0"/>
                        </a:spcAft>
                        <a:buNone/>
                      </a:pPr>
                      <a:r>
                        <a:rPr b="1" lang="zh-CN" sz="1050">
                          <a:solidFill>
                            <a:srgbClr val="167985"/>
                          </a:solidFill>
                        </a:rPr>
                        <a:t>0</a:t>
                      </a:r>
                      <a:endParaRPr b="1" sz="1050">
                        <a:solidFill>
                          <a:srgbClr val="167985"/>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EFF8F8"/>
                    </a:solidFill>
                  </a:tcPr>
                </a:tc>
                <a:tc>
                  <a:txBody>
                    <a:bodyPr/>
                    <a:lstStyle/>
                    <a:p>
                      <a:pPr indent="0" lvl="0" marL="0" rtl="0" algn="l">
                        <a:lnSpc>
                          <a:spcPct val="100000"/>
                        </a:lnSpc>
                        <a:spcBef>
                          <a:spcPts val="0"/>
                        </a:spcBef>
                        <a:spcAft>
                          <a:spcPts val="0"/>
                        </a:spcAft>
                        <a:buNone/>
                      </a:pPr>
                      <a:r>
                        <a:rPr b="1" lang="zh-CN" sz="1050">
                          <a:solidFill>
                            <a:srgbClr val="167985"/>
                          </a:solidFill>
                        </a:rPr>
                        <a:t>137 frames</a:t>
                      </a:r>
                      <a:endParaRPr b="1" sz="1050">
                        <a:solidFill>
                          <a:srgbClr val="167985"/>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EFF8F8"/>
                    </a:solidFill>
                  </a:tcPr>
                </a:tc>
                <a:tc>
                  <a:txBody>
                    <a:bodyPr/>
                    <a:lstStyle/>
                    <a:p>
                      <a:pPr indent="0" lvl="0" marL="0" rtl="0" algn="l">
                        <a:lnSpc>
                          <a:spcPct val="100000"/>
                        </a:lnSpc>
                        <a:spcBef>
                          <a:spcPts val="0"/>
                        </a:spcBef>
                        <a:spcAft>
                          <a:spcPts val="0"/>
                        </a:spcAft>
                        <a:buNone/>
                      </a:pPr>
                      <a:r>
                        <a:rPr b="1" lang="zh-CN" sz="1050">
                          <a:solidFill>
                            <a:srgbClr val="167985"/>
                          </a:solidFill>
                        </a:rPr>
                        <a:t>2 / 2, 484 frames</a:t>
                      </a:r>
                      <a:endParaRPr b="1" sz="1050">
                        <a:solidFill>
                          <a:srgbClr val="167985"/>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EFF8F8"/>
                    </a:solidFill>
                  </a:tcPr>
                </a:tc>
              </a:tr>
              <a:tr h="355600">
                <a:tc>
                  <a:txBody>
                    <a:bodyPr/>
                    <a:lstStyle/>
                    <a:p>
                      <a:pPr indent="0" lvl="0" marL="0" rtl="0" algn="l">
                        <a:lnSpc>
                          <a:spcPct val="100000"/>
                        </a:lnSpc>
                        <a:spcBef>
                          <a:spcPts val="0"/>
                        </a:spcBef>
                        <a:spcAft>
                          <a:spcPts val="0"/>
                        </a:spcAft>
                        <a:buNone/>
                      </a:pPr>
                      <a:r>
                        <a:rPr lang="zh-CN" sz="1050">
                          <a:solidFill>
                            <a:srgbClr val="111827"/>
                          </a:solidFill>
                        </a:rPr>
                        <a:t>Up, b=1</a:t>
                      </a:r>
                      <a:endParaRPr sz="105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050">
                          <a:solidFill>
                            <a:srgbClr val="111827"/>
                          </a:solidFill>
                        </a:rPr>
                        <a:t>0</a:t>
                      </a:r>
                      <a:endParaRPr sz="105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050">
                          <a:solidFill>
                            <a:srgbClr val="111827"/>
                          </a:solidFill>
                        </a:rPr>
                        <a:t>1</a:t>
                      </a:r>
                      <a:endParaRPr sz="105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050">
                          <a:solidFill>
                            <a:srgbClr val="111827"/>
                          </a:solidFill>
                        </a:rPr>
                        <a:t>none</a:t>
                      </a:r>
                      <a:endParaRPr sz="105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050">
                          <a:solidFill>
                            <a:srgbClr val="111827"/>
                          </a:solidFill>
                        </a:rPr>
                        <a:t>0 / 2, 9 frames</a:t>
                      </a:r>
                      <a:endParaRPr sz="105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r>
              <a:tr h="355600">
                <a:tc>
                  <a:txBody>
                    <a:bodyPr/>
                    <a:lstStyle/>
                    <a:p>
                      <a:pPr indent="0" lvl="0" marL="0" rtl="0" algn="l">
                        <a:lnSpc>
                          <a:spcPct val="100000"/>
                        </a:lnSpc>
                        <a:spcBef>
                          <a:spcPts val="0"/>
                        </a:spcBef>
                        <a:spcAft>
                          <a:spcPts val="0"/>
                        </a:spcAft>
                        <a:buNone/>
                      </a:pPr>
                      <a:r>
                        <a:rPr lang="zh-CN" sz="1050">
                          <a:solidFill>
                            <a:srgbClr val="111827"/>
                          </a:solidFill>
                        </a:rPr>
                        <a:t>Right, b=1</a:t>
                      </a:r>
                      <a:endParaRPr sz="105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050">
                          <a:solidFill>
                            <a:srgbClr val="111827"/>
                          </a:solidFill>
                        </a:rPr>
                        <a:t>1</a:t>
                      </a:r>
                      <a:endParaRPr sz="105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050">
                          <a:solidFill>
                            <a:srgbClr val="111827"/>
                          </a:solidFill>
                        </a:rPr>
                        <a:t>0</a:t>
                      </a:r>
                      <a:endParaRPr sz="105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050">
                          <a:solidFill>
                            <a:srgbClr val="111827"/>
                          </a:solidFill>
                        </a:rPr>
                        <a:t>6 frames</a:t>
                      </a:r>
                      <a:endParaRPr sz="105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050">
                          <a:solidFill>
                            <a:srgbClr val="111827"/>
                          </a:solidFill>
                        </a:rPr>
                        <a:t>0 / 2, 6 frames</a:t>
                      </a:r>
                      <a:endParaRPr sz="105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r>
            </a:tbl>
          </a:graphicData>
        </a:graphic>
      </p:graphicFrame>
      <p:sp>
        <p:nvSpPr>
          <p:cNvPr id="653" name="Google Shape;653;p22"/>
          <p:cNvSpPr txBox="1"/>
          <p:nvPr/>
        </p:nvSpPr>
        <p:spPr>
          <a:xfrm>
            <a:off x="365760" y="873760"/>
            <a:ext cx="84126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600">
                <a:solidFill>
                  <a:srgbClr val="111827"/>
                </a:solidFill>
              </a:rPr>
              <a:t>One native state exposes the trade-off between ghosts, loops and pellets.</a:t>
            </a:r>
            <a:endParaRPr sz="1600">
              <a:solidFill>
                <a:srgbClr val="111827"/>
              </a:solidFill>
            </a:endParaRPr>
          </a:p>
        </p:txBody>
      </p:sp>
      <p:sp>
        <p:nvSpPr>
          <p:cNvPr id="654" name="Google Shape;654;p22"/>
          <p:cNvSpPr txBox="1"/>
          <p:nvPr/>
        </p:nvSpPr>
        <p:spPr>
          <a:xfrm>
            <a:off x="365760" y="1330960"/>
            <a:ext cx="28500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200">
                <a:solidFill>
                  <a:srgbClr val="167985"/>
                </a:solidFill>
              </a:rPr>
              <a:t>Seed 91009, level 1, turn 172</a:t>
            </a:r>
            <a:endParaRPr b="1" sz="1200">
              <a:solidFill>
                <a:srgbClr val="167985"/>
              </a:solidFill>
            </a:endParaRPr>
          </a:p>
        </p:txBody>
      </p:sp>
      <p:sp>
        <p:nvSpPr>
          <p:cNvPr id="655" name="Google Shape;655;p22"/>
          <p:cNvSpPr txBox="1"/>
          <p:nvPr/>
        </p:nvSpPr>
        <p:spPr>
          <a:xfrm>
            <a:off x="1267460" y="2054860"/>
            <a:ext cx="348000" cy="360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800">
                <a:solidFill>
                  <a:srgbClr val="111827"/>
                </a:solidFill>
              </a:rPr>
              <a:t>BP</a:t>
            </a:r>
            <a:endParaRPr b="1" sz="800">
              <a:solidFill>
                <a:srgbClr val="111827"/>
              </a:solidFill>
            </a:endParaRPr>
          </a:p>
        </p:txBody>
      </p:sp>
      <p:sp>
        <p:nvSpPr>
          <p:cNvPr id="656" name="Google Shape;656;p22"/>
          <p:cNvSpPr txBox="1"/>
          <p:nvPr/>
        </p:nvSpPr>
        <p:spPr>
          <a:xfrm>
            <a:off x="1826260" y="2626360"/>
            <a:ext cx="348000" cy="360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800">
                <a:solidFill>
                  <a:srgbClr val="111827"/>
                </a:solidFill>
              </a:rPr>
              <a:t>In</a:t>
            </a:r>
            <a:endParaRPr b="1" sz="800">
              <a:solidFill>
                <a:srgbClr val="111827"/>
              </a:solidFill>
            </a:endParaRPr>
          </a:p>
        </p:txBody>
      </p:sp>
      <p:sp>
        <p:nvSpPr>
          <p:cNvPr id="657" name="Google Shape;657;p22"/>
          <p:cNvSpPr txBox="1"/>
          <p:nvPr/>
        </p:nvSpPr>
        <p:spPr>
          <a:xfrm>
            <a:off x="1292860" y="2626360"/>
            <a:ext cx="322500" cy="360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900">
                <a:solidFill>
                  <a:srgbClr val="111827"/>
                </a:solidFill>
              </a:rPr>
              <a:t>P</a:t>
            </a:r>
            <a:endParaRPr b="1" sz="900">
              <a:solidFill>
                <a:srgbClr val="111827"/>
              </a:solidFill>
            </a:endParaRPr>
          </a:p>
        </p:txBody>
      </p:sp>
      <p:sp>
        <p:nvSpPr>
          <p:cNvPr id="658" name="Google Shape;658;p22"/>
          <p:cNvSpPr txBox="1"/>
          <p:nvPr/>
        </p:nvSpPr>
        <p:spPr>
          <a:xfrm>
            <a:off x="365760" y="3210560"/>
            <a:ext cx="2850000" cy="386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000">
                <a:solidFill>
                  <a:srgbClr val="5E6E80"/>
                </a:solidFill>
              </a:rPr>
              <a:t>BP: Blinky/Pinky. In: Inky. P: Pac-Man.</a:t>
            </a:r>
            <a:endParaRPr sz="1000">
              <a:solidFill>
                <a:srgbClr val="5E6E80"/>
              </a:solidFill>
            </a:endParaRPr>
          </a:p>
        </p:txBody>
      </p:sp>
      <p:sp>
        <p:nvSpPr>
          <p:cNvPr id="659" name="Google Shape;659;p22"/>
          <p:cNvSpPr txBox="1"/>
          <p:nvPr/>
        </p:nvSpPr>
        <p:spPr>
          <a:xfrm>
            <a:off x="365760" y="3426460"/>
            <a:ext cx="2850000" cy="386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000">
                <a:solidFill>
                  <a:srgbClr val="5E6E80"/>
                </a:solidFill>
              </a:rPr>
              <a:t>Display crop only. Full native game.</a:t>
            </a:r>
            <a:endParaRPr sz="1000">
              <a:solidFill>
                <a:srgbClr val="5E6E80"/>
              </a:solidFill>
            </a:endParaRPr>
          </a:p>
        </p:txBody>
      </p:sp>
      <p:sp>
        <p:nvSpPr>
          <p:cNvPr id="660" name="Google Shape;660;p22"/>
          <p:cNvSpPr txBox="1"/>
          <p:nvPr/>
        </p:nvSpPr>
        <p:spPr>
          <a:xfrm>
            <a:off x="3185160" y="3070860"/>
            <a:ext cx="5593200" cy="792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900">
                <a:solidFill>
                  <a:srgbClr val="111827"/>
                </a:solidFill>
                <a:latin typeface="Georgia"/>
                <a:ea typeface="Georgia"/>
                <a:cs typeface="Georgia"/>
                <a:sym typeface="Georgia"/>
              </a:rPr>
              <a:t>ρ = (E, C, O, D, −S, T,</a:t>
            </a:r>
            <a:endParaRPr sz="1900">
              <a:solidFill>
                <a:srgbClr val="111827"/>
              </a:solidFill>
              <a:latin typeface="Georgia"/>
              <a:ea typeface="Georgia"/>
              <a:cs typeface="Georgia"/>
              <a:sym typeface="Georgia"/>
            </a:endParaRPr>
          </a:p>
          <a:p>
            <a:pPr indent="0" lvl="0" marL="0" rtl="0" algn="l">
              <a:lnSpc>
                <a:spcPct val="110000"/>
              </a:lnSpc>
              <a:spcBef>
                <a:spcPts val="0"/>
              </a:spcBef>
              <a:spcAft>
                <a:spcPts val="0"/>
              </a:spcAft>
              <a:buNone/>
            </a:pPr>
            <a:r>
              <a:rPr lang="zh-CN" sz="1900">
                <a:solidFill>
                  <a:srgbClr val="111827"/>
                </a:solidFill>
                <a:latin typeface="Georgia"/>
                <a:ea typeface="Georgia"/>
                <a:cs typeface="Georgia"/>
                <a:sym typeface="Georgia"/>
              </a:rPr>
              <a:t>       K, J, −W, −F̄, U, M̄)</a:t>
            </a:r>
            <a:endParaRPr sz="1900">
              <a:solidFill>
                <a:srgbClr val="111827"/>
              </a:solidFill>
              <a:latin typeface="Georgia"/>
              <a:ea typeface="Georgia"/>
              <a:cs typeface="Georgia"/>
              <a:sym typeface="Georgia"/>
            </a:endParaRPr>
          </a:p>
        </p:txBody>
      </p:sp>
      <p:sp>
        <p:nvSpPr>
          <p:cNvPr id="661" name="Google Shape;661;p22"/>
          <p:cNvSpPr txBox="1"/>
          <p:nvPr/>
        </p:nvSpPr>
        <p:spPr>
          <a:xfrm>
            <a:off x="3185160" y="3642360"/>
            <a:ext cx="55932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100">
                <a:solidFill>
                  <a:srgbClr val="167985"/>
                </a:solidFill>
              </a:rPr>
              <a:t>First unequal component: Left beats Right at E and Up at C.</a:t>
            </a:r>
            <a:endParaRPr b="1" sz="1100">
              <a:solidFill>
                <a:srgbClr val="167985"/>
              </a:solidFill>
            </a:endParaRPr>
          </a:p>
        </p:txBody>
      </p:sp>
      <p:sp>
        <p:nvSpPr>
          <p:cNvPr id="662" name="Google Shape;662;p22"/>
          <p:cNvSpPr txBox="1"/>
          <p:nvPr/>
        </p:nvSpPr>
        <p:spPr>
          <a:xfrm>
            <a:off x="365760" y="3883660"/>
            <a:ext cx="84126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5E6E80"/>
                </a:solidFill>
              </a:rPr>
              <a:t>Food-route cost is one component of the inner rollout heuristic</a:t>
            </a:r>
            <a:endParaRPr sz="1200">
              <a:solidFill>
                <a:srgbClr val="5E6E80"/>
              </a:solidFill>
            </a:endParaRPr>
          </a:p>
        </p:txBody>
      </p:sp>
      <p:sp>
        <p:nvSpPr>
          <p:cNvPr id="663" name="Google Shape;663;p22"/>
          <p:cNvSpPr txBox="1"/>
          <p:nvPr/>
        </p:nvSpPr>
        <p:spPr>
          <a:xfrm>
            <a:off x="365760" y="4137660"/>
            <a:ext cx="8412600" cy="50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750">
                <a:solidFill>
                  <a:srgbClr val="111827"/>
                </a:solidFill>
                <a:latin typeface="Georgia"/>
                <a:ea typeface="Georgia"/>
                <a:cs typeface="Georgia"/>
                <a:sym typeface="Georgia"/>
              </a:rPr>
              <a:t>J</a:t>
            </a:r>
            <a:r>
              <a:rPr baseline="-25000" lang="zh-CN" sz="1750">
                <a:solidFill>
                  <a:srgbClr val="111827"/>
                </a:solidFill>
                <a:latin typeface="Georgia"/>
                <a:ea typeface="Georgia"/>
                <a:cs typeface="Georgia"/>
                <a:sym typeface="Georgia"/>
              </a:rPr>
              <a:t>b</a:t>
            </a:r>
            <a:r>
              <a:rPr lang="zh-CN" sz="1750">
                <a:solidFill>
                  <a:srgbClr val="111827"/>
                </a:solidFill>
                <a:latin typeface="Georgia"/>
                <a:ea typeface="Georgia"/>
                <a:cs typeface="Georgia"/>
                <a:sym typeface="Georgia"/>
              </a:rPr>
              <a:t>(v) = min</a:t>
            </a:r>
            <a:r>
              <a:rPr baseline="-25000" lang="zh-CN" sz="1750">
                <a:solidFill>
                  <a:srgbClr val="111827"/>
                </a:solidFill>
                <a:latin typeface="Georgia"/>
                <a:ea typeface="Georgia"/>
                <a:cs typeface="Georgia"/>
                <a:sym typeface="Georgia"/>
              </a:rPr>
              <a:t>p∈P</a:t>
            </a:r>
            <a:r>
              <a:rPr lang="zh-CN" sz="1750">
                <a:solidFill>
                  <a:srgbClr val="111827"/>
                </a:solidFill>
                <a:latin typeface="Georgia"/>
                <a:ea typeface="Georgia"/>
                <a:cs typeface="Georgia"/>
                <a:sym typeface="Georgia"/>
              </a:rPr>
              <a:t> {d(v,p) + 2∑</a:t>
            </a:r>
            <a:r>
              <a:rPr baseline="-25000" lang="zh-CN" sz="1750">
                <a:solidFill>
                  <a:srgbClr val="111827"/>
                </a:solidFill>
                <a:latin typeface="Georgia"/>
                <a:ea typeface="Georgia"/>
                <a:cs typeface="Georgia"/>
                <a:sym typeface="Georgia"/>
              </a:rPr>
              <a:t>g∈G</a:t>
            </a:r>
            <a:r>
              <a:rPr lang="zh-CN" sz="1750">
                <a:solidFill>
                  <a:srgbClr val="111827"/>
                </a:solidFill>
                <a:latin typeface="Georgia"/>
                <a:ea typeface="Georgia"/>
                <a:cs typeface="Georgia"/>
                <a:sym typeface="Georgia"/>
              </a:rPr>
              <a:t> [b − d(g,p)]₊} + 2N(v)</a:t>
            </a:r>
            <a:endParaRPr sz="1750">
              <a:solidFill>
                <a:srgbClr val="111827"/>
              </a:solidFill>
              <a:latin typeface="Georgia"/>
              <a:ea typeface="Georgia"/>
              <a:cs typeface="Georgia"/>
              <a:sym typeface="Georgia"/>
            </a:endParaRPr>
          </a:p>
        </p:txBody>
      </p:sp>
      <p:sp>
        <p:nvSpPr>
          <p:cNvPr id="664" name="Google Shape;664;p22"/>
          <p:cNvSpPr txBox="1"/>
          <p:nvPr/>
        </p:nvSpPr>
        <p:spPr>
          <a:xfrm>
            <a:off x="365760" y="4493260"/>
            <a:ext cx="8412600" cy="424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200">
                <a:solidFill>
                  <a:srgbClr val="167985"/>
                </a:solidFill>
              </a:rPr>
              <a:t>Execute Left only, then replan from the actual next state.</a:t>
            </a:r>
            <a:endParaRPr b="1" sz="1200">
              <a:solidFill>
                <a:srgbClr val="167985"/>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8" name="Shape 668"/>
        <p:cNvGrpSpPr/>
        <p:nvPr/>
      </p:nvGrpSpPr>
      <p:grpSpPr>
        <a:xfrm>
          <a:off x="0" y="0"/>
          <a:ext cx="0" cy="0"/>
          <a:chOff x="0" y="0"/>
          <a:chExt cx="0" cy="0"/>
        </a:xfrm>
      </p:grpSpPr>
      <p:pic>
        <p:nvPicPr>
          <p:cNvPr id="669" name="Google Shape;669;p23"/>
          <p:cNvPicPr preferRelativeResize="0"/>
          <p:nvPr/>
        </p:nvPicPr>
        <p:blipFill>
          <a:blip r:embed="rId3">
            <a:alphaModFix/>
          </a:blip>
          <a:stretch>
            <a:fillRect/>
          </a:stretch>
        </p:blipFill>
        <p:spPr>
          <a:xfrm>
            <a:off x="330200" y="1320800"/>
            <a:ext cx="8559800" cy="3441700"/>
          </a:xfrm>
          <a:prstGeom prst="rect">
            <a:avLst/>
          </a:prstGeom>
          <a:noFill/>
          <a:ln>
            <a:noFill/>
          </a:ln>
        </p:spPr>
      </p:pic>
      <p:sp>
        <p:nvSpPr>
          <p:cNvPr id="670" name="Google Shape;670;p23"/>
          <p:cNvSpPr/>
          <p:nvPr/>
        </p:nvSpPr>
        <p:spPr>
          <a:xfrm>
            <a:off x="5892800" y="3073400"/>
            <a:ext cx="2793900" cy="685800"/>
          </a:xfrm>
          <a:prstGeom prst="rect">
            <a:avLst/>
          </a:prstGeom>
          <a:solidFill>
            <a:srgbClr val="FFF4E4"/>
          </a:solidFill>
          <a:ln cap="flat" cmpd="sng" w="7625">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1" name="Google Shape;671;p23"/>
          <p:cNvSpPr/>
          <p:nvPr/>
        </p:nvSpPr>
        <p:spPr>
          <a:xfrm>
            <a:off x="457200" y="3073400"/>
            <a:ext cx="4927500" cy="685800"/>
          </a:xfrm>
          <a:prstGeom prst="rect">
            <a:avLst/>
          </a:prstGeom>
          <a:solidFill>
            <a:srgbClr val="FFFFFF"/>
          </a:solidFill>
          <a:ln cap="flat" cmpd="sng" w="7625">
            <a:solidFill>
              <a:srgbClr val="B5C4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2" name="Google Shape;672;p23"/>
          <p:cNvSpPr txBox="1"/>
          <p:nvPr>
            <p:ph type="title"/>
          </p:nvPr>
        </p:nvSpPr>
        <p:spPr>
          <a:xfrm>
            <a:off x="365760" y="226060"/>
            <a:ext cx="8412600" cy="652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a:solidFill>
                  <a:srgbClr val="111827"/>
                </a:solidFill>
              </a:rPr>
              <a:t>Teacher decisions and Kev distillation</a:t>
            </a:r>
            <a:endParaRPr b="1">
              <a:solidFill>
                <a:srgbClr val="111827"/>
              </a:solidFill>
            </a:endParaRPr>
          </a:p>
        </p:txBody>
      </p:sp>
      <p:sp>
        <p:nvSpPr>
          <p:cNvPr id="673" name="Google Shape;673;p23"/>
          <p:cNvSpPr txBox="1"/>
          <p:nvPr/>
        </p:nvSpPr>
        <p:spPr>
          <a:xfrm>
            <a:off x="365760" y="4772660"/>
            <a:ext cx="8209200" cy="360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Probability example only. Seed 91009 stays held out.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674" name="Google Shape;674;p23"/>
          <p:cNvSpPr txBox="1"/>
          <p:nvPr/>
        </p:nvSpPr>
        <p:spPr>
          <a:xfrm>
            <a:off x="8519160" y="4772660"/>
            <a:ext cx="436800" cy="360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11</a:t>
            </a:r>
            <a:endParaRPr sz="900">
              <a:solidFill>
                <a:srgbClr val="5E6E80"/>
              </a:solidFill>
            </a:endParaRPr>
          </a:p>
        </p:txBody>
      </p:sp>
      <p:sp>
        <p:nvSpPr>
          <p:cNvPr id="675" name="Google Shape;675;p23"/>
          <p:cNvSpPr/>
          <p:nvPr/>
        </p:nvSpPr>
        <p:spPr>
          <a:xfrm>
            <a:off x="457200" y="1600200"/>
            <a:ext cx="2235300" cy="1155600"/>
          </a:xfrm>
          <a:prstGeom prst="rect">
            <a:avLst/>
          </a:prstGeom>
          <a:solidFill>
            <a:srgbClr val="FFFFFF"/>
          </a:solidFill>
          <a:ln cap="flat" cmpd="sng" w="12700">
            <a:solidFill>
              <a:srgbClr val="B5C4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6" name="Google Shape;676;p23"/>
          <p:cNvSpPr/>
          <p:nvPr/>
        </p:nvSpPr>
        <p:spPr>
          <a:xfrm>
            <a:off x="3200400" y="1600200"/>
            <a:ext cx="2184300" cy="1155600"/>
          </a:xfrm>
          <a:prstGeom prst="rect">
            <a:avLst/>
          </a:prstGeom>
          <a:solidFill>
            <a:srgbClr val="EFF8F8"/>
          </a:solidFill>
          <a:ln cap="flat" cmpd="sng" w="12700">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7" name="Google Shape;677;p23"/>
          <p:cNvSpPr/>
          <p:nvPr/>
        </p:nvSpPr>
        <p:spPr>
          <a:xfrm>
            <a:off x="5943600" y="1600200"/>
            <a:ext cx="2743200" cy="1155600"/>
          </a:xfrm>
          <a:prstGeom prst="rect">
            <a:avLst/>
          </a:prstGeom>
          <a:solidFill>
            <a:srgbClr val="FFF4E4"/>
          </a:solidFill>
          <a:ln cap="flat" cmpd="sng" w="12700">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78" name="Google Shape;678;p23"/>
          <p:cNvCxnSpPr/>
          <p:nvPr/>
        </p:nvCxnSpPr>
        <p:spPr>
          <a:xfrm>
            <a:off x="2692400" y="2120900"/>
            <a:ext cx="507900" cy="0"/>
          </a:xfrm>
          <a:prstGeom prst="straightConnector1">
            <a:avLst/>
          </a:prstGeom>
          <a:noFill/>
          <a:ln cap="flat" cmpd="sng" w="15250">
            <a:solidFill>
              <a:srgbClr val="167985"/>
            </a:solidFill>
            <a:prstDash val="solid"/>
            <a:round/>
            <a:headEnd len="med" w="med" type="none"/>
            <a:tailEnd len="med" w="med" type="triangle"/>
          </a:ln>
        </p:spPr>
      </p:cxnSp>
      <p:cxnSp>
        <p:nvCxnSpPr>
          <p:cNvPr id="679" name="Google Shape;679;p23"/>
          <p:cNvCxnSpPr/>
          <p:nvPr/>
        </p:nvCxnSpPr>
        <p:spPr>
          <a:xfrm>
            <a:off x="2692400" y="1739900"/>
            <a:ext cx="203100" cy="0"/>
          </a:xfrm>
          <a:prstGeom prst="straightConnector1">
            <a:avLst/>
          </a:prstGeom>
          <a:noFill/>
          <a:ln cap="flat" cmpd="sng" w="15250">
            <a:solidFill>
              <a:srgbClr val="5E6E80"/>
            </a:solidFill>
            <a:prstDash val="solid"/>
            <a:round/>
            <a:headEnd len="med" w="med" type="none"/>
            <a:tailEnd len="med" w="med" type="none"/>
          </a:ln>
        </p:spPr>
      </p:cxnSp>
      <p:cxnSp>
        <p:nvCxnSpPr>
          <p:cNvPr id="680" name="Google Shape;680;p23"/>
          <p:cNvCxnSpPr/>
          <p:nvPr/>
        </p:nvCxnSpPr>
        <p:spPr>
          <a:xfrm rot="10800000">
            <a:off x="2895600" y="1447700"/>
            <a:ext cx="0" cy="292200"/>
          </a:xfrm>
          <a:prstGeom prst="straightConnector1">
            <a:avLst/>
          </a:prstGeom>
          <a:noFill/>
          <a:ln cap="flat" cmpd="sng" w="15250">
            <a:solidFill>
              <a:srgbClr val="5E6E80"/>
            </a:solidFill>
            <a:prstDash val="solid"/>
            <a:round/>
            <a:headEnd len="med" w="med" type="none"/>
            <a:tailEnd len="med" w="med" type="none"/>
          </a:ln>
        </p:spPr>
      </p:cxnSp>
      <p:cxnSp>
        <p:nvCxnSpPr>
          <p:cNvPr id="681" name="Google Shape;681;p23"/>
          <p:cNvCxnSpPr/>
          <p:nvPr/>
        </p:nvCxnSpPr>
        <p:spPr>
          <a:xfrm>
            <a:off x="2895600" y="1447800"/>
            <a:ext cx="4419600" cy="0"/>
          </a:xfrm>
          <a:prstGeom prst="straightConnector1">
            <a:avLst/>
          </a:prstGeom>
          <a:noFill/>
          <a:ln cap="flat" cmpd="sng" w="15250">
            <a:solidFill>
              <a:srgbClr val="5E6E80"/>
            </a:solidFill>
            <a:prstDash val="solid"/>
            <a:round/>
            <a:headEnd len="med" w="med" type="none"/>
            <a:tailEnd len="med" w="med" type="none"/>
          </a:ln>
        </p:spPr>
      </p:cxnSp>
      <p:cxnSp>
        <p:nvCxnSpPr>
          <p:cNvPr id="682" name="Google Shape;682;p23"/>
          <p:cNvCxnSpPr/>
          <p:nvPr/>
        </p:nvCxnSpPr>
        <p:spPr>
          <a:xfrm>
            <a:off x="7315200" y="1447800"/>
            <a:ext cx="0" cy="152400"/>
          </a:xfrm>
          <a:prstGeom prst="straightConnector1">
            <a:avLst/>
          </a:prstGeom>
          <a:noFill/>
          <a:ln cap="flat" cmpd="sng" w="15250">
            <a:solidFill>
              <a:srgbClr val="5E6E80"/>
            </a:solidFill>
            <a:prstDash val="solid"/>
            <a:round/>
            <a:headEnd len="med" w="med" type="none"/>
            <a:tailEnd len="med" w="med" type="triangle"/>
          </a:ln>
        </p:spPr>
      </p:cxnSp>
      <p:cxnSp>
        <p:nvCxnSpPr>
          <p:cNvPr id="683" name="Google Shape;683;p23"/>
          <p:cNvCxnSpPr/>
          <p:nvPr/>
        </p:nvCxnSpPr>
        <p:spPr>
          <a:xfrm>
            <a:off x="4292600" y="2755900"/>
            <a:ext cx="0" cy="317400"/>
          </a:xfrm>
          <a:prstGeom prst="straightConnector1">
            <a:avLst/>
          </a:prstGeom>
          <a:noFill/>
          <a:ln cap="flat" cmpd="sng" w="15250">
            <a:solidFill>
              <a:srgbClr val="167985"/>
            </a:solidFill>
            <a:prstDash val="solid"/>
            <a:round/>
            <a:headEnd len="med" w="med" type="none"/>
            <a:tailEnd len="med" w="med" type="triangle"/>
          </a:ln>
        </p:spPr>
      </p:cxnSp>
      <p:cxnSp>
        <p:nvCxnSpPr>
          <p:cNvPr id="684" name="Google Shape;684;p23"/>
          <p:cNvCxnSpPr/>
          <p:nvPr/>
        </p:nvCxnSpPr>
        <p:spPr>
          <a:xfrm>
            <a:off x="7315200" y="2755900"/>
            <a:ext cx="0" cy="152400"/>
          </a:xfrm>
          <a:prstGeom prst="straightConnector1">
            <a:avLst/>
          </a:prstGeom>
          <a:noFill/>
          <a:ln cap="flat" cmpd="sng" w="15250">
            <a:solidFill>
              <a:srgbClr val="B36B17"/>
            </a:solidFill>
            <a:prstDash val="solid"/>
            <a:round/>
            <a:headEnd len="med" w="med" type="none"/>
            <a:tailEnd len="med" w="med" type="none"/>
          </a:ln>
        </p:spPr>
      </p:cxnSp>
      <p:graphicFrame>
        <p:nvGraphicFramePr>
          <p:cNvPr id="685" name="Google Shape;685;p23"/>
          <p:cNvGraphicFramePr/>
          <p:nvPr/>
        </p:nvGraphicFramePr>
        <p:xfrm>
          <a:off x="457200" y="3860800"/>
          <a:ext cx="3000000" cy="3000000"/>
        </p:xfrm>
        <a:graphic>
          <a:graphicData uri="http://schemas.openxmlformats.org/drawingml/2006/table">
            <a:tbl>
              <a:tblPr>
                <a:noFill/>
                <a:tableStyleId>{60C60C50-C23C-4C79-B157-96EC5A1963B3}</a:tableStyleId>
              </a:tblPr>
              <a:tblGrid>
                <a:gridCol w="1676400"/>
                <a:gridCol w="1955800"/>
                <a:gridCol w="1854200"/>
                <a:gridCol w="1422400"/>
                <a:gridCol w="1320800"/>
              </a:tblGrid>
              <a:tr h="355600">
                <a:tc>
                  <a:txBody>
                    <a:bodyPr/>
                    <a:lstStyle/>
                    <a:p>
                      <a:pPr indent="0" lvl="0" marL="0" rtl="0" algn="l">
                        <a:lnSpc>
                          <a:spcPct val="100000"/>
                        </a:lnSpc>
                        <a:spcBef>
                          <a:spcPts val="0"/>
                        </a:spcBef>
                        <a:spcAft>
                          <a:spcPts val="0"/>
                        </a:spcAft>
                        <a:buNone/>
                      </a:pPr>
                      <a:r>
                        <a:rPr b="1" lang="zh-CN" sz="1000">
                          <a:solidFill>
                            <a:srgbClr val="111827"/>
                          </a:solidFill>
                        </a:rPr>
                        <a:t>Targeted roots</a:t>
                      </a:r>
                      <a:endParaRPr b="1" sz="100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b="1" lang="zh-CN" sz="1000">
                          <a:solidFill>
                            <a:srgbClr val="111827"/>
                          </a:solidFill>
                        </a:rPr>
                        <a:t>Nearby decisions</a:t>
                      </a:r>
                      <a:endParaRPr b="1" sz="100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b="1" lang="zh-CN" sz="1000">
                          <a:solidFill>
                            <a:srgbClr val="111827"/>
                          </a:solidFill>
                        </a:rPr>
                        <a:t>Expert replay</a:t>
                      </a:r>
                      <a:endParaRPr b="1" sz="100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b="1" lang="zh-CN" sz="1000">
                          <a:solidFill>
                            <a:srgbClr val="111827"/>
                          </a:solidFill>
                        </a:rPr>
                        <a:t>Generic replay</a:t>
                      </a:r>
                      <a:endParaRPr b="1" sz="100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b="1" lang="zh-CN" sz="1000">
                          <a:solidFill>
                            <a:srgbClr val="111827"/>
                          </a:solidFill>
                        </a:rPr>
                        <a:t>Total requests</a:t>
                      </a:r>
                      <a:endParaRPr b="1" sz="1000">
                        <a:solidFill>
                          <a:srgbClr val="111827"/>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FFFFFF"/>
                    </a:solidFill>
                  </a:tcPr>
                </a:tc>
              </a:tr>
              <a:tr h="355600">
                <a:tc>
                  <a:txBody>
                    <a:bodyPr/>
                    <a:lstStyle/>
                    <a:p>
                      <a:pPr indent="0" lvl="0" marL="0" rtl="0" algn="l">
                        <a:lnSpc>
                          <a:spcPct val="100000"/>
                        </a:lnSpc>
                        <a:spcBef>
                          <a:spcPts val="0"/>
                        </a:spcBef>
                        <a:spcAft>
                          <a:spcPts val="0"/>
                        </a:spcAft>
                        <a:buNone/>
                      </a:pPr>
                      <a:r>
                        <a:rPr b="1" lang="zh-CN" sz="1050">
                          <a:solidFill>
                            <a:srgbClr val="167985"/>
                          </a:solidFill>
                        </a:rPr>
                        <a:t>3,660</a:t>
                      </a:r>
                      <a:endParaRPr b="1" sz="1050">
                        <a:solidFill>
                          <a:srgbClr val="167985"/>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EFF8F8"/>
                    </a:solidFill>
                  </a:tcPr>
                </a:tc>
                <a:tc>
                  <a:txBody>
                    <a:bodyPr/>
                    <a:lstStyle/>
                    <a:p>
                      <a:pPr indent="0" lvl="0" marL="0" rtl="0" algn="l">
                        <a:lnSpc>
                          <a:spcPct val="100000"/>
                        </a:lnSpc>
                        <a:spcBef>
                          <a:spcPts val="0"/>
                        </a:spcBef>
                        <a:spcAft>
                          <a:spcPts val="0"/>
                        </a:spcAft>
                        <a:buNone/>
                      </a:pPr>
                      <a:r>
                        <a:rPr b="1" lang="zh-CN" sz="1050">
                          <a:solidFill>
                            <a:srgbClr val="167985"/>
                          </a:solidFill>
                        </a:rPr>
                        <a:t>1,220</a:t>
                      </a:r>
                      <a:endParaRPr b="1" sz="1050">
                        <a:solidFill>
                          <a:srgbClr val="167985"/>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EFF8F8"/>
                    </a:solidFill>
                  </a:tcPr>
                </a:tc>
                <a:tc>
                  <a:txBody>
                    <a:bodyPr/>
                    <a:lstStyle/>
                    <a:p>
                      <a:pPr indent="0" lvl="0" marL="0" rtl="0" algn="l">
                        <a:lnSpc>
                          <a:spcPct val="100000"/>
                        </a:lnSpc>
                        <a:spcBef>
                          <a:spcPts val="0"/>
                        </a:spcBef>
                        <a:spcAft>
                          <a:spcPts val="0"/>
                        </a:spcAft>
                        <a:buNone/>
                      </a:pPr>
                      <a:r>
                        <a:rPr b="1" lang="zh-CN" sz="1050">
                          <a:solidFill>
                            <a:srgbClr val="167985"/>
                          </a:solidFill>
                        </a:rPr>
                        <a:t>912</a:t>
                      </a:r>
                      <a:endParaRPr b="1" sz="1050">
                        <a:solidFill>
                          <a:srgbClr val="167985"/>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EFF8F8"/>
                    </a:solidFill>
                  </a:tcPr>
                </a:tc>
                <a:tc>
                  <a:txBody>
                    <a:bodyPr/>
                    <a:lstStyle/>
                    <a:p>
                      <a:pPr indent="0" lvl="0" marL="0" rtl="0" algn="l">
                        <a:lnSpc>
                          <a:spcPct val="100000"/>
                        </a:lnSpc>
                        <a:spcBef>
                          <a:spcPts val="0"/>
                        </a:spcBef>
                        <a:spcAft>
                          <a:spcPts val="0"/>
                        </a:spcAft>
                        <a:buNone/>
                      </a:pPr>
                      <a:r>
                        <a:rPr b="1" lang="zh-CN" sz="1050">
                          <a:solidFill>
                            <a:srgbClr val="167985"/>
                          </a:solidFill>
                        </a:rPr>
                        <a:t>304</a:t>
                      </a:r>
                      <a:endParaRPr b="1" sz="1050">
                        <a:solidFill>
                          <a:srgbClr val="167985"/>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EFF8F8"/>
                    </a:solidFill>
                  </a:tcPr>
                </a:tc>
                <a:tc>
                  <a:txBody>
                    <a:bodyPr/>
                    <a:lstStyle/>
                    <a:p>
                      <a:pPr indent="0" lvl="0" marL="0" rtl="0" algn="l">
                        <a:lnSpc>
                          <a:spcPct val="100000"/>
                        </a:lnSpc>
                        <a:spcBef>
                          <a:spcPts val="0"/>
                        </a:spcBef>
                        <a:spcAft>
                          <a:spcPts val="0"/>
                        </a:spcAft>
                        <a:buNone/>
                      </a:pPr>
                      <a:r>
                        <a:rPr b="1" lang="zh-CN" sz="1050">
                          <a:solidFill>
                            <a:srgbClr val="167985"/>
                          </a:solidFill>
                        </a:rPr>
                        <a:t>6,096</a:t>
                      </a:r>
                      <a:endParaRPr b="1" sz="1050">
                        <a:solidFill>
                          <a:srgbClr val="167985"/>
                        </a:solidFill>
                      </a:endParaRPr>
                    </a:p>
                  </a:txBody>
                  <a:tcPr marT="91425" marB="91425" marR="91425" marL="91425" anchor="ctr">
                    <a:lnL cap="flat" cmpd="sng" w="6350">
                      <a:solidFill>
                        <a:srgbClr val="D7E2E5"/>
                      </a:solidFill>
                      <a:prstDash val="solid"/>
                      <a:round/>
                      <a:headEnd len="sm" w="sm" type="none"/>
                      <a:tailEnd len="sm" w="sm" type="none"/>
                    </a:lnL>
                    <a:lnR cap="flat" cmpd="sng" w="6350">
                      <a:solidFill>
                        <a:srgbClr val="D7E2E5"/>
                      </a:solidFill>
                      <a:prstDash val="solid"/>
                      <a:round/>
                      <a:headEnd len="sm" w="sm" type="none"/>
                      <a:tailEnd len="sm" w="sm" type="none"/>
                    </a:lnR>
                    <a:lnT cap="flat" cmpd="sng" w="6350">
                      <a:solidFill>
                        <a:srgbClr val="D7E2E5"/>
                      </a:solidFill>
                      <a:prstDash val="solid"/>
                      <a:round/>
                      <a:headEnd len="sm" w="sm" type="none"/>
                      <a:tailEnd len="sm" w="sm" type="none"/>
                    </a:lnT>
                    <a:lnB cap="flat" cmpd="sng" w="6350">
                      <a:solidFill>
                        <a:srgbClr val="D7E2E5"/>
                      </a:solidFill>
                      <a:prstDash val="solid"/>
                      <a:round/>
                      <a:headEnd len="sm" w="sm" type="none"/>
                      <a:tailEnd len="sm" w="sm" type="none"/>
                    </a:lnB>
                    <a:solidFill>
                      <a:srgbClr val="EFF8F8"/>
                    </a:solidFill>
                  </a:tcPr>
                </a:tc>
              </a:tr>
            </a:tbl>
          </a:graphicData>
        </a:graphic>
      </p:graphicFrame>
      <p:sp>
        <p:nvSpPr>
          <p:cNvPr id="686" name="Google Shape;686;p23"/>
          <p:cNvSpPr txBox="1"/>
          <p:nvPr/>
        </p:nvSpPr>
        <p:spPr>
          <a:xfrm>
            <a:off x="365760" y="873760"/>
            <a:ext cx="8412600" cy="487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600">
                <a:solidFill>
                  <a:srgbClr val="111827"/>
                </a:solidFill>
              </a:rPr>
              <a:t>The teacher searches offline. Kev learns its chosen action.</a:t>
            </a:r>
            <a:endParaRPr sz="1600">
              <a:solidFill>
                <a:srgbClr val="111827"/>
              </a:solidFill>
            </a:endParaRPr>
          </a:p>
        </p:txBody>
      </p:sp>
      <p:sp>
        <p:nvSpPr>
          <p:cNvPr id="687" name="Google Shape;687;p23"/>
          <p:cNvSpPr txBox="1"/>
          <p:nvPr/>
        </p:nvSpPr>
        <p:spPr>
          <a:xfrm>
            <a:off x="505460" y="1610360"/>
            <a:ext cx="2138700" cy="424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300">
                <a:solidFill>
                  <a:srgbClr val="111827"/>
                </a:solidFill>
              </a:rPr>
              <a:t>Same model input</a:t>
            </a:r>
            <a:endParaRPr b="1" sz="1300">
              <a:solidFill>
                <a:srgbClr val="111827"/>
              </a:solidFill>
            </a:endParaRPr>
          </a:p>
        </p:txBody>
      </p:sp>
      <p:sp>
        <p:nvSpPr>
          <p:cNvPr id="688" name="Google Shape;688;p23"/>
          <p:cNvSpPr txBox="1"/>
          <p:nvPr/>
        </p:nvSpPr>
        <p:spPr>
          <a:xfrm>
            <a:off x="505460" y="1940560"/>
            <a:ext cx="21387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s: full observed game state</a:t>
            </a:r>
            <a:endParaRPr sz="1200">
              <a:solidFill>
                <a:srgbClr val="111827"/>
              </a:solidFill>
            </a:endParaRPr>
          </a:p>
          <a:p>
            <a:pPr indent="0" lvl="0" marL="0" rtl="0" algn="l">
              <a:lnSpc>
                <a:spcPct val="110000"/>
              </a:lnSpc>
              <a:spcBef>
                <a:spcPts val="0"/>
              </a:spcBef>
              <a:spcAft>
                <a:spcPts val="0"/>
              </a:spcAft>
              <a:buNone/>
            </a:pPr>
            <a:r>
              <a:rPr lang="zh-CN" sz="1200">
                <a:solidFill>
                  <a:srgbClr val="111827"/>
                </a:solidFill>
              </a:rPr>
              <a:t>u: decision question</a:t>
            </a:r>
            <a:endParaRPr sz="1200">
              <a:solidFill>
                <a:srgbClr val="111827"/>
              </a:solidFill>
            </a:endParaRPr>
          </a:p>
          <a:p>
            <a:pPr indent="0" lvl="0" marL="0" rtl="0" algn="l">
              <a:lnSpc>
                <a:spcPct val="110000"/>
              </a:lnSpc>
              <a:spcBef>
                <a:spcPts val="0"/>
              </a:spcBef>
              <a:spcAft>
                <a:spcPts val="0"/>
              </a:spcAft>
              <a:buNone/>
            </a:pPr>
            <a:r>
              <a:rPr lang="zh-CN" sz="1200">
                <a:solidFill>
                  <a:srgbClr val="111827"/>
                </a:solidFill>
              </a:rPr>
              <a:t>A: original legal options</a:t>
            </a:r>
            <a:endParaRPr sz="1200">
              <a:solidFill>
                <a:srgbClr val="111827"/>
              </a:solidFill>
            </a:endParaRPr>
          </a:p>
        </p:txBody>
      </p:sp>
      <p:sp>
        <p:nvSpPr>
          <p:cNvPr id="689" name="Google Shape;689;p23"/>
          <p:cNvSpPr txBox="1"/>
          <p:nvPr/>
        </p:nvSpPr>
        <p:spPr>
          <a:xfrm>
            <a:off x="3261360" y="1610360"/>
            <a:ext cx="2062500" cy="424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300">
                <a:solidFill>
                  <a:srgbClr val="167985"/>
                </a:solidFill>
              </a:rPr>
              <a:t>Offline teacher</a:t>
            </a:r>
            <a:endParaRPr b="1" sz="1300">
              <a:solidFill>
                <a:srgbClr val="167985"/>
              </a:solidFill>
            </a:endParaRPr>
          </a:p>
        </p:txBody>
      </p:sp>
      <p:sp>
        <p:nvSpPr>
          <p:cNvPr id="690" name="Google Shape;690;p23"/>
          <p:cNvSpPr txBox="1"/>
          <p:nvPr/>
        </p:nvSpPr>
        <p:spPr>
          <a:xfrm>
            <a:off x="3261360" y="1915160"/>
            <a:ext cx="2062500" cy="52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200">
                <a:solidFill>
                  <a:srgbClr val="111827"/>
                </a:solidFill>
                <a:latin typeface="Georgia"/>
                <a:ea typeface="Georgia"/>
                <a:cs typeface="Georgia"/>
                <a:sym typeface="Georgia"/>
              </a:rPr>
              <a:t>a</a:t>
            </a:r>
            <a:r>
              <a:rPr baseline="-25000" lang="zh-CN" sz="2200">
                <a:solidFill>
                  <a:srgbClr val="111827"/>
                </a:solidFill>
                <a:latin typeface="Georgia"/>
                <a:ea typeface="Georgia"/>
                <a:cs typeface="Georgia"/>
                <a:sym typeface="Georgia"/>
              </a:rPr>
              <a:t>T</a:t>
            </a:r>
            <a:r>
              <a:rPr lang="zh-CN" sz="2200">
                <a:solidFill>
                  <a:srgbClr val="111827"/>
                </a:solidFill>
                <a:latin typeface="Georgia"/>
                <a:ea typeface="Georgia"/>
                <a:cs typeface="Georgia"/>
                <a:sym typeface="Georgia"/>
              </a:rPr>
              <a:t> = Left</a:t>
            </a:r>
            <a:endParaRPr sz="2200">
              <a:solidFill>
                <a:srgbClr val="111827"/>
              </a:solidFill>
              <a:latin typeface="Georgia"/>
              <a:ea typeface="Georgia"/>
              <a:cs typeface="Georgia"/>
              <a:sym typeface="Georgia"/>
            </a:endParaRPr>
          </a:p>
        </p:txBody>
      </p:sp>
      <p:sp>
        <p:nvSpPr>
          <p:cNvPr id="691" name="Google Shape;691;p23"/>
          <p:cNvSpPr txBox="1"/>
          <p:nvPr/>
        </p:nvSpPr>
        <p:spPr>
          <a:xfrm>
            <a:off x="3261360" y="2321560"/>
            <a:ext cx="2062500" cy="487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050">
                <a:solidFill>
                  <a:srgbClr val="111827"/>
                </a:solidFill>
              </a:rPr>
              <a:t>Positive continuations:</a:t>
            </a:r>
            <a:endParaRPr sz="1050">
              <a:solidFill>
                <a:srgbClr val="111827"/>
              </a:solidFill>
            </a:endParaRPr>
          </a:p>
          <a:p>
            <a:pPr indent="0" lvl="0" marL="0" rtl="0" algn="l">
              <a:lnSpc>
                <a:spcPct val="110000"/>
              </a:lnSpc>
              <a:spcBef>
                <a:spcPts val="0"/>
              </a:spcBef>
              <a:spcAft>
                <a:spcPts val="0"/>
              </a:spcAft>
              <a:buNone/>
            </a:pPr>
            <a:r>
              <a:rPr lang="zh-CN" sz="1050">
                <a:solidFill>
                  <a:srgbClr val="111827"/>
                </a:solidFill>
              </a:rPr>
              <a:t>clear with zero life loss</a:t>
            </a:r>
            <a:endParaRPr sz="1050">
              <a:solidFill>
                <a:srgbClr val="111827"/>
              </a:solidFill>
            </a:endParaRPr>
          </a:p>
        </p:txBody>
      </p:sp>
      <p:sp>
        <p:nvSpPr>
          <p:cNvPr id="692" name="Google Shape;692;p23"/>
          <p:cNvSpPr txBox="1"/>
          <p:nvPr/>
        </p:nvSpPr>
        <p:spPr>
          <a:xfrm>
            <a:off x="6004560" y="1610360"/>
            <a:ext cx="2621400" cy="424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300">
                <a:solidFill>
                  <a:srgbClr val="B36B17"/>
                </a:solidFill>
              </a:rPr>
              <a:t>Kev from completed v3</a:t>
            </a:r>
            <a:endParaRPr b="1" sz="1300">
              <a:solidFill>
                <a:srgbClr val="B36B17"/>
              </a:solidFill>
            </a:endParaRPr>
          </a:p>
        </p:txBody>
      </p:sp>
      <p:sp>
        <p:nvSpPr>
          <p:cNvPr id="693" name="Google Shape;693;p23"/>
          <p:cNvSpPr txBox="1"/>
          <p:nvPr/>
        </p:nvSpPr>
        <p:spPr>
          <a:xfrm>
            <a:off x="6004560" y="1915160"/>
            <a:ext cx="26214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φ: LoRA + pointer head</a:t>
            </a:r>
            <a:endParaRPr sz="1200">
              <a:solidFill>
                <a:srgbClr val="111827"/>
              </a:solidFill>
            </a:endParaRPr>
          </a:p>
        </p:txBody>
      </p:sp>
      <p:sp>
        <p:nvSpPr>
          <p:cNvPr id="694" name="Google Shape;694;p23"/>
          <p:cNvSpPr txBox="1"/>
          <p:nvPr/>
        </p:nvSpPr>
        <p:spPr>
          <a:xfrm>
            <a:off x="6004560" y="2194560"/>
            <a:ext cx="26214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100">
                <a:solidFill>
                  <a:srgbClr val="111827"/>
                </a:solidFill>
              </a:rPr>
              <a:t>Up 0.35   Left 0.20   Right 0.45</a:t>
            </a:r>
            <a:endParaRPr sz="1100">
              <a:solidFill>
                <a:srgbClr val="111827"/>
              </a:solidFill>
            </a:endParaRPr>
          </a:p>
        </p:txBody>
      </p:sp>
      <p:sp>
        <p:nvSpPr>
          <p:cNvPr id="695" name="Google Shape;695;p23"/>
          <p:cNvSpPr txBox="1"/>
          <p:nvPr/>
        </p:nvSpPr>
        <p:spPr>
          <a:xfrm>
            <a:off x="6004560" y="2435860"/>
            <a:ext cx="2621400" cy="348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50">
                <a:solidFill>
                  <a:srgbClr val="5E6E80"/>
                </a:solidFill>
              </a:rPr>
              <a:t>Illustrative student probabilities</a:t>
            </a:r>
            <a:endParaRPr sz="950">
              <a:solidFill>
                <a:srgbClr val="5E6E80"/>
              </a:solidFill>
            </a:endParaRPr>
          </a:p>
        </p:txBody>
      </p:sp>
      <p:sp>
        <p:nvSpPr>
          <p:cNvPr id="696" name="Google Shape;696;p23"/>
          <p:cNvSpPr txBox="1"/>
          <p:nvPr/>
        </p:nvSpPr>
        <p:spPr>
          <a:xfrm>
            <a:off x="518160" y="3032760"/>
            <a:ext cx="4805700" cy="56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500">
                <a:solidFill>
                  <a:srgbClr val="111827"/>
                </a:solidFill>
                <a:latin typeface="Georgia"/>
                <a:ea typeface="Georgia"/>
                <a:cs typeface="Georgia"/>
                <a:sym typeface="Georgia"/>
              </a:rPr>
              <a:t>ℒ(φ) = −log p</a:t>
            </a:r>
            <a:r>
              <a:rPr baseline="-25000" lang="zh-CN" sz="2500">
                <a:solidFill>
                  <a:srgbClr val="111827"/>
                </a:solidFill>
                <a:latin typeface="Georgia"/>
                <a:ea typeface="Georgia"/>
                <a:cs typeface="Georgia"/>
                <a:sym typeface="Georgia"/>
              </a:rPr>
              <a:t>φ</a:t>
            </a:r>
            <a:r>
              <a:rPr lang="zh-CN" sz="2500">
                <a:solidFill>
                  <a:srgbClr val="111827"/>
                </a:solidFill>
                <a:latin typeface="Georgia"/>
                <a:ea typeface="Georgia"/>
                <a:cs typeface="Georgia"/>
                <a:sym typeface="Georgia"/>
              </a:rPr>
              <a:t>(a</a:t>
            </a:r>
            <a:r>
              <a:rPr baseline="-25000" lang="zh-CN" sz="2500">
                <a:solidFill>
                  <a:srgbClr val="111827"/>
                </a:solidFill>
                <a:latin typeface="Georgia"/>
                <a:ea typeface="Georgia"/>
                <a:cs typeface="Georgia"/>
                <a:sym typeface="Georgia"/>
              </a:rPr>
              <a:t>T</a:t>
            </a:r>
            <a:r>
              <a:rPr lang="zh-CN" sz="2500">
                <a:solidFill>
                  <a:srgbClr val="111827"/>
                </a:solidFill>
                <a:latin typeface="Georgia"/>
                <a:ea typeface="Georgia"/>
                <a:cs typeface="Georgia"/>
                <a:sym typeface="Georgia"/>
              </a:rPr>
              <a:t> | s, u, A)</a:t>
            </a:r>
            <a:endParaRPr sz="2500">
              <a:solidFill>
                <a:srgbClr val="111827"/>
              </a:solidFill>
              <a:latin typeface="Georgia"/>
              <a:ea typeface="Georgia"/>
              <a:cs typeface="Georgia"/>
              <a:sym typeface="Georgia"/>
            </a:endParaRPr>
          </a:p>
        </p:txBody>
      </p:sp>
      <p:sp>
        <p:nvSpPr>
          <p:cNvPr id="697" name="Google Shape;697;p23"/>
          <p:cNvSpPr txBox="1"/>
          <p:nvPr/>
        </p:nvSpPr>
        <p:spPr>
          <a:xfrm>
            <a:off x="518160" y="3439160"/>
            <a:ext cx="4805700" cy="386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50">
                <a:solidFill>
                  <a:srgbClr val="111827"/>
                </a:solidFill>
              </a:rPr>
              <a:t>Left target: −log(0.20) = 1.61</a:t>
            </a:r>
            <a:endParaRPr sz="1250">
              <a:solidFill>
                <a:srgbClr val="111827"/>
              </a:solidFill>
            </a:endParaRPr>
          </a:p>
        </p:txBody>
      </p:sp>
      <p:sp>
        <p:nvSpPr>
          <p:cNvPr id="698" name="Google Shape;698;p23"/>
          <p:cNvSpPr txBox="1"/>
          <p:nvPr/>
        </p:nvSpPr>
        <p:spPr>
          <a:xfrm>
            <a:off x="5953760" y="3045460"/>
            <a:ext cx="26721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150">
                <a:solidFill>
                  <a:srgbClr val="111827"/>
                </a:solidFill>
              </a:rPr>
              <a:t>Fresh optimizer</a:t>
            </a:r>
            <a:endParaRPr sz="1150">
              <a:solidFill>
                <a:srgbClr val="111827"/>
              </a:solidFill>
            </a:endParaRPr>
          </a:p>
          <a:p>
            <a:pPr indent="0" lvl="0" marL="0" rtl="0" algn="l">
              <a:lnSpc>
                <a:spcPct val="110000"/>
              </a:lnSpc>
              <a:spcBef>
                <a:spcPts val="0"/>
              </a:spcBef>
              <a:spcAft>
                <a:spcPts val="0"/>
              </a:spcAft>
              <a:buNone/>
            </a:pPr>
            <a:r>
              <a:rPr lang="zh-CN" sz="1150">
                <a:solidFill>
                  <a:srgbClr val="111827"/>
                </a:solidFill>
              </a:rPr>
              <a:t>Update LoRA + pointer head</a:t>
            </a:r>
            <a:endParaRPr sz="1150">
              <a:solidFill>
                <a:srgbClr val="111827"/>
              </a:solidFill>
            </a:endParaRPr>
          </a:p>
          <a:p>
            <a:pPr indent="0" lvl="0" marL="0" rtl="0" algn="l">
              <a:lnSpc>
                <a:spcPct val="110000"/>
              </a:lnSpc>
              <a:spcBef>
                <a:spcPts val="0"/>
              </a:spcBef>
              <a:spcAft>
                <a:spcPts val="0"/>
              </a:spcAft>
              <a:buNone/>
            </a:pPr>
            <a:r>
              <a:rPr lang="zh-CN" sz="1150">
                <a:solidFill>
                  <a:srgbClr val="111827"/>
                </a:solidFill>
              </a:rPr>
              <a:t>Keep W₀ fixed</a:t>
            </a:r>
            <a:endParaRPr sz="1150">
              <a:solidFill>
                <a:srgbClr val="111827"/>
              </a:solidFill>
            </a:endParaRPr>
          </a:p>
        </p:txBody>
      </p:sp>
      <p:sp>
        <p:nvSpPr>
          <p:cNvPr id="699" name="Google Shape;699;p23"/>
          <p:cNvSpPr txBox="1"/>
          <p:nvPr/>
        </p:nvSpPr>
        <p:spPr>
          <a:xfrm>
            <a:off x="365760" y="4544060"/>
            <a:ext cx="84126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050">
                <a:solidFill>
                  <a:srgbClr val="5E6E80"/>
                </a:solidFill>
              </a:rPr>
              <a:t>11 roots are recorded v3 disagreements. Other hard cases use simulation.</a:t>
            </a:r>
            <a:endParaRPr sz="1050">
              <a:solidFill>
                <a:srgbClr val="5E6E80"/>
              </a:solidFill>
            </a:endParaRPr>
          </a:p>
        </p:txBody>
      </p:sp>
      <p:cxnSp>
        <p:nvCxnSpPr>
          <p:cNvPr id="700" name="Google Shape;700;p23"/>
          <p:cNvCxnSpPr/>
          <p:nvPr/>
        </p:nvCxnSpPr>
        <p:spPr>
          <a:xfrm rot="10800000">
            <a:off x="5181600" y="2908300"/>
            <a:ext cx="2133600" cy="0"/>
          </a:xfrm>
          <a:prstGeom prst="straightConnector1">
            <a:avLst/>
          </a:prstGeom>
          <a:noFill/>
          <a:ln cap="flat" cmpd="sng" w="15250">
            <a:solidFill>
              <a:srgbClr val="B36B17"/>
            </a:solidFill>
            <a:prstDash val="solid"/>
            <a:round/>
            <a:headEnd len="med" w="med" type="none"/>
            <a:tailEnd len="med" w="med" type="none"/>
          </a:ln>
        </p:spPr>
      </p:cxnSp>
      <p:cxnSp>
        <p:nvCxnSpPr>
          <p:cNvPr id="701" name="Google Shape;701;p23"/>
          <p:cNvCxnSpPr/>
          <p:nvPr/>
        </p:nvCxnSpPr>
        <p:spPr>
          <a:xfrm>
            <a:off x="5181600" y="2908300"/>
            <a:ext cx="0" cy="165000"/>
          </a:xfrm>
          <a:prstGeom prst="straightConnector1">
            <a:avLst/>
          </a:prstGeom>
          <a:noFill/>
          <a:ln cap="flat" cmpd="sng" w="15250">
            <a:solidFill>
              <a:srgbClr val="B36B17"/>
            </a:solidFill>
            <a:prstDash val="solid"/>
            <a:round/>
            <a:headEnd len="med" w="med" type="none"/>
            <a:tailEnd len="med" w="med" type="triangle"/>
          </a:ln>
        </p:spPr>
      </p:cxnSp>
      <p:cxnSp>
        <p:nvCxnSpPr>
          <p:cNvPr id="702" name="Google Shape;702;p23"/>
          <p:cNvCxnSpPr/>
          <p:nvPr/>
        </p:nvCxnSpPr>
        <p:spPr>
          <a:xfrm>
            <a:off x="5384800" y="3416300"/>
            <a:ext cx="507900" cy="0"/>
          </a:xfrm>
          <a:prstGeom prst="straightConnector1">
            <a:avLst/>
          </a:prstGeom>
          <a:noFill/>
          <a:ln cap="flat" cmpd="sng" w="15250">
            <a:solidFill>
              <a:srgbClr val="B36B17"/>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6" name="Shape 706"/>
        <p:cNvGrpSpPr/>
        <p:nvPr/>
      </p:nvGrpSpPr>
      <p:grpSpPr>
        <a:xfrm>
          <a:off x="0" y="0"/>
          <a:ext cx="0" cy="0"/>
          <a:chOff x="0" y="0"/>
          <a:chExt cx="0" cy="0"/>
        </a:xfrm>
      </p:grpSpPr>
      <p:pic>
        <p:nvPicPr>
          <p:cNvPr descr="Five stages highlight the analytic score gradient, the pointer head, the fixed backbone, LoRA and the accumulated AdamW update. Native equations, subscripts, labels and lines remain editable. The footer opens step and probability controls. Probabilities are illustrative." id="707" name="Google Shape;707;p24" title="Animated loss gradients through Kev"/>
          <p:cNvPicPr preferRelativeResize="0"/>
          <p:nvPr/>
        </p:nvPicPr>
        <p:blipFill>
          <a:blip r:embed="rId3">
            <a:alphaModFix/>
          </a:blip>
          <a:stretch>
            <a:fillRect/>
          </a:stretch>
        </p:blipFill>
        <p:spPr>
          <a:xfrm>
            <a:off x="330200" y="1320800"/>
            <a:ext cx="8559800" cy="3505200"/>
          </a:xfrm>
          <a:prstGeom prst="rect">
            <a:avLst/>
          </a:prstGeom>
          <a:noFill/>
          <a:ln>
            <a:noFill/>
          </a:ln>
        </p:spPr>
      </p:pic>
      <p:sp>
        <p:nvSpPr>
          <p:cNvPr id="708" name="Google Shape;708;p24"/>
          <p:cNvSpPr txBox="1"/>
          <p:nvPr>
            <p:ph type="title"/>
          </p:nvPr>
        </p:nvSpPr>
        <p:spPr>
          <a:xfrm>
            <a:off x="365760" y="226060"/>
            <a:ext cx="8412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3000">
                <a:solidFill>
                  <a:srgbClr val="111827"/>
                </a:solidFill>
              </a:rPr>
              <a:t>How gradients update Kev</a:t>
            </a:r>
            <a:endParaRPr b="1" sz="3000">
              <a:solidFill>
                <a:srgbClr val="111827"/>
              </a:solidFill>
            </a:endParaRPr>
          </a:p>
        </p:txBody>
      </p:sp>
      <p:sp>
        <p:nvSpPr>
          <p:cNvPr id="709" name="Google Shape;709;p24"/>
          <p:cNvSpPr txBox="1"/>
          <p:nvPr/>
        </p:nvSpPr>
        <p:spPr>
          <a:xfrm>
            <a:off x="365760" y="4772660"/>
            <a:ext cx="8209200" cy="3606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zh-CN" sz="900">
                <a:solidFill>
                  <a:srgbClr val="5E6E80"/>
                </a:solidFill>
              </a:rPr>
              <a:t>Single-choice gradient. Frozen base. </a:t>
            </a:r>
            <a:r>
              <a:rPr lang="zh-CN" sz="900" u="sng">
                <a:solidFill>
                  <a:srgbClr val="167985"/>
                </a:solidFill>
                <a:hlinkClick r:id="rId4">
                  <a:extLst>
                    <a:ext uri="{A12FA001-AC4F-418D-AE19-62706E023703}">
                      <ahyp:hlinkClr val="tx"/>
                    </a:ext>
                  </a:extLst>
                </a:hlinkClick>
              </a:rPr>
              <a:t>Open animation controls.</a:t>
            </a:r>
            <a:endParaRPr sz="900">
              <a:solidFill>
                <a:srgbClr val="167985"/>
              </a:solidFill>
            </a:endParaRPr>
          </a:p>
        </p:txBody>
      </p:sp>
      <p:sp>
        <p:nvSpPr>
          <p:cNvPr id="710" name="Google Shape;710;p24"/>
          <p:cNvSpPr txBox="1"/>
          <p:nvPr/>
        </p:nvSpPr>
        <p:spPr>
          <a:xfrm>
            <a:off x="8519160" y="4772660"/>
            <a:ext cx="436800" cy="360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12</a:t>
            </a:r>
            <a:endParaRPr sz="900">
              <a:solidFill>
                <a:srgbClr val="5E6E80"/>
              </a:solidFill>
            </a:endParaRPr>
          </a:p>
        </p:txBody>
      </p:sp>
      <p:sp>
        <p:nvSpPr>
          <p:cNvPr id="711" name="Google Shape;711;p24"/>
          <p:cNvSpPr/>
          <p:nvPr/>
        </p:nvSpPr>
        <p:spPr>
          <a:xfrm>
            <a:off x="1320800" y="2387600"/>
            <a:ext cx="3022500" cy="1193700"/>
          </a:xfrm>
          <a:prstGeom prst="rect">
            <a:avLst/>
          </a:prstGeom>
          <a:solidFill>
            <a:srgbClr val="EFF8F8"/>
          </a:solidFill>
          <a:ln cap="flat" cmpd="sng" w="7625">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2" name="Google Shape;712;p24"/>
          <p:cNvSpPr/>
          <p:nvPr/>
        </p:nvSpPr>
        <p:spPr>
          <a:xfrm>
            <a:off x="4902200" y="2387600"/>
            <a:ext cx="1981200" cy="1193700"/>
          </a:xfrm>
          <a:prstGeom prst="rect">
            <a:avLst/>
          </a:prstGeom>
          <a:solidFill>
            <a:srgbClr val="FFF4E4"/>
          </a:solidFill>
          <a:ln cap="flat" cmpd="sng" w="7625">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3" name="Google Shape;713;p24"/>
          <p:cNvSpPr/>
          <p:nvPr/>
        </p:nvSpPr>
        <p:spPr>
          <a:xfrm>
            <a:off x="7467600" y="2387600"/>
            <a:ext cx="1219200" cy="1193700"/>
          </a:xfrm>
          <a:prstGeom prst="rect">
            <a:avLst/>
          </a:prstGeom>
          <a:solidFill>
            <a:srgbClr val="FFFFFF"/>
          </a:solidFill>
          <a:ln cap="flat" cmpd="sng" w="7625">
            <a:solidFill>
              <a:srgbClr val="B5C4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14" name="Google Shape;714;p24"/>
          <p:cNvCxnSpPr/>
          <p:nvPr/>
        </p:nvCxnSpPr>
        <p:spPr>
          <a:xfrm>
            <a:off x="952500" y="2857500"/>
            <a:ext cx="368400" cy="0"/>
          </a:xfrm>
          <a:prstGeom prst="straightConnector1">
            <a:avLst/>
          </a:prstGeom>
          <a:noFill/>
          <a:ln cap="flat" cmpd="sng" w="15250">
            <a:solidFill>
              <a:srgbClr val="167985"/>
            </a:solidFill>
            <a:prstDash val="solid"/>
            <a:round/>
            <a:headEnd len="med" w="med" type="none"/>
            <a:tailEnd len="med" w="med" type="triangle"/>
          </a:ln>
        </p:spPr>
      </p:cxnSp>
      <p:cxnSp>
        <p:nvCxnSpPr>
          <p:cNvPr id="715" name="Google Shape;715;p24"/>
          <p:cNvCxnSpPr/>
          <p:nvPr/>
        </p:nvCxnSpPr>
        <p:spPr>
          <a:xfrm>
            <a:off x="4343400" y="2857500"/>
            <a:ext cx="558900" cy="0"/>
          </a:xfrm>
          <a:prstGeom prst="straightConnector1">
            <a:avLst/>
          </a:prstGeom>
          <a:noFill/>
          <a:ln cap="flat" cmpd="sng" w="15250">
            <a:solidFill>
              <a:srgbClr val="167985"/>
            </a:solidFill>
            <a:prstDash val="solid"/>
            <a:round/>
            <a:headEnd len="med" w="med" type="none"/>
            <a:tailEnd len="med" w="med" type="triangle"/>
          </a:ln>
        </p:spPr>
      </p:cxnSp>
      <p:cxnSp>
        <p:nvCxnSpPr>
          <p:cNvPr id="716" name="Google Shape;716;p24"/>
          <p:cNvCxnSpPr/>
          <p:nvPr/>
        </p:nvCxnSpPr>
        <p:spPr>
          <a:xfrm>
            <a:off x="6883400" y="2857500"/>
            <a:ext cx="584100" cy="0"/>
          </a:xfrm>
          <a:prstGeom prst="straightConnector1">
            <a:avLst/>
          </a:prstGeom>
          <a:noFill/>
          <a:ln cap="flat" cmpd="sng" w="15250">
            <a:solidFill>
              <a:srgbClr val="167985"/>
            </a:solidFill>
            <a:prstDash val="solid"/>
            <a:round/>
            <a:headEnd len="med" w="med" type="none"/>
            <a:tailEnd len="med" w="med" type="triangle"/>
          </a:ln>
        </p:spPr>
      </p:cxnSp>
      <p:cxnSp>
        <p:nvCxnSpPr>
          <p:cNvPr id="717" name="Google Shape;717;p24"/>
          <p:cNvCxnSpPr/>
          <p:nvPr/>
        </p:nvCxnSpPr>
        <p:spPr>
          <a:xfrm>
            <a:off x="8077200" y="3581400"/>
            <a:ext cx="0" cy="228600"/>
          </a:xfrm>
          <a:prstGeom prst="straightConnector1">
            <a:avLst/>
          </a:prstGeom>
          <a:noFill/>
          <a:ln cap="flat" cmpd="sng" w="15250">
            <a:solidFill>
              <a:srgbClr val="B36B17"/>
            </a:solidFill>
            <a:prstDash val="solid"/>
            <a:round/>
            <a:headEnd len="med" w="med" type="none"/>
            <a:tailEnd len="med" w="med" type="none"/>
          </a:ln>
        </p:spPr>
      </p:cxnSp>
      <p:cxnSp>
        <p:nvCxnSpPr>
          <p:cNvPr id="718" name="Google Shape;718;p24"/>
          <p:cNvCxnSpPr/>
          <p:nvPr/>
        </p:nvCxnSpPr>
        <p:spPr>
          <a:xfrm rot="10800000">
            <a:off x="5892900" y="3810000"/>
            <a:ext cx="2184300" cy="0"/>
          </a:xfrm>
          <a:prstGeom prst="straightConnector1">
            <a:avLst/>
          </a:prstGeom>
          <a:noFill/>
          <a:ln cap="flat" cmpd="sng" w="15250">
            <a:solidFill>
              <a:srgbClr val="B36B17"/>
            </a:solidFill>
            <a:prstDash val="solid"/>
            <a:round/>
            <a:headEnd len="med" w="med" type="none"/>
            <a:tailEnd len="med" w="med" type="none"/>
          </a:ln>
        </p:spPr>
      </p:cxnSp>
      <p:cxnSp>
        <p:nvCxnSpPr>
          <p:cNvPr id="719" name="Google Shape;719;p24"/>
          <p:cNvCxnSpPr/>
          <p:nvPr/>
        </p:nvCxnSpPr>
        <p:spPr>
          <a:xfrm rot="10800000">
            <a:off x="5892800" y="3581400"/>
            <a:ext cx="0" cy="228600"/>
          </a:xfrm>
          <a:prstGeom prst="straightConnector1">
            <a:avLst/>
          </a:prstGeom>
          <a:noFill/>
          <a:ln cap="flat" cmpd="sng" w="15250">
            <a:solidFill>
              <a:srgbClr val="B36B17"/>
            </a:solidFill>
            <a:prstDash val="solid"/>
            <a:round/>
            <a:headEnd len="med" w="med" type="none"/>
            <a:tailEnd len="med" w="med" type="triangle"/>
          </a:ln>
        </p:spPr>
      </p:cxnSp>
      <p:cxnSp>
        <p:nvCxnSpPr>
          <p:cNvPr id="720" name="Google Shape;720;p24"/>
          <p:cNvCxnSpPr/>
          <p:nvPr/>
        </p:nvCxnSpPr>
        <p:spPr>
          <a:xfrm rot="10800000">
            <a:off x="4343300" y="3365500"/>
            <a:ext cx="558900" cy="0"/>
          </a:xfrm>
          <a:prstGeom prst="straightConnector1">
            <a:avLst/>
          </a:prstGeom>
          <a:noFill/>
          <a:ln cap="flat" cmpd="sng" w="15250">
            <a:solidFill>
              <a:srgbClr val="B36B17"/>
            </a:solidFill>
            <a:prstDash val="solid"/>
            <a:round/>
            <a:headEnd len="med" w="med" type="none"/>
            <a:tailEnd len="med" w="med" type="triangle"/>
          </a:ln>
        </p:spPr>
      </p:cxnSp>
      <p:sp>
        <p:nvSpPr>
          <p:cNvPr id="721" name="Google Shape;721;p24"/>
          <p:cNvSpPr txBox="1"/>
          <p:nvPr/>
        </p:nvSpPr>
        <p:spPr>
          <a:xfrm>
            <a:off x="365760" y="873760"/>
            <a:ext cx="8412600" cy="487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600">
                <a:solidFill>
                  <a:srgbClr val="111827"/>
                </a:solidFill>
              </a:rPr>
              <a:t>The loss flows backward. LoRA and the pointer head learn.</a:t>
            </a:r>
            <a:endParaRPr sz="1600">
              <a:solidFill>
                <a:srgbClr val="111827"/>
              </a:solidFill>
            </a:endParaRPr>
          </a:p>
        </p:txBody>
      </p:sp>
      <p:sp>
        <p:nvSpPr>
          <p:cNvPr id="722" name="Google Shape;722;p24"/>
          <p:cNvSpPr txBox="1"/>
          <p:nvPr/>
        </p:nvSpPr>
        <p:spPr>
          <a:xfrm>
            <a:off x="365760" y="1330960"/>
            <a:ext cx="4043700" cy="614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500">
                <a:solidFill>
                  <a:srgbClr val="111827"/>
                </a:solidFill>
                <a:latin typeface="Georgia"/>
                <a:ea typeface="Georgia"/>
                <a:cs typeface="Georgia"/>
                <a:sym typeface="Georgia"/>
              </a:rPr>
              <a:t>∂ℒ/∂z</a:t>
            </a:r>
            <a:r>
              <a:rPr baseline="-25000" lang="zh-CN" sz="2500">
                <a:solidFill>
                  <a:srgbClr val="111827"/>
                </a:solidFill>
                <a:latin typeface="Georgia"/>
                <a:ea typeface="Georgia"/>
                <a:cs typeface="Georgia"/>
                <a:sym typeface="Georgia"/>
              </a:rPr>
              <a:t>i</a:t>
            </a:r>
            <a:r>
              <a:rPr lang="zh-CN" sz="2500">
                <a:solidFill>
                  <a:srgbClr val="111827"/>
                </a:solidFill>
                <a:latin typeface="Georgia"/>
                <a:ea typeface="Georgia"/>
                <a:cs typeface="Georgia"/>
                <a:sym typeface="Georgia"/>
              </a:rPr>
              <a:t> = p</a:t>
            </a:r>
            <a:r>
              <a:rPr baseline="-25000" lang="zh-CN" sz="2500">
                <a:solidFill>
                  <a:srgbClr val="111827"/>
                </a:solidFill>
                <a:latin typeface="Georgia"/>
                <a:ea typeface="Georgia"/>
                <a:cs typeface="Georgia"/>
                <a:sym typeface="Georgia"/>
              </a:rPr>
              <a:t>i</a:t>
            </a:r>
            <a:r>
              <a:rPr lang="zh-CN" sz="2500">
                <a:solidFill>
                  <a:srgbClr val="111827"/>
                </a:solidFill>
                <a:latin typeface="Georgia"/>
                <a:ea typeface="Georgia"/>
                <a:cs typeface="Georgia"/>
                <a:sym typeface="Georgia"/>
              </a:rPr>
              <a:t> − t</a:t>
            </a:r>
            <a:r>
              <a:rPr baseline="-25000" lang="zh-CN" sz="2500">
                <a:solidFill>
                  <a:srgbClr val="111827"/>
                </a:solidFill>
                <a:latin typeface="Georgia"/>
                <a:ea typeface="Georgia"/>
                <a:cs typeface="Georgia"/>
                <a:sym typeface="Georgia"/>
              </a:rPr>
              <a:t>i</a:t>
            </a:r>
            <a:endParaRPr baseline="-25000" sz="2500">
              <a:solidFill>
                <a:srgbClr val="111827"/>
              </a:solidFill>
              <a:latin typeface="Georgia"/>
              <a:ea typeface="Georgia"/>
              <a:cs typeface="Georgia"/>
              <a:sym typeface="Georgia"/>
            </a:endParaRPr>
          </a:p>
        </p:txBody>
      </p:sp>
      <p:sp>
        <p:nvSpPr>
          <p:cNvPr id="723" name="Google Shape;723;p24"/>
          <p:cNvSpPr txBox="1"/>
          <p:nvPr/>
        </p:nvSpPr>
        <p:spPr>
          <a:xfrm>
            <a:off x="4442460" y="1521460"/>
            <a:ext cx="4335900" cy="424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450">
                <a:solidFill>
                  <a:srgbClr val="B36B17"/>
                </a:solidFill>
              </a:rPr>
              <a:t>Up +0.35   Left −0.80   Right +0.45</a:t>
            </a:r>
            <a:endParaRPr sz="1450">
              <a:solidFill>
                <a:srgbClr val="B36B17"/>
              </a:solidFill>
            </a:endParaRPr>
          </a:p>
        </p:txBody>
      </p:sp>
      <p:sp>
        <p:nvSpPr>
          <p:cNvPr id="724" name="Google Shape;724;p24"/>
          <p:cNvSpPr txBox="1"/>
          <p:nvPr/>
        </p:nvSpPr>
        <p:spPr>
          <a:xfrm>
            <a:off x="365760" y="1826260"/>
            <a:ext cx="84126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50">
                <a:solidFill>
                  <a:srgbClr val="5E6E80"/>
                </a:solidFill>
              </a:rPr>
              <a:t>t</a:t>
            </a:r>
            <a:r>
              <a:rPr baseline="-25000" lang="zh-CN" sz="1250">
                <a:solidFill>
                  <a:srgbClr val="5E6E80"/>
                </a:solidFill>
              </a:rPr>
              <a:t>i</a:t>
            </a:r>
            <a:r>
              <a:rPr lang="zh-CN" sz="1250">
                <a:solidFill>
                  <a:srgbClr val="5E6E80"/>
                </a:solidFill>
              </a:rPr>
              <a:t> = 1 for the teacher action, 0 otherwise. Values are illustrative.</a:t>
            </a:r>
            <a:endParaRPr sz="1250">
              <a:solidFill>
                <a:srgbClr val="5E6E80"/>
              </a:solidFill>
            </a:endParaRPr>
          </a:p>
        </p:txBody>
      </p:sp>
      <p:sp>
        <p:nvSpPr>
          <p:cNvPr id="725" name="Google Shape;725;p24"/>
          <p:cNvSpPr txBox="1"/>
          <p:nvPr/>
        </p:nvSpPr>
        <p:spPr>
          <a:xfrm>
            <a:off x="568960" y="2588260"/>
            <a:ext cx="474900" cy="576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500">
                <a:solidFill>
                  <a:srgbClr val="111827"/>
                </a:solidFill>
                <a:latin typeface="Georgia"/>
                <a:ea typeface="Georgia"/>
                <a:cs typeface="Georgia"/>
                <a:sym typeface="Georgia"/>
              </a:rPr>
              <a:t>x</a:t>
            </a:r>
            <a:endParaRPr sz="2500">
              <a:solidFill>
                <a:srgbClr val="111827"/>
              </a:solidFill>
              <a:latin typeface="Georgia"/>
              <a:ea typeface="Georgia"/>
              <a:cs typeface="Georgia"/>
              <a:sym typeface="Georgia"/>
            </a:endParaRPr>
          </a:p>
        </p:txBody>
      </p:sp>
      <p:sp>
        <p:nvSpPr>
          <p:cNvPr id="726" name="Google Shape;726;p24"/>
          <p:cNvSpPr txBox="1"/>
          <p:nvPr/>
        </p:nvSpPr>
        <p:spPr>
          <a:xfrm>
            <a:off x="1381760" y="2410460"/>
            <a:ext cx="2900700" cy="449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a:solidFill>
                  <a:srgbClr val="111827"/>
                </a:solidFill>
              </a:rPr>
              <a:t>Qwen backbone</a:t>
            </a:r>
            <a:endParaRPr b="1">
              <a:solidFill>
                <a:srgbClr val="111827"/>
              </a:solidFill>
            </a:endParaRPr>
          </a:p>
        </p:txBody>
      </p:sp>
      <p:sp>
        <p:nvSpPr>
          <p:cNvPr id="727" name="Google Shape;727;p24"/>
          <p:cNvSpPr txBox="1"/>
          <p:nvPr/>
        </p:nvSpPr>
        <p:spPr>
          <a:xfrm>
            <a:off x="1381760" y="2753360"/>
            <a:ext cx="29007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600">
                <a:solidFill>
                  <a:srgbClr val="167985"/>
                </a:solidFill>
              </a:rPr>
              <a:t>W₀ stays fixed</a:t>
            </a:r>
            <a:endParaRPr sz="1600">
              <a:solidFill>
                <a:srgbClr val="167985"/>
              </a:solidFill>
            </a:endParaRPr>
          </a:p>
        </p:txBody>
      </p:sp>
      <p:sp>
        <p:nvSpPr>
          <p:cNvPr id="728" name="Google Shape;728;p24"/>
          <p:cNvSpPr txBox="1"/>
          <p:nvPr/>
        </p:nvSpPr>
        <p:spPr>
          <a:xfrm>
            <a:off x="1381760" y="3083560"/>
            <a:ext cx="2900700" cy="474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600">
                <a:solidFill>
                  <a:srgbClr val="B36B17"/>
                </a:solidFill>
              </a:rPr>
              <a:t>LoRA A</a:t>
            </a:r>
            <a:r>
              <a:rPr baseline="-25000" lang="zh-CN" sz="1600">
                <a:solidFill>
                  <a:srgbClr val="B36B17"/>
                </a:solidFill>
              </a:rPr>
              <a:t>ℓ</a:t>
            </a:r>
            <a:r>
              <a:rPr lang="zh-CN" sz="1600">
                <a:solidFill>
                  <a:srgbClr val="B36B17"/>
                </a:solidFill>
              </a:rPr>
              <a:t>, B</a:t>
            </a:r>
            <a:r>
              <a:rPr baseline="-25000" lang="zh-CN" sz="1600">
                <a:solidFill>
                  <a:srgbClr val="B36B17"/>
                </a:solidFill>
              </a:rPr>
              <a:t>ℓ</a:t>
            </a:r>
            <a:r>
              <a:rPr lang="zh-CN" sz="1600">
                <a:solidFill>
                  <a:srgbClr val="B36B17"/>
                </a:solidFill>
              </a:rPr>
              <a:t> train</a:t>
            </a:r>
            <a:endParaRPr sz="1600">
              <a:solidFill>
                <a:srgbClr val="B36B17"/>
              </a:solidFill>
            </a:endParaRPr>
          </a:p>
        </p:txBody>
      </p:sp>
      <p:sp>
        <p:nvSpPr>
          <p:cNvPr id="729" name="Google Shape;729;p24"/>
          <p:cNvSpPr txBox="1"/>
          <p:nvPr/>
        </p:nvSpPr>
        <p:spPr>
          <a:xfrm>
            <a:off x="4366260" y="2410460"/>
            <a:ext cx="500400" cy="52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000">
                <a:solidFill>
                  <a:srgbClr val="111827"/>
                </a:solidFill>
                <a:latin typeface="Georgia"/>
                <a:ea typeface="Georgia"/>
                <a:cs typeface="Georgia"/>
                <a:sym typeface="Georgia"/>
              </a:rPr>
              <a:t>H</a:t>
            </a:r>
            <a:endParaRPr sz="2000">
              <a:solidFill>
                <a:srgbClr val="111827"/>
              </a:solidFill>
              <a:latin typeface="Georgia"/>
              <a:ea typeface="Georgia"/>
              <a:cs typeface="Georgia"/>
              <a:sym typeface="Georgia"/>
            </a:endParaRPr>
          </a:p>
        </p:txBody>
      </p:sp>
      <p:sp>
        <p:nvSpPr>
          <p:cNvPr id="730" name="Google Shape;730;p24"/>
          <p:cNvSpPr txBox="1"/>
          <p:nvPr/>
        </p:nvSpPr>
        <p:spPr>
          <a:xfrm>
            <a:off x="4963160" y="2410460"/>
            <a:ext cx="1859400" cy="449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a:solidFill>
                  <a:srgbClr val="B36B17"/>
                </a:solidFill>
              </a:rPr>
              <a:t>Pointer head</a:t>
            </a:r>
            <a:endParaRPr b="1">
              <a:solidFill>
                <a:srgbClr val="B36B17"/>
              </a:solidFill>
            </a:endParaRPr>
          </a:p>
        </p:txBody>
      </p:sp>
      <p:sp>
        <p:nvSpPr>
          <p:cNvPr id="731" name="Google Shape;731;p24"/>
          <p:cNvSpPr txBox="1"/>
          <p:nvPr/>
        </p:nvSpPr>
        <p:spPr>
          <a:xfrm>
            <a:off x="4963160" y="2740660"/>
            <a:ext cx="18594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600">
                <a:solidFill>
                  <a:srgbClr val="111827"/>
                </a:solidFill>
                <a:latin typeface="Georgia"/>
                <a:ea typeface="Georgia"/>
                <a:cs typeface="Georgia"/>
                <a:sym typeface="Georgia"/>
              </a:rPr>
              <a:t>W</a:t>
            </a:r>
            <a:r>
              <a:rPr baseline="-25000" lang="zh-CN" sz="1600">
                <a:solidFill>
                  <a:srgbClr val="111827"/>
                </a:solidFill>
                <a:latin typeface="Georgia"/>
                <a:ea typeface="Georgia"/>
                <a:cs typeface="Georgia"/>
                <a:sym typeface="Georgia"/>
              </a:rPr>
              <a:t>q</a:t>
            </a:r>
            <a:r>
              <a:rPr lang="zh-CN" sz="1600">
                <a:solidFill>
                  <a:srgbClr val="111827"/>
                </a:solidFill>
                <a:latin typeface="Georgia"/>
                <a:ea typeface="Georgia"/>
                <a:cs typeface="Georgia"/>
                <a:sym typeface="Georgia"/>
              </a:rPr>
              <a:t>, b</a:t>
            </a:r>
            <a:r>
              <a:rPr baseline="-25000" lang="zh-CN" sz="1600">
                <a:solidFill>
                  <a:srgbClr val="111827"/>
                </a:solidFill>
                <a:latin typeface="Georgia"/>
                <a:ea typeface="Georgia"/>
                <a:cs typeface="Georgia"/>
                <a:sym typeface="Georgia"/>
              </a:rPr>
              <a:t>q</a:t>
            </a:r>
            <a:endParaRPr baseline="-25000" sz="1600">
              <a:solidFill>
                <a:srgbClr val="111827"/>
              </a:solidFill>
              <a:latin typeface="Georgia"/>
              <a:ea typeface="Georgia"/>
              <a:cs typeface="Georgia"/>
              <a:sym typeface="Georgia"/>
            </a:endParaRPr>
          </a:p>
        </p:txBody>
      </p:sp>
      <p:sp>
        <p:nvSpPr>
          <p:cNvPr id="732" name="Google Shape;732;p24"/>
          <p:cNvSpPr txBox="1"/>
          <p:nvPr/>
        </p:nvSpPr>
        <p:spPr>
          <a:xfrm>
            <a:off x="4963160" y="3070860"/>
            <a:ext cx="1859400" cy="462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600">
                <a:solidFill>
                  <a:srgbClr val="111827"/>
                </a:solidFill>
                <a:latin typeface="Georgia"/>
                <a:ea typeface="Georgia"/>
                <a:cs typeface="Georgia"/>
                <a:sym typeface="Georgia"/>
              </a:rPr>
              <a:t>W</a:t>
            </a:r>
            <a:r>
              <a:rPr baseline="-25000" lang="zh-CN" sz="1600">
                <a:solidFill>
                  <a:srgbClr val="111827"/>
                </a:solidFill>
                <a:latin typeface="Georgia"/>
                <a:ea typeface="Georgia"/>
                <a:cs typeface="Georgia"/>
                <a:sym typeface="Georgia"/>
              </a:rPr>
              <a:t>k</a:t>
            </a:r>
            <a:r>
              <a:rPr lang="zh-CN" sz="1600">
                <a:solidFill>
                  <a:srgbClr val="111827"/>
                </a:solidFill>
                <a:latin typeface="Georgia"/>
                <a:ea typeface="Georgia"/>
                <a:cs typeface="Georgia"/>
                <a:sym typeface="Georgia"/>
              </a:rPr>
              <a:t>, b</a:t>
            </a:r>
            <a:r>
              <a:rPr baseline="-25000" lang="zh-CN" sz="1600">
                <a:solidFill>
                  <a:srgbClr val="111827"/>
                </a:solidFill>
                <a:latin typeface="Georgia"/>
                <a:ea typeface="Georgia"/>
                <a:cs typeface="Georgia"/>
                <a:sym typeface="Georgia"/>
              </a:rPr>
              <a:t>k</a:t>
            </a:r>
            <a:endParaRPr baseline="-25000" sz="1600">
              <a:solidFill>
                <a:srgbClr val="111827"/>
              </a:solidFill>
              <a:latin typeface="Georgia"/>
              <a:ea typeface="Georgia"/>
              <a:cs typeface="Georgia"/>
              <a:sym typeface="Georgia"/>
            </a:endParaRPr>
          </a:p>
        </p:txBody>
      </p:sp>
      <p:sp>
        <p:nvSpPr>
          <p:cNvPr id="733" name="Google Shape;733;p24"/>
          <p:cNvSpPr txBox="1"/>
          <p:nvPr/>
        </p:nvSpPr>
        <p:spPr>
          <a:xfrm>
            <a:off x="6957060" y="2410460"/>
            <a:ext cx="500400" cy="52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000">
                <a:solidFill>
                  <a:srgbClr val="111827"/>
                </a:solidFill>
                <a:latin typeface="Georgia"/>
                <a:ea typeface="Georgia"/>
                <a:cs typeface="Georgia"/>
                <a:sym typeface="Georgia"/>
              </a:rPr>
              <a:t>z</a:t>
            </a:r>
            <a:endParaRPr sz="2000">
              <a:solidFill>
                <a:srgbClr val="111827"/>
              </a:solidFill>
              <a:latin typeface="Georgia"/>
              <a:ea typeface="Georgia"/>
              <a:cs typeface="Georgia"/>
              <a:sym typeface="Georgia"/>
            </a:endParaRPr>
          </a:p>
        </p:txBody>
      </p:sp>
      <p:sp>
        <p:nvSpPr>
          <p:cNvPr id="734" name="Google Shape;734;p24"/>
          <p:cNvSpPr txBox="1"/>
          <p:nvPr/>
        </p:nvSpPr>
        <p:spPr>
          <a:xfrm>
            <a:off x="7452360" y="2410460"/>
            <a:ext cx="12498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150">
                <a:solidFill>
                  <a:srgbClr val="111827"/>
                </a:solidFill>
              </a:rPr>
              <a:t>Cross-entropy</a:t>
            </a:r>
            <a:endParaRPr b="1" sz="1150">
              <a:solidFill>
                <a:srgbClr val="111827"/>
              </a:solidFill>
            </a:endParaRPr>
          </a:p>
        </p:txBody>
      </p:sp>
      <p:sp>
        <p:nvSpPr>
          <p:cNvPr id="735" name="Google Shape;735;p24"/>
          <p:cNvSpPr txBox="1"/>
          <p:nvPr/>
        </p:nvSpPr>
        <p:spPr>
          <a:xfrm>
            <a:off x="7503160" y="2702560"/>
            <a:ext cx="1148100" cy="5511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zh-CN" sz="2300">
                <a:solidFill>
                  <a:srgbClr val="111827"/>
                </a:solidFill>
                <a:latin typeface="Georgia"/>
                <a:ea typeface="Georgia"/>
                <a:cs typeface="Georgia"/>
                <a:sym typeface="Georgia"/>
              </a:rPr>
              <a:t>ℒ</a:t>
            </a:r>
            <a:endParaRPr sz="2300">
              <a:solidFill>
                <a:srgbClr val="111827"/>
              </a:solidFill>
              <a:latin typeface="Georgia"/>
              <a:ea typeface="Georgia"/>
              <a:cs typeface="Georgia"/>
              <a:sym typeface="Georgia"/>
            </a:endParaRPr>
          </a:p>
        </p:txBody>
      </p:sp>
      <p:sp>
        <p:nvSpPr>
          <p:cNvPr id="736" name="Google Shape;736;p24"/>
          <p:cNvSpPr txBox="1"/>
          <p:nvPr/>
        </p:nvSpPr>
        <p:spPr>
          <a:xfrm>
            <a:off x="7503160" y="3134360"/>
            <a:ext cx="11481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150">
                <a:solidFill>
                  <a:srgbClr val="111827"/>
                </a:solidFill>
              </a:rPr>
              <a:t>teacher: Left</a:t>
            </a:r>
            <a:endParaRPr sz="1150">
              <a:solidFill>
                <a:srgbClr val="111827"/>
              </a:solidFill>
            </a:endParaRPr>
          </a:p>
        </p:txBody>
      </p:sp>
      <p:sp>
        <p:nvSpPr>
          <p:cNvPr id="737" name="Google Shape;737;p24"/>
          <p:cNvSpPr txBox="1"/>
          <p:nvPr/>
        </p:nvSpPr>
        <p:spPr>
          <a:xfrm>
            <a:off x="1229360" y="3769360"/>
            <a:ext cx="3637200" cy="436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50">
                <a:solidFill>
                  <a:srgbClr val="5E6E80"/>
                </a:solidFill>
              </a:rPr>
              <a:t>Gradients pass through frozen layers</a:t>
            </a:r>
            <a:endParaRPr sz="1250">
              <a:solidFill>
                <a:srgbClr val="5E6E80"/>
              </a:solidFill>
            </a:endParaRPr>
          </a:p>
        </p:txBody>
      </p:sp>
      <p:sp>
        <p:nvSpPr>
          <p:cNvPr id="738" name="Google Shape;738;p24"/>
          <p:cNvSpPr txBox="1"/>
          <p:nvPr/>
        </p:nvSpPr>
        <p:spPr>
          <a:xfrm>
            <a:off x="4810760" y="3769360"/>
            <a:ext cx="3967500" cy="436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50">
                <a:solidFill>
                  <a:srgbClr val="B36B17"/>
                </a:solidFill>
              </a:rPr>
              <a:t>Backpropagation</a:t>
            </a:r>
            <a:endParaRPr sz="1250">
              <a:solidFill>
                <a:srgbClr val="B36B17"/>
              </a:solidFill>
            </a:endParaRPr>
          </a:p>
        </p:txBody>
      </p:sp>
      <p:sp>
        <p:nvSpPr>
          <p:cNvPr id="739" name="Google Shape;739;p24"/>
          <p:cNvSpPr txBox="1"/>
          <p:nvPr/>
        </p:nvSpPr>
        <p:spPr>
          <a:xfrm>
            <a:off x="365760" y="4048760"/>
            <a:ext cx="8412600" cy="56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200">
                <a:solidFill>
                  <a:srgbClr val="111827"/>
                </a:solidFill>
                <a:latin typeface="Georgia"/>
                <a:ea typeface="Georgia"/>
                <a:cs typeface="Georgia"/>
                <a:sym typeface="Georgia"/>
              </a:rPr>
              <a:t>φ = {A</a:t>
            </a:r>
            <a:r>
              <a:rPr baseline="-25000" lang="zh-CN" sz="2200">
                <a:solidFill>
                  <a:srgbClr val="111827"/>
                </a:solidFill>
                <a:latin typeface="Georgia"/>
                <a:ea typeface="Georgia"/>
                <a:cs typeface="Georgia"/>
                <a:sym typeface="Georgia"/>
              </a:rPr>
              <a:t>ℓ</a:t>
            </a:r>
            <a:r>
              <a:rPr lang="zh-CN" sz="2200">
                <a:solidFill>
                  <a:srgbClr val="111827"/>
                </a:solidFill>
                <a:latin typeface="Georgia"/>
                <a:ea typeface="Georgia"/>
                <a:cs typeface="Georgia"/>
                <a:sym typeface="Georgia"/>
              </a:rPr>
              <a:t>, B</a:t>
            </a:r>
            <a:r>
              <a:rPr baseline="-25000" lang="zh-CN" sz="2200">
                <a:solidFill>
                  <a:srgbClr val="111827"/>
                </a:solidFill>
                <a:latin typeface="Georgia"/>
                <a:ea typeface="Georgia"/>
                <a:cs typeface="Georgia"/>
                <a:sym typeface="Georgia"/>
              </a:rPr>
              <a:t>ℓ</a:t>
            </a:r>
            <a:r>
              <a:rPr lang="zh-CN" sz="2200">
                <a:solidFill>
                  <a:srgbClr val="111827"/>
                </a:solidFill>
                <a:latin typeface="Georgia"/>
                <a:ea typeface="Georgia"/>
                <a:cs typeface="Georgia"/>
                <a:sym typeface="Georgia"/>
              </a:rPr>
              <a:t>, W</a:t>
            </a:r>
            <a:r>
              <a:rPr baseline="-25000" lang="zh-CN" sz="2200">
                <a:solidFill>
                  <a:srgbClr val="111827"/>
                </a:solidFill>
                <a:latin typeface="Georgia"/>
                <a:ea typeface="Georgia"/>
                <a:cs typeface="Georgia"/>
                <a:sym typeface="Georgia"/>
              </a:rPr>
              <a:t>q</a:t>
            </a:r>
            <a:r>
              <a:rPr lang="zh-CN" sz="2200">
                <a:solidFill>
                  <a:srgbClr val="111827"/>
                </a:solidFill>
                <a:latin typeface="Georgia"/>
                <a:ea typeface="Georgia"/>
                <a:cs typeface="Georgia"/>
                <a:sym typeface="Georgia"/>
              </a:rPr>
              <a:t>, b</a:t>
            </a:r>
            <a:r>
              <a:rPr baseline="-25000" lang="zh-CN" sz="2200">
                <a:solidFill>
                  <a:srgbClr val="111827"/>
                </a:solidFill>
                <a:latin typeface="Georgia"/>
                <a:ea typeface="Georgia"/>
                <a:cs typeface="Georgia"/>
                <a:sym typeface="Georgia"/>
              </a:rPr>
              <a:t>q</a:t>
            </a:r>
            <a:r>
              <a:rPr lang="zh-CN" sz="2200">
                <a:solidFill>
                  <a:srgbClr val="111827"/>
                </a:solidFill>
                <a:latin typeface="Georgia"/>
                <a:ea typeface="Georgia"/>
                <a:cs typeface="Georgia"/>
                <a:sym typeface="Georgia"/>
              </a:rPr>
              <a:t>, W</a:t>
            </a:r>
            <a:r>
              <a:rPr baseline="-25000" lang="zh-CN" sz="2200">
                <a:solidFill>
                  <a:srgbClr val="111827"/>
                </a:solidFill>
                <a:latin typeface="Georgia"/>
                <a:ea typeface="Georgia"/>
                <a:cs typeface="Georgia"/>
                <a:sym typeface="Georgia"/>
              </a:rPr>
              <a:t>k</a:t>
            </a:r>
            <a:r>
              <a:rPr lang="zh-CN" sz="2200">
                <a:solidFill>
                  <a:srgbClr val="111827"/>
                </a:solidFill>
                <a:latin typeface="Georgia"/>
                <a:ea typeface="Georgia"/>
                <a:cs typeface="Georgia"/>
                <a:sym typeface="Georgia"/>
              </a:rPr>
              <a:t>, b</a:t>
            </a:r>
            <a:r>
              <a:rPr baseline="-25000" lang="zh-CN" sz="2200">
                <a:solidFill>
                  <a:srgbClr val="111827"/>
                </a:solidFill>
                <a:latin typeface="Georgia"/>
                <a:ea typeface="Georgia"/>
                <a:cs typeface="Georgia"/>
                <a:sym typeface="Georgia"/>
              </a:rPr>
              <a:t>k</a:t>
            </a:r>
            <a:r>
              <a:rPr lang="zh-CN" sz="2200">
                <a:solidFill>
                  <a:srgbClr val="111827"/>
                </a:solidFill>
                <a:latin typeface="Georgia"/>
                <a:ea typeface="Georgia"/>
                <a:cs typeface="Georgia"/>
                <a:sym typeface="Georgia"/>
              </a:rPr>
              <a:t>}</a:t>
            </a:r>
            <a:endParaRPr sz="2200">
              <a:solidFill>
                <a:srgbClr val="111827"/>
              </a:solidFill>
              <a:latin typeface="Georgia"/>
              <a:ea typeface="Georgia"/>
              <a:cs typeface="Georgia"/>
              <a:sym typeface="Georgia"/>
            </a:endParaRPr>
          </a:p>
        </p:txBody>
      </p:sp>
      <p:sp>
        <p:nvSpPr>
          <p:cNvPr id="740" name="Google Shape;740;p24"/>
          <p:cNvSpPr txBox="1"/>
          <p:nvPr/>
        </p:nvSpPr>
        <p:spPr>
          <a:xfrm>
            <a:off x="365760" y="4455160"/>
            <a:ext cx="84126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50">
                <a:solidFill>
                  <a:srgbClr val="111827"/>
                </a:solidFill>
              </a:rPr>
              <a:t>Batch 4 × accum 2     Clip norm 1.0     Fused AdamW     peak lr 2e−5</a:t>
            </a:r>
            <a:endParaRPr sz="1250">
              <a:solidFill>
                <a:srgbClr val="111827"/>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4" name="Shape 744"/>
        <p:cNvGrpSpPr/>
        <p:nvPr/>
      </p:nvGrpSpPr>
      <p:grpSpPr>
        <a:xfrm>
          <a:off x="0" y="0"/>
          <a:ext cx="0" cy="0"/>
          <a:chOff x="0" y="0"/>
          <a:chExt cx="0" cy="0"/>
        </a:xfrm>
      </p:grpSpPr>
      <p:pic>
        <p:nvPicPr>
          <p:cNvPr id="745" name="Google Shape;745;p25"/>
          <p:cNvPicPr preferRelativeResize="0"/>
          <p:nvPr/>
        </p:nvPicPr>
        <p:blipFill>
          <a:blip r:embed="rId3">
            <a:alphaModFix/>
          </a:blip>
          <a:stretch>
            <a:fillRect/>
          </a:stretch>
        </p:blipFill>
        <p:spPr>
          <a:xfrm>
            <a:off x="330200" y="1320800"/>
            <a:ext cx="8559800" cy="3505200"/>
          </a:xfrm>
          <a:prstGeom prst="rect">
            <a:avLst/>
          </a:prstGeom>
          <a:noFill/>
          <a:ln>
            <a:noFill/>
          </a:ln>
        </p:spPr>
      </p:pic>
      <p:sp>
        <p:nvSpPr>
          <p:cNvPr id="746" name="Google Shape;746;p25"/>
          <p:cNvSpPr txBox="1"/>
          <p:nvPr>
            <p:ph type="title"/>
          </p:nvPr>
        </p:nvSpPr>
        <p:spPr>
          <a:xfrm>
            <a:off x="365760" y="226060"/>
            <a:ext cx="8412600" cy="716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3000">
                <a:solidFill>
                  <a:srgbClr val="111827"/>
                </a:solidFill>
              </a:rPr>
              <a:t>Does the learned policy survive?</a:t>
            </a:r>
            <a:endParaRPr b="1" sz="3000">
              <a:solidFill>
                <a:srgbClr val="111827"/>
              </a:solidFill>
            </a:endParaRPr>
          </a:p>
        </p:txBody>
      </p:sp>
      <p:sp>
        <p:nvSpPr>
          <p:cNvPr id="747" name="Google Shape;747;p25"/>
          <p:cNvSpPr txBox="1"/>
          <p:nvPr/>
        </p:nvSpPr>
        <p:spPr>
          <a:xfrm>
            <a:off x="365760" y="873760"/>
            <a:ext cx="8412600" cy="4878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zh-CN" sz="1600">
                <a:solidFill>
                  <a:srgbClr val="111827"/>
                </a:solidFill>
              </a:rPr>
              <a:t>Run complete native games. Diagnose mistakes in saved traces.</a:t>
            </a:r>
            <a:endParaRPr sz="1600">
              <a:solidFill>
                <a:srgbClr val="111827"/>
              </a:solidFill>
            </a:endParaRPr>
          </a:p>
        </p:txBody>
      </p:sp>
      <p:sp>
        <p:nvSpPr>
          <p:cNvPr id="748" name="Google Shape;748;p25"/>
          <p:cNvSpPr txBox="1"/>
          <p:nvPr/>
        </p:nvSpPr>
        <p:spPr>
          <a:xfrm>
            <a:off x="365760" y="4772660"/>
            <a:ext cx="8209200" cy="360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Reference suite, not blind test. </a:t>
            </a:r>
            <a:r>
              <a:rPr lang="zh-CN" sz="900">
                <a:solidFill>
                  <a:srgbClr val="167985"/>
                </a:solidFill>
                <a:uFill>
                  <a:noFill/>
                </a:uFill>
                <a:hlinkClick r:id="rId4">
                  <a:extLst>
                    <a:ext uri="{A12FA001-AC4F-418D-AE19-62706E023703}">
                      <ahyp:hlinkClr val="tx"/>
                    </a:ext>
                  </a:extLst>
                </a:hlinkClick>
              </a:rPr>
              <a:t>Open rollout controls.</a:t>
            </a:r>
            <a:endParaRPr sz="900">
              <a:solidFill>
                <a:srgbClr val="167985"/>
              </a:solidFill>
            </a:endParaRPr>
          </a:p>
        </p:txBody>
      </p:sp>
      <p:sp>
        <p:nvSpPr>
          <p:cNvPr id="749" name="Google Shape;749;p25"/>
          <p:cNvSpPr txBox="1"/>
          <p:nvPr/>
        </p:nvSpPr>
        <p:spPr>
          <a:xfrm>
            <a:off x="8519160" y="4772660"/>
            <a:ext cx="436800" cy="360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900">
                <a:solidFill>
                  <a:srgbClr val="5E6E80"/>
                </a:solidFill>
              </a:rPr>
              <a:t>13</a:t>
            </a:r>
            <a:endParaRPr sz="900">
              <a:solidFill>
                <a:srgbClr val="5E6E80"/>
              </a:solidFill>
            </a:endParaRPr>
          </a:p>
        </p:txBody>
      </p:sp>
      <p:sp>
        <p:nvSpPr>
          <p:cNvPr id="750" name="Google Shape;750;p25"/>
          <p:cNvSpPr/>
          <p:nvPr/>
        </p:nvSpPr>
        <p:spPr>
          <a:xfrm>
            <a:off x="457200" y="1676400"/>
            <a:ext cx="2082900" cy="990600"/>
          </a:xfrm>
          <a:prstGeom prst="rect">
            <a:avLst/>
          </a:prstGeom>
          <a:solidFill>
            <a:srgbClr val="EFF8F8"/>
          </a:solidFill>
          <a:ln cap="flat" cmpd="sng" w="7625">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25"/>
          <p:cNvSpPr/>
          <p:nvPr/>
        </p:nvSpPr>
        <p:spPr>
          <a:xfrm>
            <a:off x="3098800" y="1676400"/>
            <a:ext cx="2654400" cy="990600"/>
          </a:xfrm>
          <a:prstGeom prst="rect">
            <a:avLst/>
          </a:prstGeom>
          <a:solidFill>
            <a:srgbClr val="FFF4E4"/>
          </a:solidFill>
          <a:ln cap="flat" cmpd="sng" w="7625">
            <a:solidFill>
              <a:srgbClr val="B36B1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2" name="Google Shape;752;p25"/>
          <p:cNvSpPr/>
          <p:nvPr/>
        </p:nvSpPr>
        <p:spPr>
          <a:xfrm>
            <a:off x="6299200" y="1676400"/>
            <a:ext cx="2387700" cy="990600"/>
          </a:xfrm>
          <a:prstGeom prst="rect">
            <a:avLst/>
          </a:prstGeom>
          <a:solidFill>
            <a:srgbClr val="EFF8F8"/>
          </a:solidFill>
          <a:ln cap="flat" cmpd="sng" w="7625">
            <a:solidFill>
              <a:srgbClr val="1679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53" name="Google Shape;753;p25"/>
          <p:cNvCxnSpPr/>
          <p:nvPr/>
        </p:nvCxnSpPr>
        <p:spPr>
          <a:xfrm>
            <a:off x="2540000" y="2171700"/>
            <a:ext cx="558900" cy="0"/>
          </a:xfrm>
          <a:prstGeom prst="straightConnector1">
            <a:avLst/>
          </a:prstGeom>
          <a:noFill/>
          <a:ln cap="flat" cmpd="sng" w="15250">
            <a:solidFill>
              <a:srgbClr val="167985"/>
            </a:solidFill>
            <a:prstDash val="solid"/>
            <a:round/>
            <a:headEnd len="med" w="med" type="none"/>
            <a:tailEnd len="med" w="med" type="triangle"/>
          </a:ln>
        </p:spPr>
      </p:cxnSp>
      <p:cxnSp>
        <p:nvCxnSpPr>
          <p:cNvPr id="754" name="Google Shape;754;p25"/>
          <p:cNvCxnSpPr/>
          <p:nvPr/>
        </p:nvCxnSpPr>
        <p:spPr>
          <a:xfrm>
            <a:off x="5753100" y="2171700"/>
            <a:ext cx="546000" cy="0"/>
          </a:xfrm>
          <a:prstGeom prst="straightConnector1">
            <a:avLst/>
          </a:prstGeom>
          <a:noFill/>
          <a:ln cap="flat" cmpd="sng" w="15250">
            <a:solidFill>
              <a:srgbClr val="167985"/>
            </a:solidFill>
            <a:prstDash val="solid"/>
            <a:round/>
            <a:headEnd len="med" w="med" type="none"/>
            <a:tailEnd len="med" w="med" type="triangle"/>
          </a:ln>
        </p:spPr>
      </p:cxnSp>
      <p:cxnSp>
        <p:nvCxnSpPr>
          <p:cNvPr id="755" name="Google Shape;755;p25"/>
          <p:cNvCxnSpPr/>
          <p:nvPr/>
        </p:nvCxnSpPr>
        <p:spPr>
          <a:xfrm>
            <a:off x="7493000" y="2667000"/>
            <a:ext cx="0" cy="304800"/>
          </a:xfrm>
          <a:prstGeom prst="straightConnector1">
            <a:avLst/>
          </a:prstGeom>
          <a:noFill/>
          <a:ln cap="flat" cmpd="sng" w="15250">
            <a:solidFill>
              <a:srgbClr val="167985"/>
            </a:solidFill>
            <a:prstDash val="solid"/>
            <a:round/>
            <a:headEnd len="med" w="med" type="none"/>
            <a:tailEnd len="med" w="med" type="none"/>
          </a:ln>
        </p:spPr>
      </p:cxnSp>
      <p:cxnSp>
        <p:nvCxnSpPr>
          <p:cNvPr id="756" name="Google Shape;756;p25"/>
          <p:cNvCxnSpPr/>
          <p:nvPr/>
        </p:nvCxnSpPr>
        <p:spPr>
          <a:xfrm rot="10800000">
            <a:off x="1498700" y="2971800"/>
            <a:ext cx="5994300" cy="0"/>
          </a:xfrm>
          <a:prstGeom prst="straightConnector1">
            <a:avLst/>
          </a:prstGeom>
          <a:noFill/>
          <a:ln cap="flat" cmpd="sng" w="15250">
            <a:solidFill>
              <a:srgbClr val="167985"/>
            </a:solidFill>
            <a:prstDash val="solid"/>
            <a:round/>
            <a:headEnd len="med" w="med" type="none"/>
            <a:tailEnd len="med" w="med" type="none"/>
          </a:ln>
        </p:spPr>
      </p:cxnSp>
      <p:cxnSp>
        <p:nvCxnSpPr>
          <p:cNvPr id="757" name="Google Shape;757;p25"/>
          <p:cNvCxnSpPr/>
          <p:nvPr/>
        </p:nvCxnSpPr>
        <p:spPr>
          <a:xfrm rot="10800000">
            <a:off x="1498600" y="2667000"/>
            <a:ext cx="0" cy="304800"/>
          </a:xfrm>
          <a:prstGeom prst="straightConnector1">
            <a:avLst/>
          </a:prstGeom>
          <a:noFill/>
          <a:ln cap="flat" cmpd="sng" w="15250">
            <a:solidFill>
              <a:srgbClr val="167985"/>
            </a:solidFill>
            <a:prstDash val="solid"/>
            <a:round/>
            <a:headEnd len="med" w="med" type="none"/>
            <a:tailEnd len="med" w="med" type="triangle"/>
          </a:ln>
        </p:spPr>
      </p:cxnSp>
      <p:graphicFrame>
        <p:nvGraphicFramePr>
          <p:cNvPr id="758" name="Google Shape;758;p25"/>
          <p:cNvGraphicFramePr/>
          <p:nvPr/>
        </p:nvGraphicFramePr>
        <p:xfrm>
          <a:off x="4521200" y="3149600"/>
          <a:ext cx="3000000" cy="3000000"/>
        </p:xfrm>
        <a:graphic>
          <a:graphicData uri="http://schemas.openxmlformats.org/drawingml/2006/table">
            <a:tbl>
              <a:tblPr>
                <a:noFill/>
                <a:tableStyleId>{60C60C50-C23C-4C79-B157-96EC5A1963B3}</a:tableStyleId>
              </a:tblPr>
              <a:tblGrid>
                <a:gridCol w="2209800"/>
                <a:gridCol w="965200"/>
                <a:gridCol w="990600"/>
              </a:tblGrid>
              <a:tr h="365750">
                <a:tc>
                  <a:txBody>
                    <a:bodyPr/>
                    <a:lstStyle/>
                    <a:p>
                      <a:pPr indent="0" lvl="0" marL="0" rtl="0" algn="l">
                        <a:lnSpc>
                          <a:spcPct val="100000"/>
                        </a:lnSpc>
                        <a:spcBef>
                          <a:spcPts val="0"/>
                        </a:spcBef>
                        <a:spcAft>
                          <a:spcPts val="0"/>
                        </a:spcAft>
                        <a:buNone/>
                      </a:pPr>
                      <a:r>
                        <a:rPr b="1" lang="zh-CN" sz="1200">
                          <a:solidFill>
                            <a:srgbClr val="111827"/>
                          </a:solidFill>
                        </a:rPr>
                        <a:t>Metric</a:t>
                      </a:r>
                      <a:endParaRPr b="1"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EFF8F8"/>
                    </a:solidFill>
                  </a:tcPr>
                </a:tc>
                <a:tc>
                  <a:txBody>
                    <a:bodyPr/>
                    <a:lstStyle/>
                    <a:p>
                      <a:pPr indent="0" lvl="0" marL="0" rtl="0" algn="l">
                        <a:lnSpc>
                          <a:spcPct val="100000"/>
                        </a:lnSpc>
                        <a:spcBef>
                          <a:spcPts val="0"/>
                        </a:spcBef>
                        <a:spcAft>
                          <a:spcPts val="0"/>
                        </a:spcAft>
                        <a:buNone/>
                      </a:pPr>
                      <a:r>
                        <a:rPr b="1" lang="zh-CN" sz="1200">
                          <a:solidFill>
                            <a:srgbClr val="111827"/>
                          </a:solidFill>
                        </a:rPr>
                        <a:t>Native-v3</a:t>
                      </a:r>
                      <a:endParaRPr b="1"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EFF8F8"/>
                    </a:solidFill>
                  </a:tcPr>
                </a:tc>
                <a:tc>
                  <a:txBody>
                    <a:bodyPr/>
                    <a:lstStyle/>
                    <a:p>
                      <a:pPr indent="0" lvl="0" marL="0" rtl="0" algn="l">
                        <a:lnSpc>
                          <a:spcPct val="100000"/>
                        </a:lnSpc>
                        <a:spcBef>
                          <a:spcPts val="0"/>
                        </a:spcBef>
                        <a:spcAft>
                          <a:spcPts val="0"/>
                        </a:spcAft>
                        <a:buNone/>
                      </a:pPr>
                      <a:r>
                        <a:rPr b="1" lang="zh-CN" sz="1200">
                          <a:solidFill>
                            <a:srgbClr val="111827"/>
                          </a:solidFill>
                        </a:rPr>
                        <a:t>Teacher</a:t>
                      </a:r>
                      <a:endParaRPr b="1"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EFF8F8"/>
                    </a:solidFill>
                  </a:tcPr>
                </a:tc>
              </a:tr>
              <a:tr h="365750">
                <a:tc>
                  <a:txBody>
                    <a:bodyPr/>
                    <a:lstStyle/>
                    <a:p>
                      <a:pPr indent="0" lvl="0" marL="0" rtl="0" algn="l">
                        <a:lnSpc>
                          <a:spcPct val="100000"/>
                        </a:lnSpc>
                        <a:spcBef>
                          <a:spcPts val="0"/>
                        </a:spcBef>
                        <a:spcAft>
                          <a:spcPts val="0"/>
                        </a:spcAft>
                        <a:buNone/>
                      </a:pPr>
                      <a:r>
                        <a:rPr lang="zh-CN" sz="1200">
                          <a:solidFill>
                            <a:srgbClr val="111827"/>
                          </a:solidFill>
                        </a:rPr>
                        <a:t>Clears</a:t>
                      </a:r>
                      <a:endParaRPr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200">
                          <a:solidFill>
                            <a:srgbClr val="111827"/>
                          </a:solidFill>
                        </a:rPr>
                        <a:t>0/20</a:t>
                      </a:r>
                      <a:endParaRPr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200">
                          <a:solidFill>
                            <a:srgbClr val="111827"/>
                          </a:solidFill>
                        </a:rPr>
                        <a:t>20/20</a:t>
                      </a:r>
                      <a:endParaRPr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FFFFFF"/>
                    </a:solidFill>
                  </a:tcPr>
                </a:tc>
              </a:tr>
              <a:tr h="365750">
                <a:tc>
                  <a:txBody>
                    <a:bodyPr/>
                    <a:lstStyle/>
                    <a:p>
                      <a:pPr indent="0" lvl="0" marL="0" rtl="0" algn="l">
                        <a:lnSpc>
                          <a:spcPct val="100000"/>
                        </a:lnSpc>
                        <a:spcBef>
                          <a:spcPts val="0"/>
                        </a:spcBef>
                        <a:spcAft>
                          <a:spcPts val="0"/>
                        </a:spcAft>
                        <a:buNone/>
                      </a:pPr>
                      <a:r>
                        <a:rPr lang="zh-CN" sz="1200">
                          <a:solidFill>
                            <a:srgbClr val="111827"/>
                          </a:solidFill>
                        </a:rPr>
                        <a:t>Avoidable deaths</a:t>
                      </a:r>
                      <a:endParaRPr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200">
                          <a:solidFill>
                            <a:srgbClr val="111827"/>
                          </a:solidFill>
                        </a:rPr>
                        <a:t>22</a:t>
                      </a:r>
                      <a:endParaRPr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200">
                          <a:solidFill>
                            <a:srgbClr val="111827"/>
                          </a:solidFill>
                        </a:rPr>
                        <a:t>0</a:t>
                      </a:r>
                      <a:endParaRPr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FFFFFF"/>
                    </a:solidFill>
                  </a:tcPr>
                </a:tc>
              </a:tr>
              <a:tr h="365750">
                <a:tc>
                  <a:txBody>
                    <a:bodyPr/>
                    <a:lstStyle/>
                    <a:p>
                      <a:pPr indent="0" lvl="0" marL="0" rtl="0" algn="l">
                        <a:lnSpc>
                          <a:spcPct val="100000"/>
                        </a:lnSpc>
                        <a:spcBef>
                          <a:spcPts val="0"/>
                        </a:spcBef>
                        <a:spcAft>
                          <a:spcPts val="0"/>
                        </a:spcAft>
                        <a:buNone/>
                      </a:pPr>
                      <a:r>
                        <a:rPr lang="zh-CN" sz="1200">
                          <a:solidFill>
                            <a:srgbClr val="111827"/>
                          </a:solidFill>
                        </a:rPr>
                        <a:t>Pellets / 1k frames</a:t>
                      </a:r>
                      <a:endParaRPr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200">
                          <a:solidFill>
                            <a:srgbClr val="111827"/>
                          </a:solidFill>
                        </a:rPr>
                        <a:t>34.60</a:t>
                      </a:r>
                      <a:endParaRPr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FFFFFF"/>
                    </a:solidFill>
                  </a:tcPr>
                </a:tc>
                <a:tc>
                  <a:txBody>
                    <a:bodyPr/>
                    <a:lstStyle/>
                    <a:p>
                      <a:pPr indent="0" lvl="0" marL="0" rtl="0" algn="l">
                        <a:lnSpc>
                          <a:spcPct val="100000"/>
                        </a:lnSpc>
                        <a:spcBef>
                          <a:spcPts val="0"/>
                        </a:spcBef>
                        <a:spcAft>
                          <a:spcPts val="0"/>
                        </a:spcAft>
                        <a:buNone/>
                      </a:pPr>
                      <a:r>
                        <a:rPr lang="zh-CN" sz="1200">
                          <a:solidFill>
                            <a:srgbClr val="111827"/>
                          </a:solidFill>
                        </a:rPr>
                        <a:t>74.09</a:t>
                      </a:r>
                      <a:endParaRPr sz="1200">
                        <a:solidFill>
                          <a:srgbClr val="111827"/>
                        </a:solidFill>
                      </a:endParaRPr>
                    </a:p>
                  </a:txBody>
                  <a:tcPr marT="91425" marB="91425" marR="91425" marL="91425" anchor="ctr">
                    <a:lnL cap="flat" cmpd="sng" w="5075">
                      <a:solidFill>
                        <a:srgbClr val="B5C4CC"/>
                      </a:solidFill>
                      <a:prstDash val="solid"/>
                      <a:round/>
                      <a:headEnd len="sm" w="sm" type="none"/>
                      <a:tailEnd len="sm" w="sm" type="none"/>
                    </a:lnL>
                    <a:lnR cap="flat" cmpd="sng" w="5075">
                      <a:solidFill>
                        <a:srgbClr val="B5C4CC"/>
                      </a:solidFill>
                      <a:prstDash val="solid"/>
                      <a:round/>
                      <a:headEnd len="sm" w="sm" type="none"/>
                      <a:tailEnd len="sm" w="sm" type="none"/>
                    </a:lnR>
                    <a:lnT cap="flat" cmpd="sng" w="5075">
                      <a:solidFill>
                        <a:srgbClr val="B5C4CC"/>
                      </a:solidFill>
                      <a:prstDash val="solid"/>
                      <a:round/>
                      <a:headEnd len="sm" w="sm" type="none"/>
                      <a:tailEnd len="sm" w="sm" type="none"/>
                    </a:lnT>
                    <a:lnB cap="flat" cmpd="sng" w="5075">
                      <a:solidFill>
                        <a:srgbClr val="B5C4CC"/>
                      </a:solidFill>
                      <a:prstDash val="solid"/>
                      <a:round/>
                      <a:headEnd len="sm" w="sm" type="none"/>
                      <a:tailEnd len="sm" w="sm" type="none"/>
                    </a:lnB>
                    <a:solidFill>
                      <a:srgbClr val="FFFFFF"/>
                    </a:solidFill>
                  </a:tcPr>
                </a:tc>
              </a:tr>
            </a:tbl>
          </a:graphicData>
        </a:graphic>
      </p:graphicFrame>
      <p:sp>
        <p:nvSpPr>
          <p:cNvPr id="759" name="Google Shape;759;p25"/>
          <p:cNvSpPr txBox="1"/>
          <p:nvPr/>
        </p:nvSpPr>
        <p:spPr>
          <a:xfrm>
            <a:off x="365760" y="1280160"/>
            <a:ext cx="84126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50">
                <a:solidFill>
                  <a:srgbClr val="5E6E80"/>
                </a:solidFill>
              </a:rPr>
              <a:t>Same 20 starts: 5 seeds × levels 1, 2, 3, 5</a:t>
            </a:r>
            <a:endParaRPr sz="1250">
              <a:solidFill>
                <a:srgbClr val="5E6E80"/>
              </a:solidFill>
            </a:endParaRPr>
          </a:p>
        </p:txBody>
      </p:sp>
      <p:sp>
        <p:nvSpPr>
          <p:cNvPr id="760" name="Google Shape;760;p25"/>
          <p:cNvSpPr txBox="1"/>
          <p:nvPr/>
        </p:nvSpPr>
        <p:spPr>
          <a:xfrm>
            <a:off x="518160" y="1699260"/>
            <a:ext cx="19608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350">
                <a:solidFill>
                  <a:srgbClr val="167985"/>
                </a:solidFill>
              </a:rPr>
              <a:t>Observe full game</a:t>
            </a:r>
            <a:endParaRPr b="1" sz="1350">
              <a:solidFill>
                <a:srgbClr val="167985"/>
              </a:solidFill>
            </a:endParaRPr>
          </a:p>
        </p:txBody>
      </p:sp>
      <p:sp>
        <p:nvSpPr>
          <p:cNvPr id="761" name="Google Shape;761;p25"/>
          <p:cNvSpPr txBox="1"/>
          <p:nvPr/>
        </p:nvSpPr>
        <p:spPr>
          <a:xfrm>
            <a:off x="518160" y="2016760"/>
            <a:ext cx="1960800" cy="52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900">
                <a:solidFill>
                  <a:srgbClr val="111827"/>
                </a:solidFill>
                <a:latin typeface="Georgia"/>
                <a:ea typeface="Georgia"/>
                <a:cs typeface="Georgia"/>
                <a:sym typeface="Georgia"/>
              </a:rPr>
              <a:t>s</a:t>
            </a:r>
            <a:r>
              <a:rPr baseline="-25000" lang="zh-CN" sz="1900">
                <a:solidFill>
                  <a:srgbClr val="111827"/>
                </a:solidFill>
                <a:latin typeface="Georgia"/>
                <a:ea typeface="Georgia"/>
                <a:cs typeface="Georgia"/>
                <a:sym typeface="Georgia"/>
              </a:rPr>
              <a:t>t</a:t>
            </a:r>
            <a:r>
              <a:rPr lang="zh-CN" sz="1900">
                <a:solidFill>
                  <a:srgbClr val="111827"/>
                </a:solidFill>
                <a:latin typeface="Georgia"/>
                <a:ea typeface="Georgia"/>
                <a:cs typeface="Georgia"/>
                <a:sym typeface="Georgia"/>
              </a:rPr>
              <a:t> = O(g</a:t>
            </a:r>
            <a:r>
              <a:rPr baseline="-25000" lang="zh-CN" sz="1900">
                <a:solidFill>
                  <a:srgbClr val="111827"/>
                </a:solidFill>
                <a:latin typeface="Georgia"/>
                <a:ea typeface="Georgia"/>
                <a:cs typeface="Georgia"/>
                <a:sym typeface="Georgia"/>
              </a:rPr>
              <a:t>t</a:t>
            </a:r>
            <a:r>
              <a:rPr lang="zh-CN" sz="1900">
                <a:solidFill>
                  <a:srgbClr val="111827"/>
                </a:solidFill>
                <a:latin typeface="Georgia"/>
                <a:ea typeface="Georgia"/>
                <a:cs typeface="Georgia"/>
                <a:sym typeface="Georgia"/>
              </a:rPr>
              <a:t>)</a:t>
            </a:r>
            <a:endParaRPr sz="1900">
              <a:solidFill>
                <a:srgbClr val="111827"/>
              </a:solidFill>
              <a:latin typeface="Georgia"/>
              <a:ea typeface="Georgia"/>
              <a:cs typeface="Georgia"/>
              <a:sym typeface="Georgia"/>
            </a:endParaRPr>
          </a:p>
        </p:txBody>
      </p:sp>
      <p:sp>
        <p:nvSpPr>
          <p:cNvPr id="762" name="Google Shape;762;p25"/>
          <p:cNvSpPr txBox="1"/>
          <p:nvPr/>
        </p:nvSpPr>
        <p:spPr>
          <a:xfrm>
            <a:off x="518160" y="2372360"/>
            <a:ext cx="1960800" cy="348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050">
                <a:solidFill>
                  <a:srgbClr val="5E6E80"/>
                </a:solidFill>
              </a:rPr>
              <a:t>Full maze + ghosts + timers</a:t>
            </a:r>
            <a:endParaRPr sz="1050">
              <a:solidFill>
                <a:srgbClr val="5E6E80"/>
              </a:solidFill>
            </a:endParaRPr>
          </a:p>
        </p:txBody>
      </p:sp>
      <p:sp>
        <p:nvSpPr>
          <p:cNvPr id="763" name="Google Shape;763;p25"/>
          <p:cNvSpPr txBox="1"/>
          <p:nvPr/>
        </p:nvSpPr>
        <p:spPr>
          <a:xfrm>
            <a:off x="3159760" y="1699260"/>
            <a:ext cx="25323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350">
                <a:solidFill>
                  <a:srgbClr val="B36B17"/>
                </a:solidFill>
              </a:rPr>
              <a:t>Kev selects one legal move</a:t>
            </a:r>
            <a:endParaRPr b="1" sz="1350">
              <a:solidFill>
                <a:srgbClr val="B36B17"/>
              </a:solidFill>
            </a:endParaRPr>
          </a:p>
        </p:txBody>
      </p:sp>
      <p:sp>
        <p:nvSpPr>
          <p:cNvPr id="764" name="Google Shape;764;p25"/>
          <p:cNvSpPr txBox="1"/>
          <p:nvPr/>
        </p:nvSpPr>
        <p:spPr>
          <a:xfrm>
            <a:off x="3159760" y="2016760"/>
            <a:ext cx="2532300" cy="52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000">
                <a:solidFill>
                  <a:srgbClr val="111827"/>
                </a:solidFill>
                <a:latin typeface="Georgia"/>
                <a:ea typeface="Georgia"/>
                <a:cs typeface="Georgia"/>
                <a:sym typeface="Georgia"/>
              </a:rPr>
              <a:t>a</a:t>
            </a:r>
            <a:r>
              <a:rPr baseline="-25000" lang="zh-CN" sz="2000">
                <a:solidFill>
                  <a:srgbClr val="111827"/>
                </a:solidFill>
                <a:latin typeface="Georgia"/>
                <a:ea typeface="Georgia"/>
                <a:cs typeface="Georgia"/>
                <a:sym typeface="Georgia"/>
              </a:rPr>
              <a:t>t</a:t>
            </a:r>
            <a:r>
              <a:rPr lang="zh-CN" sz="2000">
                <a:solidFill>
                  <a:srgbClr val="111827"/>
                </a:solidFill>
                <a:latin typeface="Georgia"/>
                <a:ea typeface="Georgia"/>
                <a:cs typeface="Georgia"/>
                <a:sym typeface="Georgia"/>
              </a:rPr>
              <a:t> = π</a:t>
            </a:r>
            <a:r>
              <a:rPr baseline="-25000" lang="zh-CN" sz="2000">
                <a:solidFill>
                  <a:srgbClr val="111827"/>
                </a:solidFill>
                <a:latin typeface="Georgia"/>
                <a:ea typeface="Georgia"/>
                <a:cs typeface="Georgia"/>
                <a:sym typeface="Georgia"/>
              </a:rPr>
              <a:t>φ</a:t>
            </a:r>
            <a:r>
              <a:rPr lang="zh-CN" sz="2000">
                <a:solidFill>
                  <a:srgbClr val="111827"/>
                </a:solidFill>
                <a:latin typeface="Georgia"/>
                <a:ea typeface="Georgia"/>
                <a:cs typeface="Georgia"/>
                <a:sym typeface="Georgia"/>
              </a:rPr>
              <a:t>(s</a:t>
            </a:r>
            <a:r>
              <a:rPr baseline="-25000" lang="zh-CN" sz="2000">
                <a:solidFill>
                  <a:srgbClr val="111827"/>
                </a:solidFill>
                <a:latin typeface="Georgia"/>
                <a:ea typeface="Georgia"/>
                <a:cs typeface="Georgia"/>
                <a:sym typeface="Georgia"/>
              </a:rPr>
              <a:t>t</a:t>
            </a:r>
            <a:r>
              <a:rPr lang="zh-CN" sz="2000">
                <a:solidFill>
                  <a:srgbClr val="111827"/>
                </a:solidFill>
                <a:latin typeface="Georgia"/>
                <a:ea typeface="Georgia"/>
                <a:cs typeface="Georgia"/>
                <a:sym typeface="Georgia"/>
              </a:rPr>
              <a:t>)</a:t>
            </a:r>
            <a:endParaRPr sz="2000">
              <a:solidFill>
                <a:srgbClr val="111827"/>
              </a:solidFill>
              <a:latin typeface="Georgia"/>
              <a:ea typeface="Georgia"/>
              <a:cs typeface="Georgia"/>
              <a:sym typeface="Georgia"/>
            </a:endParaRPr>
          </a:p>
        </p:txBody>
      </p:sp>
      <p:sp>
        <p:nvSpPr>
          <p:cNvPr id="765" name="Google Shape;765;p25"/>
          <p:cNvSpPr txBox="1"/>
          <p:nvPr/>
        </p:nvSpPr>
        <p:spPr>
          <a:xfrm>
            <a:off x="3159760" y="2372360"/>
            <a:ext cx="2532300" cy="348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050">
                <a:solidFill>
                  <a:srgbClr val="5E6E80"/>
                </a:solidFill>
              </a:rPr>
              <a:t>Largest probability; no teacher override</a:t>
            </a:r>
            <a:endParaRPr sz="1050">
              <a:solidFill>
                <a:srgbClr val="5E6E80"/>
              </a:solidFill>
            </a:endParaRPr>
          </a:p>
        </p:txBody>
      </p:sp>
      <p:sp>
        <p:nvSpPr>
          <p:cNvPr id="766" name="Google Shape;766;p25"/>
          <p:cNvSpPr txBox="1"/>
          <p:nvPr/>
        </p:nvSpPr>
        <p:spPr>
          <a:xfrm>
            <a:off x="6360160" y="1699260"/>
            <a:ext cx="22656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zh-CN" sz="1350">
                <a:solidFill>
                  <a:srgbClr val="167985"/>
                </a:solidFill>
              </a:rPr>
              <a:t>Native game advances</a:t>
            </a:r>
            <a:endParaRPr b="1" sz="1350">
              <a:solidFill>
                <a:srgbClr val="167985"/>
              </a:solidFill>
            </a:endParaRPr>
          </a:p>
        </p:txBody>
      </p:sp>
      <p:sp>
        <p:nvSpPr>
          <p:cNvPr id="767" name="Google Shape;767;p25"/>
          <p:cNvSpPr txBox="1"/>
          <p:nvPr/>
        </p:nvSpPr>
        <p:spPr>
          <a:xfrm>
            <a:off x="6360160" y="2016760"/>
            <a:ext cx="2265600" cy="52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800">
                <a:solidFill>
                  <a:srgbClr val="111827"/>
                </a:solidFill>
                <a:latin typeface="Georgia"/>
                <a:ea typeface="Georgia"/>
                <a:cs typeface="Georgia"/>
                <a:sym typeface="Georgia"/>
              </a:rPr>
              <a:t>g</a:t>
            </a:r>
            <a:r>
              <a:rPr baseline="-25000" lang="zh-CN" sz="1800">
                <a:solidFill>
                  <a:srgbClr val="111827"/>
                </a:solidFill>
                <a:latin typeface="Georgia"/>
                <a:ea typeface="Georgia"/>
                <a:cs typeface="Georgia"/>
                <a:sym typeface="Georgia"/>
              </a:rPr>
              <a:t>t+1</a:t>
            </a:r>
            <a:r>
              <a:rPr lang="zh-CN" sz="1800">
                <a:solidFill>
                  <a:srgbClr val="111827"/>
                </a:solidFill>
                <a:latin typeface="Georgia"/>
                <a:ea typeface="Georgia"/>
                <a:cs typeface="Georgia"/>
                <a:sym typeface="Georgia"/>
              </a:rPr>
              <a:t> = F(g</a:t>
            </a:r>
            <a:r>
              <a:rPr baseline="-25000" lang="zh-CN" sz="1800">
                <a:solidFill>
                  <a:srgbClr val="111827"/>
                </a:solidFill>
                <a:latin typeface="Georgia"/>
                <a:ea typeface="Georgia"/>
                <a:cs typeface="Georgia"/>
                <a:sym typeface="Georgia"/>
              </a:rPr>
              <a:t>t</a:t>
            </a:r>
            <a:r>
              <a:rPr lang="zh-CN" sz="1800">
                <a:solidFill>
                  <a:srgbClr val="111827"/>
                </a:solidFill>
                <a:latin typeface="Georgia"/>
                <a:ea typeface="Georgia"/>
                <a:cs typeface="Georgia"/>
                <a:sym typeface="Georgia"/>
              </a:rPr>
              <a:t>, a</a:t>
            </a:r>
            <a:r>
              <a:rPr baseline="-25000" lang="zh-CN" sz="1800">
                <a:solidFill>
                  <a:srgbClr val="111827"/>
                </a:solidFill>
                <a:latin typeface="Georgia"/>
                <a:ea typeface="Georgia"/>
                <a:cs typeface="Georgia"/>
                <a:sym typeface="Georgia"/>
              </a:rPr>
              <a:t>t</a:t>
            </a:r>
            <a:r>
              <a:rPr lang="zh-CN" sz="1800">
                <a:solidFill>
                  <a:srgbClr val="111827"/>
                </a:solidFill>
                <a:latin typeface="Georgia"/>
                <a:ea typeface="Georgia"/>
                <a:cs typeface="Georgia"/>
                <a:sym typeface="Georgia"/>
              </a:rPr>
              <a:t>)</a:t>
            </a:r>
            <a:endParaRPr sz="1800">
              <a:solidFill>
                <a:srgbClr val="111827"/>
              </a:solidFill>
              <a:latin typeface="Georgia"/>
              <a:ea typeface="Georgia"/>
              <a:cs typeface="Georgia"/>
              <a:sym typeface="Georgia"/>
            </a:endParaRPr>
          </a:p>
        </p:txBody>
      </p:sp>
      <p:sp>
        <p:nvSpPr>
          <p:cNvPr id="768" name="Google Shape;768;p25"/>
          <p:cNvSpPr txBox="1"/>
          <p:nvPr/>
        </p:nvSpPr>
        <p:spPr>
          <a:xfrm>
            <a:off x="6360160" y="2372360"/>
            <a:ext cx="2265600" cy="348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050">
                <a:solidFill>
                  <a:srgbClr val="5E6E80"/>
                </a:solidFill>
              </a:rPr>
              <a:t>4 ghosts · pellets · power timers</a:t>
            </a:r>
            <a:endParaRPr sz="1050">
              <a:solidFill>
                <a:srgbClr val="5E6E80"/>
              </a:solidFill>
            </a:endParaRPr>
          </a:p>
        </p:txBody>
      </p:sp>
      <p:sp>
        <p:nvSpPr>
          <p:cNvPr id="769" name="Google Shape;769;p25"/>
          <p:cNvSpPr txBox="1"/>
          <p:nvPr/>
        </p:nvSpPr>
        <p:spPr>
          <a:xfrm>
            <a:off x="2753360" y="2651760"/>
            <a:ext cx="4704000" cy="360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150">
                <a:solidFill>
                  <a:srgbClr val="5E6E80"/>
                </a:solidFill>
              </a:rPr>
              <a:t>Repeat until clear, game-over or watchdog</a:t>
            </a:r>
            <a:endParaRPr sz="1150">
              <a:solidFill>
                <a:srgbClr val="5E6E80"/>
              </a:solidFill>
            </a:endParaRPr>
          </a:p>
        </p:txBody>
      </p:sp>
      <p:sp>
        <p:nvSpPr>
          <p:cNvPr id="770" name="Google Shape;770;p25"/>
          <p:cNvSpPr txBox="1"/>
          <p:nvPr/>
        </p:nvSpPr>
        <p:spPr>
          <a:xfrm>
            <a:off x="365760" y="3197860"/>
            <a:ext cx="4018200" cy="551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000">
                <a:solidFill>
                  <a:srgbClr val="111827"/>
                </a:solidFill>
                <a:latin typeface="Georgia"/>
                <a:ea typeface="Georgia"/>
                <a:cs typeface="Georgia"/>
                <a:sym typeface="Georgia"/>
              </a:rPr>
              <a:t>C = (1/N) ∑</a:t>
            </a:r>
            <a:r>
              <a:rPr baseline="-25000" lang="zh-CN" sz="2000">
                <a:solidFill>
                  <a:srgbClr val="111827"/>
                </a:solidFill>
                <a:latin typeface="Georgia"/>
                <a:ea typeface="Georgia"/>
                <a:cs typeface="Georgia"/>
                <a:sym typeface="Georgia"/>
              </a:rPr>
              <a:t>j</a:t>
            </a:r>
            <a:r>
              <a:rPr lang="zh-CN" sz="2000">
                <a:solidFill>
                  <a:srgbClr val="111827"/>
                </a:solidFill>
                <a:latin typeface="Georgia"/>
                <a:ea typeface="Georgia"/>
                <a:cs typeface="Georgia"/>
                <a:sym typeface="Georgia"/>
              </a:rPr>
              <a:t> 1[clear</a:t>
            </a:r>
            <a:r>
              <a:rPr baseline="-25000" lang="zh-CN" sz="2000">
                <a:solidFill>
                  <a:srgbClr val="111827"/>
                </a:solidFill>
                <a:latin typeface="Georgia"/>
                <a:ea typeface="Georgia"/>
                <a:cs typeface="Georgia"/>
                <a:sym typeface="Georgia"/>
              </a:rPr>
              <a:t>j</a:t>
            </a:r>
            <a:r>
              <a:rPr lang="zh-CN" sz="2000">
                <a:solidFill>
                  <a:srgbClr val="111827"/>
                </a:solidFill>
                <a:latin typeface="Georgia"/>
                <a:ea typeface="Georgia"/>
                <a:cs typeface="Georgia"/>
                <a:sym typeface="Georgia"/>
              </a:rPr>
              <a:t>]</a:t>
            </a:r>
            <a:endParaRPr sz="2000">
              <a:solidFill>
                <a:srgbClr val="111827"/>
              </a:solidFill>
              <a:latin typeface="Georgia"/>
              <a:ea typeface="Georgia"/>
              <a:cs typeface="Georgia"/>
              <a:sym typeface="Georgia"/>
            </a:endParaRPr>
          </a:p>
        </p:txBody>
      </p:sp>
      <p:sp>
        <p:nvSpPr>
          <p:cNvPr id="771" name="Google Shape;771;p25"/>
          <p:cNvSpPr txBox="1"/>
          <p:nvPr/>
        </p:nvSpPr>
        <p:spPr>
          <a:xfrm>
            <a:off x="365760" y="3591560"/>
            <a:ext cx="40182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N = games; count genuine level clears only</a:t>
            </a:r>
            <a:endParaRPr sz="1200">
              <a:solidFill>
                <a:srgbClr val="111827"/>
              </a:solidFill>
            </a:endParaRPr>
          </a:p>
        </p:txBody>
      </p:sp>
      <p:sp>
        <p:nvSpPr>
          <p:cNvPr id="772" name="Google Shape;772;p25"/>
          <p:cNvSpPr txBox="1"/>
          <p:nvPr/>
        </p:nvSpPr>
        <p:spPr>
          <a:xfrm>
            <a:off x="365760" y="3909060"/>
            <a:ext cx="4018200" cy="551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2000">
                <a:solidFill>
                  <a:srgbClr val="111827"/>
                </a:solidFill>
                <a:latin typeface="Georgia"/>
                <a:ea typeface="Georgia"/>
                <a:cs typeface="Georgia"/>
                <a:sym typeface="Georgia"/>
              </a:rPr>
              <a:t>E = 1000 P / n</a:t>
            </a:r>
            <a:r>
              <a:rPr baseline="-25000" lang="zh-CN" sz="2000">
                <a:solidFill>
                  <a:srgbClr val="111827"/>
                </a:solidFill>
                <a:latin typeface="Georgia"/>
                <a:ea typeface="Georgia"/>
                <a:cs typeface="Georgia"/>
                <a:sym typeface="Georgia"/>
              </a:rPr>
              <a:t>f</a:t>
            </a:r>
            <a:endParaRPr baseline="-25000" sz="2000">
              <a:solidFill>
                <a:srgbClr val="111827"/>
              </a:solidFill>
              <a:latin typeface="Georgia"/>
              <a:ea typeface="Georgia"/>
              <a:cs typeface="Georgia"/>
              <a:sym typeface="Georgia"/>
            </a:endParaRPr>
          </a:p>
        </p:txBody>
      </p:sp>
      <p:sp>
        <p:nvSpPr>
          <p:cNvPr id="773" name="Google Shape;773;p25"/>
          <p:cNvSpPr txBox="1"/>
          <p:nvPr/>
        </p:nvSpPr>
        <p:spPr>
          <a:xfrm>
            <a:off x="365760" y="4302760"/>
            <a:ext cx="4018200" cy="411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111827"/>
                </a:solidFill>
              </a:rPr>
              <a:t>P: pellets; n</a:t>
            </a:r>
            <a:r>
              <a:rPr baseline="-25000" lang="zh-CN" sz="1200">
                <a:solidFill>
                  <a:srgbClr val="111827"/>
                </a:solidFill>
              </a:rPr>
              <a:t>f</a:t>
            </a:r>
            <a:r>
              <a:rPr lang="zh-CN" sz="1200">
                <a:solidFill>
                  <a:srgbClr val="111827"/>
                </a:solidFill>
              </a:rPr>
              <a:t>: active native frames</a:t>
            </a:r>
            <a:endParaRPr sz="1200">
              <a:solidFill>
                <a:srgbClr val="111827"/>
              </a:solidFill>
            </a:endParaRPr>
          </a:p>
        </p:txBody>
      </p:sp>
      <p:sp>
        <p:nvSpPr>
          <p:cNvPr id="774" name="Google Shape;774;p25"/>
          <p:cNvSpPr txBox="1"/>
          <p:nvPr/>
        </p:nvSpPr>
        <p:spPr>
          <a:xfrm>
            <a:off x="365760" y="4544060"/>
            <a:ext cx="8412600" cy="39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200">
                <a:solidFill>
                  <a:srgbClr val="5E6E80"/>
                </a:solidFill>
              </a:rPr>
              <a:t>Inspect deaths, dry spells and loops.</a:t>
            </a:r>
            <a:endParaRPr sz="1200">
              <a:solidFill>
                <a:srgbClr val="5E6E80"/>
              </a:solidFill>
            </a:endParaRPr>
          </a:p>
        </p:txBody>
      </p:sp>
      <p:sp>
        <p:nvSpPr>
          <p:cNvPr id="775" name="Google Shape;775;p25"/>
          <p:cNvSpPr txBox="1"/>
          <p:nvPr/>
        </p:nvSpPr>
        <p:spPr>
          <a:xfrm>
            <a:off x="4429760" y="4569460"/>
            <a:ext cx="4348500" cy="348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zh-CN" sz="1050">
                <a:solidFill>
                  <a:srgbClr val="5E6E80"/>
                </a:solidFill>
              </a:rPr>
              <a:t>Recorded v3 / teacher. V4 must be measured.</a:t>
            </a:r>
            <a:endParaRPr sz="1050">
              <a:solidFill>
                <a:srgbClr val="5E6E8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